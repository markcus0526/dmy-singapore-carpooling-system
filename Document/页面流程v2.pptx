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1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2013-8-6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1472" y="642918"/>
            <a:ext cx="1428760" cy="1571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285728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1) </a:t>
            </a:r>
            <a:r>
              <a:rPr lang="zh-CN" altLang="en-US" sz="1200" dirty="0" smtClean="0"/>
              <a:t>开启页面（每次开启显示，除非用户已加入某队列，则打开直接显示配对页面）</a:t>
            </a:r>
            <a:endParaRPr lang="zh-CN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357290" y="1580365"/>
            <a:ext cx="571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Logo</a:t>
            </a:r>
            <a:endParaRPr lang="zh-CN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2285992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2) </a:t>
            </a:r>
            <a:r>
              <a:rPr lang="zh-CN" altLang="en-US" sz="1200" dirty="0" smtClean="0"/>
              <a:t>注册及配对设置（用户未绑定手机注册，开启页面后显示）</a:t>
            </a:r>
            <a:endParaRPr lang="zh-CN" altLang="en-US" sz="12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571472" y="2643182"/>
            <a:ext cx="1500198" cy="1857388"/>
            <a:chOff x="571472" y="2643182"/>
            <a:chExt cx="1500198" cy="1857388"/>
          </a:xfrm>
        </p:grpSpPr>
        <p:sp>
          <p:nvSpPr>
            <p:cNvPr id="9" name="矩形 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43042" y="2643182"/>
              <a:ext cx="42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Next</a:t>
              </a:r>
              <a:endParaRPr lang="zh-CN" altLang="en-US" sz="1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1472" y="2928934"/>
              <a:ext cx="1500198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Please enter your mobile number for registration</a:t>
              </a:r>
            </a:p>
            <a:p>
              <a:endParaRPr lang="en-US" altLang="zh-CN" sz="1000" dirty="0" smtClean="0"/>
            </a:p>
            <a:p>
              <a:r>
                <a:rPr lang="en-US" altLang="zh-CN" sz="1100" dirty="0" smtClean="0"/>
                <a:t>+65  </a:t>
              </a:r>
              <a:endParaRPr lang="zh-CN" altLang="en-US" sz="11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000100" y="3429000"/>
              <a:ext cx="857256" cy="1428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428860" y="2643182"/>
            <a:ext cx="1643074" cy="1857388"/>
            <a:chOff x="571472" y="2643182"/>
            <a:chExt cx="1643074" cy="1857388"/>
          </a:xfrm>
        </p:grpSpPr>
        <p:sp>
          <p:nvSpPr>
            <p:cNvPr id="16" name="矩形 15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43042" y="2643182"/>
              <a:ext cx="5715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Verify</a:t>
              </a:r>
              <a:endParaRPr lang="zh-CN" altLang="en-US" sz="1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1472" y="2928934"/>
              <a:ext cx="1500198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Please enter the verification code</a:t>
              </a:r>
            </a:p>
            <a:p>
              <a:endParaRPr lang="en-US" altLang="zh-CN" sz="1000" dirty="0" smtClean="0"/>
            </a:p>
            <a:p>
              <a:endParaRPr lang="zh-CN" altLang="en-US" sz="11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857224" y="3429000"/>
              <a:ext cx="857256" cy="1428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143372" y="2643182"/>
            <a:ext cx="1500198" cy="1857388"/>
            <a:chOff x="571472" y="2643182"/>
            <a:chExt cx="1500198" cy="1857388"/>
          </a:xfrm>
        </p:grpSpPr>
        <p:sp>
          <p:nvSpPr>
            <p:cNvPr id="22" name="矩形 21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643042" y="2643182"/>
              <a:ext cx="42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Next</a:t>
              </a:r>
              <a:endParaRPr lang="zh-CN" altLang="en-US" sz="10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1472" y="2928934"/>
              <a:ext cx="1500198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/>
                <a:t>Verified!</a:t>
              </a:r>
            </a:p>
            <a:p>
              <a:r>
                <a:rPr lang="en-US" altLang="zh-CN" sz="1100" dirty="0" smtClean="0"/>
                <a:t>Please enter your information</a:t>
              </a:r>
            </a:p>
            <a:p>
              <a:endParaRPr lang="en-US" altLang="zh-CN" sz="1100" dirty="0" smtClean="0"/>
            </a:p>
            <a:p>
              <a:r>
                <a:rPr lang="en-US" altLang="zh-CN" sz="1100" dirty="0" smtClean="0"/>
                <a:t>Username</a:t>
              </a:r>
            </a:p>
            <a:p>
              <a:r>
                <a:rPr lang="en-US" altLang="zh-CN" sz="1100" dirty="0" smtClean="0"/>
                <a:t>Gender</a:t>
              </a:r>
            </a:p>
            <a:p>
              <a:r>
                <a:rPr lang="en-US" altLang="zh-CN" sz="1100" dirty="0" smtClean="0"/>
                <a:t>Year of Birth</a:t>
              </a:r>
            </a:p>
            <a:p>
              <a:endParaRPr lang="zh-CN" altLang="en-US" sz="11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357290" y="3714752"/>
              <a:ext cx="642942" cy="1428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4929190" y="3929066"/>
            <a:ext cx="642942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000628" y="4143380"/>
            <a:ext cx="642942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5857884" y="2643182"/>
            <a:ext cx="1500198" cy="1857388"/>
            <a:chOff x="571472" y="2643182"/>
            <a:chExt cx="1500198" cy="1857388"/>
          </a:xfrm>
        </p:grpSpPr>
        <p:sp>
          <p:nvSpPr>
            <p:cNvPr id="30" name="矩形 29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43042" y="2643182"/>
              <a:ext cx="42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Skip</a:t>
              </a:r>
              <a:endParaRPr lang="zh-CN" altLang="en-US" sz="10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1472" y="2928934"/>
              <a:ext cx="150019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Upload profile photo</a:t>
              </a:r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r>
                <a:rPr lang="en-US" altLang="zh-CN" sz="1000" dirty="0" smtClean="0"/>
                <a:t>  Choose              Upload</a:t>
              </a:r>
            </a:p>
            <a:p>
              <a:r>
                <a:rPr lang="en-US" altLang="zh-CN" sz="1000" dirty="0" smtClean="0"/>
                <a:t>Take a photo              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857224" y="3286124"/>
              <a:ext cx="857256" cy="57150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429520" y="2643182"/>
            <a:ext cx="1571636" cy="1857388"/>
            <a:chOff x="571472" y="2643182"/>
            <a:chExt cx="1571636" cy="1857388"/>
          </a:xfrm>
        </p:grpSpPr>
        <p:sp>
          <p:nvSpPr>
            <p:cNvPr id="36" name="矩形 35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571604" y="2643182"/>
              <a:ext cx="5715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Agree</a:t>
              </a:r>
              <a:endParaRPr lang="zh-CN" altLang="en-US" sz="10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71472" y="2928934"/>
              <a:ext cx="15001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smtClean="0"/>
                <a:t>Important Notice</a:t>
              </a:r>
            </a:p>
            <a:p>
              <a:pPr algn="ctr"/>
              <a:r>
                <a:rPr lang="en-US" altLang="zh-CN" sz="1000" dirty="0" smtClean="0"/>
                <a:t>……………………….</a:t>
              </a:r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r>
                <a:rPr lang="en-US" altLang="zh-CN" sz="1000" dirty="0" smtClean="0"/>
                <a:t>………………………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642910" y="4786322"/>
            <a:ext cx="1500198" cy="1857388"/>
            <a:chOff x="571472" y="2643182"/>
            <a:chExt cx="1500198" cy="1857388"/>
          </a:xfrm>
        </p:grpSpPr>
        <p:sp>
          <p:nvSpPr>
            <p:cNvPr id="49" name="矩形 4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Congratulations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71472" y="2928934"/>
              <a:ext cx="1500198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000" dirty="0" smtClean="0"/>
            </a:p>
            <a:p>
              <a:r>
                <a:rPr lang="en-US" altLang="zh-CN" sz="1000" dirty="0" err="1" smtClean="0"/>
                <a:t>Xxxx</a:t>
              </a:r>
              <a:r>
                <a:rPr lang="en-US" altLang="zh-CN" sz="1000" dirty="0" smtClean="0"/>
                <a:t>, Welcome!</a:t>
              </a:r>
            </a:p>
            <a:p>
              <a:r>
                <a:rPr lang="en-US" altLang="zh-CN" sz="1100" dirty="0" smtClean="0"/>
                <a:t>…….</a:t>
              </a:r>
            </a:p>
            <a:p>
              <a:endParaRPr lang="en-US" altLang="zh-CN" sz="1100" dirty="0" smtClean="0"/>
            </a:p>
            <a:p>
              <a:r>
                <a:rPr lang="en-US" altLang="zh-CN" sz="1100" dirty="0" smtClean="0"/>
                <a:t>5 free credits have been given to you</a:t>
              </a:r>
            </a:p>
            <a:p>
              <a:endParaRPr lang="en-US" altLang="zh-CN" sz="1100" dirty="0" smtClean="0"/>
            </a:p>
            <a:p>
              <a:r>
                <a:rPr lang="en-US" altLang="zh-CN" sz="1100" dirty="0" smtClean="0"/>
                <a:t>  </a:t>
              </a:r>
              <a:endParaRPr lang="zh-CN" altLang="en-US" sz="1100" dirty="0"/>
            </a:p>
          </p:txBody>
        </p:sp>
      </p:grpSp>
      <p:sp>
        <p:nvSpPr>
          <p:cNvPr id="54" name="矩形 53"/>
          <p:cNvSpPr/>
          <p:nvPr/>
        </p:nvSpPr>
        <p:spPr>
          <a:xfrm>
            <a:off x="785786" y="6286520"/>
            <a:ext cx="1214446" cy="2857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Setting</a:t>
            </a:r>
            <a:endParaRPr lang="zh-CN" altLang="en-US" sz="1600" dirty="0"/>
          </a:p>
        </p:txBody>
      </p:sp>
      <p:grpSp>
        <p:nvGrpSpPr>
          <p:cNvPr id="47" name="组合 46"/>
          <p:cNvGrpSpPr/>
          <p:nvPr/>
        </p:nvGrpSpPr>
        <p:grpSpPr>
          <a:xfrm>
            <a:off x="3357554" y="4786322"/>
            <a:ext cx="1500198" cy="1857388"/>
            <a:chOff x="571472" y="2643182"/>
            <a:chExt cx="1500198" cy="1857388"/>
          </a:xfrm>
        </p:grpSpPr>
        <p:sp>
          <p:nvSpPr>
            <p:cNvPr id="51" name="矩形 50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Sharing Criteria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71472" y="2928934"/>
              <a:ext cx="1500198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 smtClean="0"/>
                <a:t>Share with</a:t>
              </a:r>
            </a:p>
            <a:p>
              <a:r>
                <a:rPr lang="en-US" altLang="zh-CN" sz="900" dirty="0" smtClean="0"/>
                <a:t>Individual</a:t>
              </a:r>
            </a:p>
            <a:p>
              <a:r>
                <a:rPr lang="en-US" altLang="zh-CN" sz="900" dirty="0" smtClean="0"/>
                <a:t>Same gender            Both</a:t>
              </a:r>
            </a:p>
            <a:p>
              <a:endParaRPr lang="en-US" altLang="zh-CN" sz="900" dirty="0" smtClean="0"/>
            </a:p>
            <a:p>
              <a:r>
                <a:rPr lang="en-US" altLang="zh-CN" sz="900" dirty="0" smtClean="0"/>
                <a:t>Group of people      Yes/No</a:t>
              </a:r>
            </a:p>
            <a:p>
              <a:r>
                <a:rPr lang="en-US" altLang="zh-CN" sz="900" dirty="0" smtClean="0"/>
                <a:t>Same gender           Mixed</a:t>
              </a:r>
            </a:p>
            <a:p>
              <a:r>
                <a:rPr lang="en-US" altLang="zh-CN" sz="900" dirty="0" smtClean="0"/>
                <a:t>Does not matter </a:t>
              </a:r>
            </a:p>
            <a:p>
              <a:endParaRPr lang="en-US" altLang="zh-CN" sz="900" dirty="0" smtClean="0"/>
            </a:p>
            <a:p>
              <a:r>
                <a:rPr lang="en-US" altLang="zh-CN" sz="900" dirty="0" smtClean="0"/>
                <a:t>Delay less than           </a:t>
              </a:r>
              <a:r>
                <a:rPr lang="en-US" altLang="zh-CN" sz="900" dirty="0" err="1" smtClean="0"/>
                <a:t>mins</a:t>
              </a:r>
              <a:r>
                <a:rPr lang="en-US" altLang="zh-CN" sz="900" dirty="0" smtClean="0"/>
                <a:t> </a:t>
              </a:r>
              <a:endParaRPr lang="zh-CN" altLang="en-US" sz="900" dirty="0"/>
            </a:p>
          </p:txBody>
        </p:sp>
      </p:grpSp>
      <p:sp>
        <p:nvSpPr>
          <p:cNvPr id="56" name="右箭头 55"/>
          <p:cNvSpPr/>
          <p:nvPr/>
        </p:nvSpPr>
        <p:spPr>
          <a:xfrm>
            <a:off x="2285984" y="557214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4286248" y="6286520"/>
            <a:ext cx="142876" cy="7143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3500430" y="6357958"/>
            <a:ext cx="1214446" cy="2143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Start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14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3) </a:t>
            </a:r>
            <a:r>
              <a:rPr lang="zh-CN" altLang="en-US" sz="1200" dirty="0" smtClean="0"/>
              <a:t>主页面（用户已注册，开启页面后显示，如果用户已加入队列，则直接显示配对页面）</a:t>
            </a:r>
            <a:endParaRPr lang="zh-CN" altLang="en-US" sz="12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643042" y="357166"/>
            <a:ext cx="1500198" cy="1857388"/>
            <a:chOff x="500034" y="571480"/>
            <a:chExt cx="1500198" cy="1857388"/>
          </a:xfrm>
        </p:grpSpPr>
        <p:sp>
          <p:nvSpPr>
            <p:cNvPr id="6" name="矩形 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Join a Taxi Stand Q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flipH="1" flipV="1">
              <a:off x="571472" y="642918"/>
              <a:ext cx="142877" cy="141288"/>
              <a:chOff x="2786050" y="1071546"/>
              <a:chExt cx="142876" cy="144464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0"/>
          <p:cNvSpPr txBox="1"/>
          <p:nvPr/>
        </p:nvSpPr>
        <p:spPr>
          <a:xfrm>
            <a:off x="1643042" y="642918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    </a:t>
            </a:r>
            <a:r>
              <a:rPr lang="en-US" altLang="zh-CN" sz="1200" dirty="0" smtClean="0"/>
              <a:t>MAP</a:t>
            </a:r>
            <a:r>
              <a:rPr lang="zh-CN" altLang="en-US" sz="1200" dirty="0" smtClean="0"/>
              <a:t>，如果该部分也被计入每日</a:t>
            </a:r>
            <a:r>
              <a:rPr lang="en-US" altLang="zh-CN" sz="1200" dirty="0" smtClean="0"/>
              <a:t>25000</a:t>
            </a:r>
            <a:r>
              <a:rPr lang="zh-CN" altLang="en-US" sz="1200" dirty="0" smtClean="0"/>
              <a:t>次谷歌</a:t>
            </a:r>
            <a:r>
              <a:rPr lang="en-US" altLang="zh-CN" sz="1200" dirty="0" smtClean="0"/>
              <a:t>map</a:t>
            </a:r>
            <a:r>
              <a:rPr lang="zh-CN" altLang="en-US" sz="1200" dirty="0" smtClean="0"/>
              <a:t>读取则不要显示，考虑其他方案</a:t>
            </a:r>
            <a:endParaRPr lang="zh-CN" altLang="en-US" sz="1200" dirty="0"/>
          </a:p>
        </p:txBody>
      </p:sp>
      <p:sp>
        <p:nvSpPr>
          <p:cNvPr id="22" name="圆角矩形标注 21"/>
          <p:cNvSpPr/>
          <p:nvPr/>
        </p:nvSpPr>
        <p:spPr>
          <a:xfrm>
            <a:off x="357158" y="428604"/>
            <a:ext cx="1143008" cy="857256"/>
          </a:xfrm>
          <a:prstGeom prst="wedgeRoundRectCallout">
            <a:avLst>
              <a:gd name="adj1" fmla="val 71700"/>
              <a:gd name="adj2" fmla="val -4203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此处为更多选项，</a:t>
            </a:r>
            <a:r>
              <a:rPr lang="en-US" altLang="zh-CN" sz="1200" dirty="0" smtClean="0">
                <a:solidFill>
                  <a:schemeClr val="tx1"/>
                </a:solidFill>
              </a:rPr>
              <a:t>My profile, My credit</a:t>
            </a:r>
            <a:r>
              <a:rPr lang="zh-CN" altLang="en-US" sz="1200" dirty="0" smtClean="0">
                <a:solidFill>
                  <a:schemeClr val="tx1"/>
                </a:solidFill>
              </a:rPr>
              <a:t>等等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3428992" y="500042"/>
            <a:ext cx="2571768" cy="857256"/>
          </a:xfrm>
          <a:prstGeom prst="wedgeRoundRectCallout">
            <a:avLst>
              <a:gd name="adj1" fmla="val -82809"/>
              <a:gd name="adj2" fmla="val -5269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如果用户信用点数等于或低于</a:t>
            </a:r>
            <a:r>
              <a:rPr lang="en-US" altLang="zh-CN" sz="1200" dirty="0" smtClean="0">
                <a:solidFill>
                  <a:schemeClr val="tx1"/>
                </a:solidFill>
              </a:rPr>
              <a:t>2</a:t>
            </a:r>
            <a:r>
              <a:rPr lang="zh-CN" altLang="en-US" sz="1200" dirty="0" smtClean="0">
                <a:solidFill>
                  <a:schemeClr val="tx1"/>
                </a:solidFill>
              </a:rPr>
              <a:t>点，则显示滚动提示：“</a:t>
            </a:r>
            <a:r>
              <a:rPr lang="en-US" altLang="zh-CN" sz="1200" dirty="0" smtClean="0">
                <a:solidFill>
                  <a:schemeClr val="tx1"/>
                </a:solidFill>
              </a:rPr>
              <a:t>Your credit balance is low, purchase credit now!” </a:t>
            </a:r>
            <a:r>
              <a:rPr lang="zh-CN" altLang="en-US" sz="1200" dirty="0" smtClean="0">
                <a:solidFill>
                  <a:schemeClr val="tx1"/>
                </a:solidFill>
              </a:rPr>
              <a:t>点击直接进入购买点数页面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500034" y="2357430"/>
            <a:ext cx="1500198" cy="1857388"/>
            <a:chOff x="500034" y="571480"/>
            <a:chExt cx="1500198" cy="1857388"/>
          </a:xfrm>
        </p:grpSpPr>
        <p:sp>
          <p:nvSpPr>
            <p:cNvPr id="25" name="矩形 2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30" name="直接连接符 29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/>
          <p:cNvSpPr txBox="1"/>
          <p:nvPr/>
        </p:nvSpPr>
        <p:spPr>
          <a:xfrm>
            <a:off x="500034" y="2643182"/>
            <a:ext cx="15001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Current taxi stand location</a:t>
            </a:r>
          </a:p>
          <a:p>
            <a:r>
              <a:rPr lang="en-US" altLang="zh-CN" sz="1000" dirty="0" smtClean="0"/>
              <a:t>                           Change</a:t>
            </a:r>
          </a:p>
          <a:p>
            <a:r>
              <a:rPr lang="en-US" altLang="zh-CN" sz="1000" dirty="0" smtClean="0"/>
              <a:t>How many of you?</a:t>
            </a:r>
          </a:p>
          <a:p>
            <a:r>
              <a:rPr lang="en-US" altLang="zh-CN" sz="1000" dirty="0" smtClean="0"/>
              <a:t>(</a:t>
            </a:r>
            <a:r>
              <a:rPr lang="zh-CN" altLang="en-US" sz="800" dirty="0" smtClean="0"/>
              <a:t>如果是大于</a:t>
            </a:r>
            <a:r>
              <a:rPr lang="en-US" altLang="zh-CN" sz="800" dirty="0" smtClean="0"/>
              <a:t>2</a:t>
            </a:r>
            <a:r>
              <a:rPr lang="zh-CN" altLang="en-US" sz="800" dirty="0" smtClean="0"/>
              <a:t>个人，选择性别）</a:t>
            </a:r>
            <a:endParaRPr lang="en-US" altLang="zh-CN" sz="1000" dirty="0" smtClean="0"/>
          </a:p>
          <a:p>
            <a:r>
              <a:rPr lang="en-US" altLang="zh-CN" sz="1000" dirty="0" smtClean="0"/>
              <a:t>Destination</a:t>
            </a:r>
          </a:p>
          <a:p>
            <a:r>
              <a:rPr lang="en-US" altLang="zh-CN" sz="1000" dirty="0" smtClean="0"/>
              <a:t>Color</a:t>
            </a:r>
            <a:r>
              <a:rPr lang="zh-CN" altLang="en-US" sz="1000" dirty="0" smtClean="0"/>
              <a:t> </a:t>
            </a:r>
            <a:r>
              <a:rPr lang="en-US" altLang="zh-CN" sz="1000" dirty="0" smtClean="0"/>
              <a:t>of the top</a:t>
            </a:r>
          </a:p>
          <a:p>
            <a:r>
              <a:rPr lang="en-US" altLang="zh-CN" sz="1000" dirty="0" smtClean="0"/>
              <a:t>Other features   </a:t>
            </a:r>
          </a:p>
        </p:txBody>
      </p:sp>
      <p:sp>
        <p:nvSpPr>
          <p:cNvPr id="34" name="矩形 33"/>
          <p:cNvSpPr/>
          <p:nvPr/>
        </p:nvSpPr>
        <p:spPr>
          <a:xfrm>
            <a:off x="642910" y="3000372"/>
            <a:ext cx="642942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571604" y="3143248"/>
            <a:ext cx="357190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357290" y="3429000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428728" y="3643314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428728" y="3857628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2857488" y="2357430"/>
            <a:ext cx="1500198" cy="1857388"/>
            <a:chOff x="500034" y="571480"/>
            <a:chExt cx="1500198" cy="1857388"/>
          </a:xfrm>
        </p:grpSpPr>
        <p:sp>
          <p:nvSpPr>
            <p:cNvPr id="40" name="矩形 3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/>
          <p:cNvSpPr txBox="1"/>
          <p:nvPr/>
        </p:nvSpPr>
        <p:spPr>
          <a:xfrm>
            <a:off x="3000364" y="2714620"/>
            <a:ext cx="121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前面输入信息总结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2857488" y="3714752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Confirm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72066" y="2357430"/>
            <a:ext cx="1500198" cy="1857388"/>
            <a:chOff x="500034" y="571480"/>
            <a:chExt cx="1500198" cy="1857388"/>
          </a:xfrm>
        </p:grpSpPr>
        <p:sp>
          <p:nvSpPr>
            <p:cNvPr id="50" name="矩形 4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5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/>
          <p:cNvSpPr txBox="1"/>
          <p:nvPr/>
        </p:nvSpPr>
        <p:spPr>
          <a:xfrm>
            <a:off x="5286380" y="2857496"/>
            <a:ext cx="1000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告知已经排入队列，停顿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秒自动淡化进入配对页面</a:t>
            </a:r>
            <a:endParaRPr lang="zh-CN" alt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428596" y="4286256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4</a:t>
            </a:r>
            <a:r>
              <a:rPr lang="en-US" altLang="zh-CN" sz="1200" dirty="0" smtClean="0"/>
              <a:t>) </a:t>
            </a:r>
            <a:r>
              <a:rPr lang="zh-CN" altLang="en-US" sz="1200" dirty="0" smtClean="0"/>
              <a:t>配对页面（如果用户已加入队列，则直接显示配对页面</a:t>
            </a:r>
            <a:r>
              <a:rPr lang="zh-CN" altLang="en-US" sz="1200" dirty="0" smtClean="0"/>
              <a:t>）   </a:t>
            </a:r>
            <a:r>
              <a:rPr lang="en-US" altLang="zh-CN" sz="1200" dirty="0" smtClean="0"/>
              <a:t>Confirm</a:t>
            </a:r>
            <a:r>
              <a:rPr lang="zh-CN" altLang="en-US" sz="1200" dirty="0" smtClean="0"/>
              <a:t>页面</a:t>
            </a:r>
            <a:endParaRPr lang="zh-CN" altLang="en-US" sz="1200" dirty="0"/>
          </a:p>
        </p:txBody>
      </p:sp>
      <p:grpSp>
        <p:nvGrpSpPr>
          <p:cNvPr id="59" name="组合 58"/>
          <p:cNvGrpSpPr/>
          <p:nvPr/>
        </p:nvGrpSpPr>
        <p:grpSpPr>
          <a:xfrm>
            <a:off x="1000100" y="4643446"/>
            <a:ext cx="1500198" cy="1857388"/>
            <a:chOff x="500034" y="571480"/>
            <a:chExt cx="1500198" cy="1857388"/>
          </a:xfrm>
        </p:grpSpPr>
        <p:sp>
          <p:nvSpPr>
            <p:cNvPr id="60" name="矩形 5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6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64" name="直接连接符 6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7" name="矩形 66"/>
          <p:cNvSpPr/>
          <p:nvPr/>
        </p:nvSpPr>
        <p:spPr>
          <a:xfrm>
            <a:off x="1000100" y="600076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 have left the Q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圆角矩形标注 67"/>
          <p:cNvSpPr/>
          <p:nvPr/>
        </p:nvSpPr>
        <p:spPr>
          <a:xfrm>
            <a:off x="-32" y="4857760"/>
            <a:ext cx="857256" cy="1000132"/>
          </a:xfrm>
          <a:prstGeom prst="wedgeRoundRectCallout">
            <a:avLst>
              <a:gd name="adj1" fmla="val 97833"/>
              <a:gd name="adj2" fmla="val 4853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 smtClean="0">
                <a:solidFill>
                  <a:schemeClr val="tx1"/>
                </a:solidFill>
              </a:rPr>
              <a:t>如果没有找到配对：</a:t>
            </a:r>
            <a:r>
              <a:rPr lang="en-US" altLang="zh-CN" sz="1050" dirty="0" smtClean="0">
                <a:solidFill>
                  <a:schemeClr val="tx1"/>
                </a:solidFill>
              </a:rPr>
              <a:t>No match found yet, please be patient.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71538" y="5000636"/>
            <a:ext cx="1357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Match found:</a:t>
            </a:r>
          </a:p>
          <a:p>
            <a:r>
              <a:rPr lang="zh-CN" altLang="en-US" sz="1000" dirty="0" smtClean="0"/>
              <a:t>对方的基本信息显示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zh-CN" altLang="en-US" sz="1000" dirty="0"/>
          </a:p>
        </p:txBody>
      </p:sp>
      <p:sp>
        <p:nvSpPr>
          <p:cNvPr id="70" name="矩形 69"/>
          <p:cNvSpPr/>
          <p:nvPr/>
        </p:nvSpPr>
        <p:spPr>
          <a:xfrm>
            <a:off x="1714480" y="5429264"/>
            <a:ext cx="714380" cy="357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View Route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2643174" y="4643446"/>
            <a:ext cx="1500198" cy="1857388"/>
            <a:chOff x="500034" y="571480"/>
            <a:chExt cx="1500198" cy="1857388"/>
          </a:xfrm>
        </p:grpSpPr>
        <p:sp>
          <p:nvSpPr>
            <p:cNvPr id="72" name="矩形 71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75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TextBox 79"/>
          <p:cNvSpPr txBox="1"/>
          <p:nvPr/>
        </p:nvSpPr>
        <p:spPr>
          <a:xfrm>
            <a:off x="2714612" y="4929198"/>
            <a:ext cx="1357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路线图，大概节省费用。如果该用户第二个下车，告知大概延误时间（分钟）</a:t>
            </a:r>
            <a:endParaRPr lang="zh-CN" altLang="en-US" sz="1200" dirty="0"/>
          </a:p>
        </p:txBody>
      </p:sp>
      <p:sp>
        <p:nvSpPr>
          <p:cNvPr id="81" name="矩形 80"/>
          <p:cNvSpPr/>
          <p:nvPr/>
        </p:nvSpPr>
        <p:spPr>
          <a:xfrm>
            <a:off x="2643174" y="6072206"/>
            <a:ext cx="857256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Agree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500430" y="6072206"/>
            <a:ext cx="642942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Reject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000760" y="4643446"/>
            <a:ext cx="1500198" cy="1857388"/>
            <a:chOff x="500034" y="571480"/>
            <a:chExt cx="1500198" cy="1857388"/>
          </a:xfrm>
        </p:grpSpPr>
        <p:sp>
          <p:nvSpPr>
            <p:cNvPr id="85" name="矩形 8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8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89" name="直接连接符 8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TextBox 91"/>
          <p:cNvSpPr txBox="1"/>
          <p:nvPr/>
        </p:nvSpPr>
        <p:spPr>
          <a:xfrm>
            <a:off x="6072198" y="4902655"/>
            <a:ext cx="14287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前端用户：显示</a:t>
            </a:r>
            <a:r>
              <a:rPr lang="zh-CN" altLang="en-US" sz="1000" dirty="0" smtClean="0"/>
              <a:t>：</a:t>
            </a:r>
            <a:r>
              <a:rPr lang="en-US" altLang="zh-CN" sz="1000" dirty="0" smtClean="0"/>
              <a:t>Waiting for the other party to </a:t>
            </a:r>
            <a:r>
              <a:rPr lang="en-US" altLang="zh-CN" sz="1000" dirty="0" smtClean="0"/>
              <a:t>accept</a:t>
            </a:r>
            <a:r>
              <a:rPr lang="zh-CN" altLang="en-US" sz="1000" dirty="0" smtClean="0"/>
              <a:t>，同时推</a:t>
            </a:r>
            <a:r>
              <a:rPr lang="zh-CN" altLang="en-US" sz="1000" dirty="0" smtClean="0"/>
              <a:t>送</a:t>
            </a:r>
            <a:r>
              <a:rPr lang="zh-CN" altLang="en-US" sz="1000" dirty="0" smtClean="0">
                <a:solidFill>
                  <a:srgbClr val="FF0000"/>
                </a:solidFill>
              </a:rPr>
              <a:t>配对页面一</a:t>
            </a:r>
            <a:r>
              <a:rPr lang="zh-CN" altLang="en-US" sz="1000" dirty="0" smtClean="0"/>
              <a:t>给后端</a:t>
            </a:r>
            <a:r>
              <a:rPr lang="zh-CN" altLang="en-US" sz="1000" dirty="0" smtClean="0"/>
              <a:t>用户</a:t>
            </a:r>
            <a:r>
              <a:rPr lang="en-US" altLang="zh-CN" sz="1000" dirty="0" smtClean="0"/>
              <a:t>; </a:t>
            </a:r>
            <a:r>
              <a:rPr lang="zh-CN" altLang="en-US" sz="1000" dirty="0" smtClean="0"/>
              <a:t>后端</a:t>
            </a:r>
            <a:r>
              <a:rPr lang="zh-CN" altLang="en-US" sz="1000" dirty="0" smtClean="0"/>
              <a:t>用户：显示</a:t>
            </a:r>
            <a:r>
              <a:rPr lang="zh-CN" altLang="en-US" sz="1000" dirty="0" smtClean="0"/>
              <a:t>成功配对</a:t>
            </a:r>
            <a:r>
              <a:rPr lang="zh-CN" altLang="en-US" sz="1000" dirty="0" smtClean="0"/>
              <a:t>，提供</a:t>
            </a:r>
            <a:r>
              <a:rPr lang="zh-CN" altLang="en-US" sz="1000" dirty="0" smtClean="0"/>
              <a:t>按钮查看更多对方</a:t>
            </a:r>
            <a:r>
              <a:rPr lang="zh-CN" altLang="en-US" sz="1000" dirty="0" smtClean="0"/>
              <a:t>信息</a:t>
            </a:r>
            <a:r>
              <a:rPr lang="zh-CN" altLang="en-US" sz="1000" dirty="0" smtClean="0"/>
              <a:t>。</a:t>
            </a:r>
            <a:endParaRPr lang="zh-CN" altLang="en-US" sz="1000" dirty="0"/>
          </a:p>
        </p:txBody>
      </p:sp>
      <p:sp>
        <p:nvSpPr>
          <p:cNvPr id="93" name="矩形 92"/>
          <p:cNvSpPr/>
          <p:nvPr/>
        </p:nvSpPr>
        <p:spPr>
          <a:xfrm>
            <a:off x="6000760" y="6072206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More about the other party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7572396" y="4643446"/>
            <a:ext cx="1500198" cy="1857388"/>
            <a:chOff x="500034" y="571480"/>
            <a:chExt cx="1500198" cy="1857388"/>
          </a:xfrm>
        </p:grpSpPr>
        <p:sp>
          <p:nvSpPr>
            <p:cNvPr id="95" name="矩形 9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9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2" name="矩形 101"/>
          <p:cNvSpPr/>
          <p:nvPr/>
        </p:nvSpPr>
        <p:spPr>
          <a:xfrm>
            <a:off x="7572396" y="6072206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I am the next to board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572396" y="4929198"/>
            <a:ext cx="14287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对方详细信息</a:t>
            </a:r>
            <a:endParaRPr lang="en-US" altLang="zh-CN" sz="1000" dirty="0" smtClean="0"/>
          </a:p>
          <a:p>
            <a:r>
              <a:rPr lang="zh-CN" altLang="en-US" sz="1000" dirty="0" smtClean="0"/>
              <a:t>并系统分配配对编号</a:t>
            </a:r>
            <a:endParaRPr lang="en-US" altLang="zh-CN" sz="1000" dirty="0" smtClean="0"/>
          </a:p>
          <a:p>
            <a:endParaRPr lang="en-US" altLang="zh-CN" sz="1000" dirty="0" smtClean="0"/>
          </a:p>
          <a:p>
            <a:r>
              <a:rPr lang="zh-CN" altLang="en-US" sz="1000" dirty="0" smtClean="0"/>
              <a:t>前端用户给予以下按钮提示</a:t>
            </a:r>
            <a:endParaRPr lang="zh-CN" altLang="en-US" sz="1000" dirty="0"/>
          </a:p>
        </p:txBody>
      </p:sp>
      <p:grpSp>
        <p:nvGrpSpPr>
          <p:cNvPr id="116" name="组合 115"/>
          <p:cNvGrpSpPr/>
          <p:nvPr/>
        </p:nvGrpSpPr>
        <p:grpSpPr>
          <a:xfrm>
            <a:off x="6929454" y="428604"/>
            <a:ext cx="1500198" cy="1857388"/>
            <a:chOff x="500034" y="571480"/>
            <a:chExt cx="1500198" cy="1857388"/>
          </a:xfrm>
        </p:grpSpPr>
        <p:sp>
          <p:nvSpPr>
            <p:cNvPr id="117" name="矩形 11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Purchase Credit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21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22" name="直接连接符 121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右箭头 124"/>
          <p:cNvSpPr/>
          <p:nvPr/>
        </p:nvSpPr>
        <p:spPr>
          <a:xfrm>
            <a:off x="3571868" y="1571612"/>
            <a:ext cx="2857520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TextBox 125"/>
          <p:cNvSpPr txBox="1"/>
          <p:nvPr/>
        </p:nvSpPr>
        <p:spPr>
          <a:xfrm>
            <a:off x="7072330" y="785794"/>
            <a:ext cx="12144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如果用户信用点为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，则显示该页面：</a:t>
            </a:r>
            <a:r>
              <a:rPr lang="en-US" altLang="zh-CN" sz="1200" dirty="0" smtClean="0"/>
              <a:t>Oops, you credit balance is 0</a:t>
            </a:r>
            <a:endParaRPr lang="zh-CN" altLang="en-US" sz="1200" dirty="0"/>
          </a:p>
        </p:txBody>
      </p:sp>
      <p:grpSp>
        <p:nvGrpSpPr>
          <p:cNvPr id="104" name="组合 103"/>
          <p:cNvGrpSpPr/>
          <p:nvPr/>
        </p:nvGrpSpPr>
        <p:grpSpPr>
          <a:xfrm>
            <a:off x="4429124" y="4643446"/>
            <a:ext cx="1500198" cy="1857388"/>
            <a:chOff x="500034" y="571480"/>
            <a:chExt cx="1500198" cy="1857388"/>
          </a:xfrm>
        </p:grpSpPr>
        <p:sp>
          <p:nvSpPr>
            <p:cNvPr id="105" name="矩形 10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7" name="矩形 106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0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2" name="右箭头 111"/>
          <p:cNvSpPr/>
          <p:nvPr/>
        </p:nvSpPr>
        <p:spPr>
          <a:xfrm>
            <a:off x="4143372" y="5429264"/>
            <a:ext cx="357190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4429124" y="600076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Confirm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429124" y="4929198"/>
            <a:ext cx="13573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用户</a:t>
            </a:r>
            <a:r>
              <a:rPr lang="en-US" altLang="zh-CN" sz="1400" dirty="0" smtClean="0"/>
              <a:t>confirm</a:t>
            </a:r>
            <a:r>
              <a:rPr lang="zh-CN" altLang="en-US" sz="1400" dirty="0" smtClean="0"/>
              <a:t>选择</a:t>
            </a:r>
            <a:r>
              <a:rPr lang="en-US" altLang="zh-CN" sz="1400" dirty="0" smtClean="0"/>
              <a:t>-accept, reject, left Q</a:t>
            </a:r>
            <a:endParaRPr lang="zh-CN" altLang="en-US" sz="1400" dirty="0"/>
          </a:p>
        </p:txBody>
      </p:sp>
      <p:sp>
        <p:nvSpPr>
          <p:cNvPr id="128" name="下弧形箭头 127"/>
          <p:cNvSpPr/>
          <p:nvPr/>
        </p:nvSpPr>
        <p:spPr>
          <a:xfrm>
            <a:off x="2357422" y="6143644"/>
            <a:ext cx="2500330" cy="714356"/>
          </a:xfrm>
          <a:prstGeom prst="curved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214414" y="6572272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（配对页面一）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14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5</a:t>
            </a:r>
            <a:r>
              <a:rPr lang="en-US" altLang="zh-CN" sz="1200" dirty="0" smtClean="0"/>
              <a:t>) </a:t>
            </a:r>
            <a:r>
              <a:rPr lang="zh-CN" altLang="en-US" sz="1200" dirty="0" smtClean="0"/>
              <a:t>更多选项页面（</a:t>
            </a:r>
            <a:r>
              <a:rPr lang="zh-CN" altLang="en-US" sz="1200" dirty="0" smtClean="0"/>
              <a:t>点击</a:t>
            </a:r>
            <a:r>
              <a:rPr lang="zh-CN" altLang="en-US" sz="1200" dirty="0" smtClean="0"/>
              <a:t>主页面左上角三横线，页面向右移动，露出更多选项页面，）</a:t>
            </a:r>
            <a:endParaRPr lang="zh-CN" altLang="en-US" sz="12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071538" y="4714884"/>
            <a:ext cx="1500198" cy="1857388"/>
            <a:chOff x="500034" y="571480"/>
            <a:chExt cx="1500198" cy="1857388"/>
          </a:xfrm>
        </p:grpSpPr>
        <p:sp>
          <p:nvSpPr>
            <p:cNvPr id="6" name="矩形 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Purchase Credit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0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28596" y="4366447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6</a:t>
            </a:r>
            <a:r>
              <a:rPr lang="en-US" altLang="zh-CN" sz="1200" dirty="0" smtClean="0"/>
              <a:t>) </a:t>
            </a:r>
            <a:r>
              <a:rPr lang="zh-CN" altLang="en-US" sz="1200" dirty="0" smtClean="0"/>
              <a:t>点数购买</a:t>
            </a:r>
            <a:r>
              <a:rPr lang="zh-CN" altLang="en-US" sz="1200" dirty="0" smtClean="0"/>
              <a:t>页面</a:t>
            </a:r>
            <a:endParaRPr lang="zh-CN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142976" y="5643578"/>
            <a:ext cx="135732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</a:t>
            </a:r>
            <a:r>
              <a:rPr lang="zh-CN" altLang="en-US" sz="1200" dirty="0" smtClean="0"/>
              <a:t>种点数套餐选择</a:t>
            </a:r>
            <a:endParaRPr lang="zh-CN" altLang="en-US" sz="1200" dirty="0"/>
          </a:p>
        </p:txBody>
      </p:sp>
      <p:sp>
        <p:nvSpPr>
          <p:cNvPr id="16" name="矩形 15"/>
          <p:cNvSpPr/>
          <p:nvPr/>
        </p:nvSpPr>
        <p:spPr>
          <a:xfrm>
            <a:off x="1142976" y="5143512"/>
            <a:ext cx="1357322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/>
              <a:t>Post a </a:t>
            </a:r>
            <a:r>
              <a:rPr lang="en-US" altLang="zh-CN" sz="1000" dirty="0" err="1" smtClean="0"/>
              <a:t>facebook</a:t>
            </a:r>
            <a:r>
              <a:rPr lang="en-US" altLang="zh-CN" sz="1000" dirty="0" smtClean="0"/>
              <a:t> to gain 1 credit</a:t>
            </a:r>
            <a:endParaRPr lang="zh-CN" altLang="en-US" sz="1000" dirty="0"/>
          </a:p>
        </p:txBody>
      </p:sp>
      <p:sp>
        <p:nvSpPr>
          <p:cNvPr id="17" name="圆角矩形标注 16"/>
          <p:cNvSpPr/>
          <p:nvPr/>
        </p:nvSpPr>
        <p:spPr>
          <a:xfrm>
            <a:off x="0" y="4714884"/>
            <a:ext cx="928662" cy="1571636"/>
          </a:xfrm>
          <a:prstGeom prst="wedgeRoundRectCallout">
            <a:avLst>
              <a:gd name="adj1" fmla="val 77627"/>
              <a:gd name="adj2" fmla="val -1087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</a:rPr>
              <a:t>内含即时功能，需距离上一次</a:t>
            </a:r>
            <a:r>
              <a:rPr lang="en-US" altLang="zh-CN" sz="1000" dirty="0" smtClean="0">
                <a:solidFill>
                  <a:schemeClr val="tx1"/>
                </a:solidFill>
              </a:rPr>
              <a:t>post</a:t>
            </a:r>
            <a:r>
              <a:rPr lang="zh-CN" altLang="en-US" sz="1000" dirty="0" smtClean="0">
                <a:solidFill>
                  <a:schemeClr val="tx1"/>
                </a:solidFill>
              </a:rPr>
              <a:t>至少</a:t>
            </a:r>
            <a:r>
              <a:rPr lang="en-US" altLang="zh-CN" sz="1000" dirty="0" smtClean="0">
                <a:solidFill>
                  <a:schemeClr val="tx1"/>
                </a:solidFill>
              </a:rPr>
              <a:t>168</a:t>
            </a:r>
            <a:r>
              <a:rPr lang="zh-CN" altLang="en-US" sz="1000" dirty="0" smtClean="0">
                <a:solidFill>
                  <a:schemeClr val="tx1"/>
                </a:solidFill>
              </a:rPr>
              <a:t>小时，否则该按钮显示灰色，且按钮上提示距下次时间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643174" y="5643578"/>
            <a:ext cx="357190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071802" y="5291752"/>
            <a:ext cx="1714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要求输入密码信息进行</a:t>
            </a:r>
            <a:r>
              <a:rPr lang="en-US" altLang="zh-CN" dirty="0" smtClean="0"/>
              <a:t>in-app purchase</a:t>
            </a:r>
            <a:endParaRPr lang="zh-CN" altLang="en-US" dirty="0"/>
          </a:p>
        </p:txBody>
      </p:sp>
      <p:sp>
        <p:nvSpPr>
          <p:cNvPr id="20" name="右箭头 19"/>
          <p:cNvSpPr/>
          <p:nvPr/>
        </p:nvSpPr>
        <p:spPr>
          <a:xfrm>
            <a:off x="4786314" y="5715016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357818" y="4786322"/>
            <a:ext cx="1500198" cy="1857388"/>
            <a:chOff x="500034" y="571480"/>
            <a:chExt cx="1500198" cy="1857388"/>
          </a:xfrm>
        </p:grpSpPr>
        <p:sp>
          <p:nvSpPr>
            <p:cNvPr id="22" name="矩形 21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26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5357818" y="5072074"/>
            <a:ext cx="15001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告知购买成功或免费获得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点，显示</a:t>
            </a:r>
            <a:r>
              <a:rPr lang="en-US" altLang="zh-CN" sz="1600" dirty="0" smtClean="0"/>
              <a:t>credit balance</a:t>
            </a:r>
            <a:endParaRPr lang="zh-CN" altLang="en-US" sz="1600" dirty="0"/>
          </a:p>
        </p:txBody>
      </p:sp>
      <p:sp>
        <p:nvSpPr>
          <p:cNvPr id="31" name="矩形 30"/>
          <p:cNvSpPr/>
          <p:nvPr/>
        </p:nvSpPr>
        <p:spPr>
          <a:xfrm>
            <a:off x="5357818" y="6143644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Start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6858016" y="6215082"/>
            <a:ext cx="428628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358082" y="606006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回到主页面</a:t>
            </a:r>
            <a:endParaRPr lang="zh-CN" altLang="en-US" dirty="0"/>
          </a:p>
        </p:txBody>
      </p:sp>
      <p:grpSp>
        <p:nvGrpSpPr>
          <p:cNvPr id="34" name="组合 33"/>
          <p:cNvGrpSpPr/>
          <p:nvPr/>
        </p:nvGrpSpPr>
        <p:grpSpPr>
          <a:xfrm>
            <a:off x="571472" y="428604"/>
            <a:ext cx="1500198" cy="1857388"/>
            <a:chOff x="500034" y="571480"/>
            <a:chExt cx="1500198" cy="1857388"/>
          </a:xfrm>
        </p:grpSpPr>
        <p:sp>
          <p:nvSpPr>
            <p:cNvPr id="35" name="矩形 3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More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Return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上弧形箭头 43"/>
          <p:cNvSpPr/>
          <p:nvPr/>
        </p:nvSpPr>
        <p:spPr>
          <a:xfrm>
            <a:off x="2428860" y="4643446"/>
            <a:ext cx="3071834" cy="64294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1472" y="714356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Profile</a:t>
            </a:r>
          </a:p>
          <a:p>
            <a:r>
              <a:rPr lang="en-US" altLang="zh-CN" sz="1200" dirty="0" smtClean="0"/>
              <a:t>Sharing Criteria</a:t>
            </a:r>
          </a:p>
          <a:p>
            <a:r>
              <a:rPr lang="en-US" altLang="zh-CN" sz="1200" dirty="0" smtClean="0"/>
              <a:t>Credit Balance</a:t>
            </a:r>
          </a:p>
          <a:p>
            <a:endParaRPr lang="en-US" altLang="zh-CN" sz="1200" dirty="0" smtClean="0"/>
          </a:p>
          <a:p>
            <a:r>
              <a:rPr lang="en-US" altLang="zh-CN" sz="1200" dirty="0" smtClean="0"/>
              <a:t>About Us</a:t>
            </a:r>
            <a:endParaRPr lang="zh-CN" altLang="en-US" sz="12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2214546" y="428604"/>
            <a:ext cx="1500198" cy="1857388"/>
            <a:chOff x="500034" y="571480"/>
            <a:chExt cx="1500198" cy="1857388"/>
          </a:xfrm>
        </p:grpSpPr>
        <p:sp>
          <p:nvSpPr>
            <p:cNvPr id="47" name="矩形 4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Profile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2357422" y="785794"/>
            <a:ext cx="121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个人信息更新</a:t>
            </a:r>
            <a:endParaRPr lang="zh-CN" altLang="en-US" dirty="0"/>
          </a:p>
        </p:txBody>
      </p:sp>
      <p:grpSp>
        <p:nvGrpSpPr>
          <p:cNvPr id="52" name="组合 51"/>
          <p:cNvGrpSpPr/>
          <p:nvPr/>
        </p:nvGrpSpPr>
        <p:grpSpPr>
          <a:xfrm>
            <a:off x="5500694" y="428604"/>
            <a:ext cx="1500198" cy="1857388"/>
            <a:chOff x="500034" y="571480"/>
            <a:chExt cx="1500198" cy="1857388"/>
          </a:xfrm>
        </p:grpSpPr>
        <p:sp>
          <p:nvSpPr>
            <p:cNvPr id="53" name="矩形 52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Credit Balance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5643570" y="714356"/>
            <a:ext cx="1143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200" dirty="0" smtClean="0"/>
          </a:p>
          <a:p>
            <a:r>
              <a:rPr lang="en-US" altLang="zh-CN" sz="1200" dirty="0" smtClean="0"/>
              <a:t>You have xxx Credits.</a:t>
            </a:r>
            <a:endParaRPr lang="en-US" altLang="zh-CN" sz="1200" dirty="0" smtClean="0"/>
          </a:p>
          <a:p>
            <a:endParaRPr lang="en-US" altLang="zh-CN" sz="1200" dirty="0" smtClean="0"/>
          </a:p>
          <a:p>
            <a:r>
              <a:rPr lang="en-US" altLang="zh-CN" sz="1200" dirty="0" smtClean="0"/>
              <a:t>Purchase credit</a:t>
            </a:r>
            <a:endParaRPr lang="zh-CN" altLang="en-US" sz="1200" dirty="0"/>
          </a:p>
        </p:txBody>
      </p:sp>
      <p:cxnSp>
        <p:nvCxnSpPr>
          <p:cNvPr id="59" name="直接箭头连接符 58"/>
          <p:cNvCxnSpPr/>
          <p:nvPr/>
        </p:nvCxnSpPr>
        <p:spPr>
          <a:xfrm rot="10800000" flipV="1">
            <a:off x="1071538" y="1714488"/>
            <a:ext cx="4929222" cy="2643206"/>
          </a:xfrm>
          <a:prstGeom prst="straightConnector1">
            <a:avLst/>
          </a:prstGeom>
          <a:ln w="539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/>
        </p:nvGrpSpPr>
        <p:grpSpPr>
          <a:xfrm>
            <a:off x="3857620" y="428604"/>
            <a:ext cx="1500198" cy="1857388"/>
            <a:chOff x="500034" y="571480"/>
            <a:chExt cx="1500198" cy="1857388"/>
          </a:xfrm>
        </p:grpSpPr>
        <p:sp>
          <p:nvSpPr>
            <p:cNvPr id="61" name="矩形 60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Profile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3929058" y="785794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修改配对设置</a:t>
            </a:r>
            <a:endParaRPr lang="zh-CN" altLang="en-US" dirty="0"/>
          </a:p>
        </p:txBody>
      </p:sp>
      <p:grpSp>
        <p:nvGrpSpPr>
          <p:cNvPr id="68" name="组合 67"/>
          <p:cNvGrpSpPr/>
          <p:nvPr/>
        </p:nvGrpSpPr>
        <p:grpSpPr>
          <a:xfrm>
            <a:off x="7286644" y="428604"/>
            <a:ext cx="1500198" cy="1857388"/>
            <a:chOff x="500034" y="571480"/>
            <a:chExt cx="1500198" cy="1857388"/>
          </a:xfrm>
        </p:grpSpPr>
        <p:sp>
          <p:nvSpPr>
            <p:cNvPr id="69" name="矩形 68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About Us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7358082" y="785794"/>
            <a:ext cx="1285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公司介绍及联系方式和网站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674</Words>
  <PresentationFormat>全屏显示(4:3)</PresentationFormat>
  <Paragraphs>161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幻灯片 1</vt:lpstr>
      <vt:lpstr>幻灯片 2</vt:lpstr>
      <vt:lpstr>幻灯片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LC</cp:lastModifiedBy>
  <cp:revision>31</cp:revision>
  <dcterms:modified xsi:type="dcterms:W3CDTF">2013-08-05T23:39:31Z</dcterms:modified>
</cp:coreProperties>
</file>