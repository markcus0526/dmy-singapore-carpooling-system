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463" autoAdjust="0"/>
    <p:restoredTop sz="94628" autoAdjust="0"/>
  </p:normalViewPr>
  <p:slideViewPr>
    <p:cSldViewPr>
      <p:cViewPr varScale="1">
        <p:scale>
          <a:sx n="109" d="100"/>
          <a:sy n="109" d="100"/>
        </p:scale>
        <p:origin x="-624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3" d="100"/>
          <a:sy n="83" d="100"/>
        </p:scale>
        <p:origin x="-199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E0632B-FDD4-48A0-AF5C-5C4E0E093B3E}" type="datetimeFigureOut">
              <a:rPr lang="zh-CN" altLang="en-US" smtClean="0"/>
              <a:t>2013/8/21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90C29-4DD4-4420-948D-E9E7F20983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412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790C29-4DD4-4420-948D-E9E7F20983B1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pPr/>
              <a:t>2013/8/21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71472" y="642918"/>
            <a:ext cx="1428760" cy="15716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428596" y="71414"/>
            <a:ext cx="83582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 smtClean="0">
                <a:solidFill>
                  <a:srgbClr val="FF0000"/>
                </a:solidFill>
              </a:rPr>
              <a:t>参考</a:t>
            </a:r>
            <a:r>
              <a:rPr lang="en-US" altLang="zh-CN" sz="1200" b="1" dirty="0" err="1" smtClean="0">
                <a:solidFill>
                  <a:srgbClr val="FF0000"/>
                </a:solidFill>
              </a:rPr>
              <a:t>Lyft</a:t>
            </a:r>
            <a:endParaRPr lang="en-US" altLang="zh-CN" sz="1200" b="1" dirty="0" smtClean="0">
              <a:solidFill>
                <a:srgbClr val="FF0000"/>
              </a:solidFill>
            </a:endParaRPr>
          </a:p>
          <a:p>
            <a:r>
              <a:rPr lang="en-US" altLang="zh-CN" sz="1200" dirty="0" smtClean="0"/>
              <a:t>1) </a:t>
            </a:r>
            <a:r>
              <a:rPr lang="zh-CN" altLang="en-US" sz="1200" dirty="0" smtClean="0"/>
              <a:t>开启页面（每次开启显示，除非用户已加入某队列，则打开直接显示配对页面）</a:t>
            </a:r>
            <a:endParaRPr lang="zh-CN" alt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1357290" y="1580365"/>
            <a:ext cx="5715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Logo</a:t>
            </a:r>
            <a:endParaRPr lang="zh-CN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500034" y="2285992"/>
            <a:ext cx="8358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2) </a:t>
            </a:r>
            <a:r>
              <a:rPr lang="zh-CN" altLang="en-US" sz="1200" dirty="0" smtClean="0"/>
              <a:t>注册及配对设置（用户未绑定</a:t>
            </a:r>
            <a:r>
              <a:rPr lang="en-US" altLang="zh-CN" sz="1200" dirty="0" err="1" smtClean="0"/>
              <a:t>facebook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grpSp>
        <p:nvGrpSpPr>
          <p:cNvPr id="35" name="组合 34"/>
          <p:cNvGrpSpPr/>
          <p:nvPr/>
        </p:nvGrpSpPr>
        <p:grpSpPr>
          <a:xfrm>
            <a:off x="3643306" y="2643182"/>
            <a:ext cx="1500198" cy="1857388"/>
            <a:chOff x="571472" y="2643182"/>
            <a:chExt cx="1500198" cy="1857388"/>
          </a:xfrm>
        </p:grpSpPr>
        <p:sp>
          <p:nvSpPr>
            <p:cNvPr id="36" name="矩形 35"/>
            <p:cNvSpPr/>
            <p:nvPr/>
          </p:nvSpPr>
          <p:spPr>
            <a:xfrm>
              <a:off x="571472" y="2643182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71472" y="2714620"/>
              <a:ext cx="150019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dirty="0" smtClean="0"/>
                <a:t>Important Notice</a:t>
              </a:r>
            </a:p>
            <a:p>
              <a:pPr algn="ctr"/>
              <a:r>
                <a:rPr lang="en-US" altLang="zh-CN" sz="1000" dirty="0" smtClean="0"/>
                <a:t>……………………….</a:t>
              </a:r>
            </a:p>
            <a:p>
              <a:pPr algn="ctr"/>
              <a:endParaRPr lang="en-US" altLang="zh-CN" sz="1000" dirty="0" smtClean="0"/>
            </a:p>
            <a:p>
              <a:pPr algn="ctr"/>
              <a:endParaRPr lang="en-US" altLang="zh-CN" sz="1000" dirty="0" smtClean="0"/>
            </a:p>
            <a:p>
              <a:pPr algn="ctr"/>
              <a:endParaRPr lang="en-US" altLang="zh-CN" sz="1000" dirty="0" smtClean="0"/>
            </a:p>
            <a:p>
              <a:pPr algn="ctr"/>
              <a:endParaRPr lang="en-US" altLang="zh-CN" sz="1000" dirty="0" smtClean="0"/>
            </a:p>
            <a:p>
              <a:pPr algn="ctr"/>
              <a:endParaRPr lang="en-US" altLang="zh-CN" sz="1000" dirty="0" smtClean="0"/>
            </a:p>
            <a:p>
              <a:pPr algn="ctr"/>
              <a:r>
                <a:rPr lang="en-US" altLang="zh-CN" sz="1000" dirty="0" smtClean="0"/>
                <a:t>………………………</a:t>
              </a: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5286380" y="2643182"/>
            <a:ext cx="1500198" cy="1938992"/>
            <a:chOff x="571472" y="2643182"/>
            <a:chExt cx="1500198" cy="1938992"/>
          </a:xfrm>
        </p:grpSpPr>
        <p:sp>
          <p:nvSpPr>
            <p:cNvPr id="49" name="矩形 48"/>
            <p:cNvSpPr/>
            <p:nvPr/>
          </p:nvSpPr>
          <p:spPr>
            <a:xfrm>
              <a:off x="571472" y="2643182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71472" y="2643182"/>
              <a:ext cx="1500198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altLang="zh-CN" sz="1100" dirty="0" smtClean="0"/>
            </a:p>
            <a:p>
              <a:r>
                <a:rPr lang="en-US" altLang="zh-CN" sz="1100" dirty="0" err="1" smtClean="0"/>
                <a:t>Xxxx</a:t>
              </a:r>
              <a:r>
                <a:rPr lang="en-US" altLang="zh-CN" sz="1100" dirty="0" smtClean="0"/>
                <a:t>, Welcome!</a:t>
              </a:r>
            </a:p>
            <a:p>
              <a:r>
                <a:rPr lang="en-US" altLang="zh-CN" sz="1400" dirty="0" smtClean="0"/>
                <a:t>…….</a:t>
              </a:r>
            </a:p>
            <a:p>
              <a:endParaRPr lang="en-US" altLang="zh-CN" sz="1400" dirty="0" smtClean="0"/>
            </a:p>
            <a:p>
              <a:r>
                <a:rPr lang="en-US" altLang="zh-CN" sz="1400" dirty="0" smtClean="0"/>
                <a:t>【5】 free credits have been given to you</a:t>
              </a:r>
            </a:p>
            <a:p>
              <a:endParaRPr lang="en-US" altLang="zh-CN" sz="1400" dirty="0" smtClean="0"/>
            </a:p>
            <a:p>
              <a:r>
                <a:rPr lang="en-US" altLang="zh-CN" sz="1400" dirty="0" smtClean="0"/>
                <a:t>  </a:t>
              </a:r>
              <a:endParaRPr lang="zh-CN" altLang="en-US" sz="1400" dirty="0"/>
            </a:p>
          </p:txBody>
        </p:sp>
      </p:grpSp>
      <p:sp>
        <p:nvSpPr>
          <p:cNvPr id="54" name="矩形 53"/>
          <p:cNvSpPr/>
          <p:nvPr/>
        </p:nvSpPr>
        <p:spPr>
          <a:xfrm>
            <a:off x="5429256" y="4143380"/>
            <a:ext cx="1214446" cy="28575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Start tour</a:t>
            </a:r>
            <a:endParaRPr lang="zh-CN" altLang="en-US" sz="1400" dirty="0"/>
          </a:p>
        </p:txBody>
      </p:sp>
      <p:sp>
        <p:nvSpPr>
          <p:cNvPr id="59" name="TextBox 58"/>
          <p:cNvSpPr txBox="1"/>
          <p:nvPr/>
        </p:nvSpPr>
        <p:spPr>
          <a:xfrm>
            <a:off x="2357422" y="785794"/>
            <a:ext cx="628654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>
                <a:solidFill>
                  <a:srgbClr val="FF0000"/>
                </a:solidFill>
              </a:rPr>
              <a:t>名称为：</a:t>
            </a:r>
            <a:r>
              <a:rPr lang="en-US" altLang="zh-CN" sz="1600" dirty="0" smtClean="0">
                <a:solidFill>
                  <a:srgbClr val="FF0000"/>
                </a:solidFill>
              </a:rPr>
              <a:t>[Ride2gather]</a:t>
            </a:r>
          </a:p>
          <a:p>
            <a:r>
              <a:rPr lang="en-US" altLang="zh-CN" sz="1600" dirty="0" smtClean="0">
                <a:solidFill>
                  <a:srgbClr val="FF0000"/>
                </a:solidFill>
              </a:rPr>
              <a:t>Logo</a:t>
            </a:r>
            <a:r>
              <a:rPr lang="zh-CN" altLang="en-US" sz="1600" dirty="0" smtClean="0">
                <a:solidFill>
                  <a:srgbClr val="FF0000"/>
                </a:solidFill>
              </a:rPr>
              <a:t>以英文单词为主体进行美工，简洁大方</a:t>
            </a:r>
            <a:endParaRPr lang="en-US" altLang="zh-CN" sz="1600" dirty="0" smtClean="0">
              <a:solidFill>
                <a:srgbClr val="FF0000"/>
              </a:solidFill>
            </a:endParaRPr>
          </a:p>
          <a:p>
            <a:r>
              <a:rPr lang="zh-CN" altLang="en-US" sz="1600" dirty="0" smtClean="0">
                <a:solidFill>
                  <a:srgbClr val="FF0000"/>
                </a:solidFill>
              </a:rPr>
              <a:t>如果有设计是把出租车简笔画加入到单词中就更好了。</a:t>
            </a:r>
            <a:endParaRPr lang="en-US" altLang="zh-CN" sz="1600" dirty="0" smtClean="0">
              <a:solidFill>
                <a:srgbClr val="FF0000"/>
              </a:solidFill>
            </a:endParaRPr>
          </a:p>
          <a:p>
            <a:r>
              <a:rPr lang="zh-CN" altLang="en-US" sz="1600" dirty="0" smtClean="0">
                <a:solidFill>
                  <a:srgbClr val="FF0000"/>
                </a:solidFill>
              </a:rPr>
              <a:t>整体色调要求简洁活泼，参考</a:t>
            </a:r>
            <a:r>
              <a:rPr lang="en-US" altLang="zh-CN" sz="1600" dirty="0" err="1" smtClean="0">
                <a:solidFill>
                  <a:srgbClr val="FF0000"/>
                </a:solidFill>
              </a:rPr>
              <a:t>Lyft</a:t>
            </a:r>
            <a:r>
              <a:rPr lang="zh-CN" altLang="en-US" sz="1600" dirty="0" smtClean="0">
                <a:solidFill>
                  <a:srgbClr val="FF0000"/>
                </a:solidFill>
              </a:rPr>
              <a:t>，主背景色调选择白色、浅灰、或黑色。其他颜色根据背景色搭配。</a:t>
            </a:r>
            <a:endParaRPr lang="zh-CN" altLang="en-US" sz="1600" dirty="0">
              <a:solidFill>
                <a:srgbClr val="FF0000"/>
              </a:solidFill>
            </a:endParaRPr>
          </a:p>
        </p:txBody>
      </p:sp>
      <p:grpSp>
        <p:nvGrpSpPr>
          <p:cNvPr id="61" name="组合 60"/>
          <p:cNvGrpSpPr/>
          <p:nvPr/>
        </p:nvGrpSpPr>
        <p:grpSpPr>
          <a:xfrm>
            <a:off x="285720" y="2643182"/>
            <a:ext cx="1500198" cy="1857388"/>
            <a:chOff x="571472" y="2643182"/>
            <a:chExt cx="1500198" cy="1857388"/>
          </a:xfrm>
        </p:grpSpPr>
        <p:sp>
          <p:nvSpPr>
            <p:cNvPr id="62" name="矩形 61"/>
            <p:cNvSpPr/>
            <p:nvPr/>
          </p:nvSpPr>
          <p:spPr>
            <a:xfrm>
              <a:off x="571472" y="2643182"/>
              <a:ext cx="1500198" cy="18573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71472" y="3191532"/>
              <a:ext cx="1500198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00" dirty="0" err="1" smtClean="0"/>
                <a:t>facebook</a:t>
              </a:r>
              <a:r>
                <a:rPr lang="zh-CN" altLang="en-US" sz="1400" dirty="0" smtClean="0"/>
                <a:t>帐号登录</a:t>
              </a:r>
              <a:endParaRPr lang="en-US" altLang="zh-CN" sz="1400" dirty="0" smtClean="0"/>
            </a:p>
          </p:txBody>
        </p:sp>
      </p:grpSp>
      <p:sp>
        <p:nvSpPr>
          <p:cNvPr id="82" name="矩形 81"/>
          <p:cNvSpPr/>
          <p:nvPr/>
        </p:nvSpPr>
        <p:spPr>
          <a:xfrm>
            <a:off x="3786182" y="4143380"/>
            <a:ext cx="1214446" cy="28575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I Understand</a:t>
            </a:r>
            <a:endParaRPr lang="zh-CN" altLang="en-US" sz="1400" dirty="0"/>
          </a:p>
        </p:txBody>
      </p:sp>
      <p:sp>
        <p:nvSpPr>
          <p:cNvPr id="83" name="右箭头 82"/>
          <p:cNvSpPr/>
          <p:nvPr/>
        </p:nvSpPr>
        <p:spPr>
          <a:xfrm>
            <a:off x="6929454" y="3429000"/>
            <a:ext cx="785818" cy="2857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TextBox 83"/>
          <p:cNvSpPr txBox="1"/>
          <p:nvPr/>
        </p:nvSpPr>
        <p:spPr>
          <a:xfrm>
            <a:off x="7786710" y="3286124"/>
            <a:ext cx="11429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过程演示，包括设置</a:t>
            </a:r>
            <a:endParaRPr lang="zh-CN" altLang="en-US" dirty="0"/>
          </a:p>
        </p:txBody>
      </p:sp>
      <p:grpSp>
        <p:nvGrpSpPr>
          <p:cNvPr id="63" name="组合 62"/>
          <p:cNvGrpSpPr/>
          <p:nvPr/>
        </p:nvGrpSpPr>
        <p:grpSpPr>
          <a:xfrm>
            <a:off x="2000232" y="2643182"/>
            <a:ext cx="1500198" cy="1857388"/>
            <a:chOff x="571472" y="2643182"/>
            <a:chExt cx="1500198" cy="1857388"/>
          </a:xfrm>
        </p:grpSpPr>
        <p:sp>
          <p:nvSpPr>
            <p:cNvPr id="64" name="矩形 63"/>
            <p:cNvSpPr/>
            <p:nvPr/>
          </p:nvSpPr>
          <p:spPr>
            <a:xfrm>
              <a:off x="571472" y="2643182"/>
              <a:ext cx="1500198" cy="18573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571472" y="3191532"/>
              <a:ext cx="1500198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400" dirty="0" smtClean="0"/>
                <a:t>填写手机和邮箱</a:t>
              </a:r>
              <a:endParaRPr lang="en-US" altLang="zh-CN" sz="1400" dirty="0" smtClean="0"/>
            </a:p>
            <a:p>
              <a:r>
                <a:rPr lang="zh-CN" altLang="en-US" sz="1400" dirty="0" smtClean="0"/>
                <a:t>不需要验证</a:t>
              </a:r>
              <a:endParaRPr lang="en-US" altLang="zh-CN" sz="1400" dirty="0" smtClean="0"/>
            </a:p>
          </p:txBody>
        </p:sp>
      </p:grpSp>
      <p:sp>
        <p:nvSpPr>
          <p:cNvPr id="75" name="矩形 74"/>
          <p:cNvSpPr/>
          <p:nvPr/>
        </p:nvSpPr>
        <p:spPr>
          <a:xfrm>
            <a:off x="2143108" y="4000504"/>
            <a:ext cx="1214446" cy="28575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/>
              <a:t>Next</a:t>
            </a:r>
            <a:endParaRPr lang="zh-CN" alt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357158" y="3786190"/>
            <a:ext cx="1357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（获取</a:t>
            </a:r>
            <a:r>
              <a:rPr lang="en-US" altLang="zh-CN" sz="1200" dirty="0" smtClean="0"/>
              <a:t>username, gender</a:t>
            </a:r>
            <a:r>
              <a:rPr lang="zh-CN" altLang="en-US" sz="1200" dirty="0" smtClean="0"/>
              <a:t>和年龄信息）</a:t>
            </a:r>
            <a:endParaRPr lang="zh-CN" alt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8596" y="71414"/>
            <a:ext cx="8358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3) </a:t>
            </a:r>
            <a:r>
              <a:rPr lang="zh-CN" altLang="en-US" sz="1200" dirty="0" smtClean="0"/>
              <a:t>主页面（用户已注册，开启页面后显示，如果用户已加入队列，则直接显示配对页面）</a:t>
            </a:r>
            <a:endParaRPr lang="zh-CN" altLang="en-US" sz="1200" dirty="0"/>
          </a:p>
        </p:txBody>
      </p:sp>
      <p:grpSp>
        <p:nvGrpSpPr>
          <p:cNvPr id="20" name="组合 19"/>
          <p:cNvGrpSpPr/>
          <p:nvPr/>
        </p:nvGrpSpPr>
        <p:grpSpPr>
          <a:xfrm>
            <a:off x="1643042" y="357166"/>
            <a:ext cx="1500198" cy="1857388"/>
            <a:chOff x="500034" y="571480"/>
            <a:chExt cx="1500198" cy="1857388"/>
          </a:xfrm>
        </p:grpSpPr>
        <p:sp>
          <p:nvSpPr>
            <p:cNvPr id="6" name="矩形 5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500034" y="2143116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 smtClean="0">
                  <a:solidFill>
                    <a:schemeClr val="tx1"/>
                  </a:solidFill>
                </a:rPr>
                <a:t>Join a Taxi Stand Q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19" name="组合 18"/>
            <p:cNvGrpSpPr/>
            <p:nvPr/>
          </p:nvGrpSpPr>
          <p:grpSpPr>
            <a:xfrm flipH="1" flipV="1">
              <a:off x="571472" y="642918"/>
              <a:ext cx="142877" cy="141288"/>
              <a:chOff x="2786050" y="1071546"/>
              <a:chExt cx="142876" cy="144464"/>
            </a:xfrm>
          </p:grpSpPr>
          <p:cxnSp>
            <p:nvCxnSpPr>
              <p:cNvPr id="16" name="直接连接符 15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/>
          <p:cNvSpPr txBox="1"/>
          <p:nvPr/>
        </p:nvSpPr>
        <p:spPr>
          <a:xfrm>
            <a:off x="1643042" y="642918"/>
            <a:ext cx="15001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    MAP</a:t>
            </a:r>
            <a:r>
              <a:rPr lang="zh-CN" altLang="en-US" sz="1200" dirty="0" smtClean="0"/>
              <a:t>，如果该部分也被计入每日</a:t>
            </a:r>
            <a:r>
              <a:rPr lang="en-US" altLang="zh-CN" sz="1200" dirty="0" smtClean="0"/>
              <a:t>25000</a:t>
            </a:r>
            <a:r>
              <a:rPr lang="zh-CN" altLang="en-US" sz="1200" dirty="0" smtClean="0"/>
              <a:t>次谷歌</a:t>
            </a:r>
            <a:r>
              <a:rPr lang="en-US" altLang="zh-CN" sz="1200" dirty="0" smtClean="0"/>
              <a:t>map</a:t>
            </a:r>
            <a:r>
              <a:rPr lang="zh-CN" altLang="en-US" sz="1200" dirty="0" smtClean="0"/>
              <a:t>读取则不要显示，考虑其他方案</a:t>
            </a:r>
            <a:endParaRPr lang="zh-CN" altLang="en-US" sz="1200" dirty="0"/>
          </a:p>
        </p:txBody>
      </p:sp>
      <p:sp>
        <p:nvSpPr>
          <p:cNvPr id="22" name="圆角矩形标注 21"/>
          <p:cNvSpPr/>
          <p:nvPr/>
        </p:nvSpPr>
        <p:spPr>
          <a:xfrm>
            <a:off x="357158" y="428604"/>
            <a:ext cx="1143008" cy="571504"/>
          </a:xfrm>
          <a:prstGeom prst="wedgeRoundRectCallout">
            <a:avLst>
              <a:gd name="adj1" fmla="val 71700"/>
              <a:gd name="adj2" fmla="val -42032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solidFill>
                  <a:schemeClr val="tx1"/>
                </a:solidFill>
              </a:rPr>
              <a:t>此处为更多选项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圆角矩形标注 22"/>
          <p:cNvSpPr/>
          <p:nvPr/>
        </p:nvSpPr>
        <p:spPr>
          <a:xfrm>
            <a:off x="3428992" y="500042"/>
            <a:ext cx="2571768" cy="857256"/>
          </a:xfrm>
          <a:prstGeom prst="wedgeRoundRectCallout">
            <a:avLst>
              <a:gd name="adj1" fmla="val -82809"/>
              <a:gd name="adj2" fmla="val -52699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solidFill>
                  <a:schemeClr val="tx1"/>
                </a:solidFill>
              </a:rPr>
              <a:t>如果用户信用点数等于或低于</a:t>
            </a:r>
            <a:r>
              <a:rPr lang="en-US" altLang="zh-CN" sz="1200" dirty="0" smtClean="0">
                <a:solidFill>
                  <a:schemeClr val="tx1"/>
                </a:solidFill>
              </a:rPr>
              <a:t>2</a:t>
            </a:r>
            <a:r>
              <a:rPr lang="zh-CN" altLang="en-US" sz="1200" dirty="0" smtClean="0">
                <a:solidFill>
                  <a:schemeClr val="tx1"/>
                </a:solidFill>
              </a:rPr>
              <a:t>点，则显示滚动提示：“</a:t>
            </a:r>
            <a:r>
              <a:rPr lang="en-US" altLang="zh-CN" sz="1200" dirty="0" smtClean="0">
                <a:solidFill>
                  <a:schemeClr val="tx1"/>
                </a:solidFill>
              </a:rPr>
              <a:t>Credit balance low, buy credits now!” </a:t>
            </a:r>
            <a:r>
              <a:rPr lang="zh-CN" altLang="en-US" sz="1200" dirty="0" smtClean="0">
                <a:solidFill>
                  <a:schemeClr val="tx1"/>
                </a:solidFill>
              </a:rPr>
              <a:t>点击直接进入点数购买页面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24" name="组合 23"/>
          <p:cNvGrpSpPr/>
          <p:nvPr/>
        </p:nvGrpSpPr>
        <p:grpSpPr>
          <a:xfrm>
            <a:off x="3929058" y="2786058"/>
            <a:ext cx="1500198" cy="1857388"/>
            <a:chOff x="500034" y="571480"/>
            <a:chExt cx="1500198" cy="1857388"/>
          </a:xfrm>
        </p:grpSpPr>
        <p:sp>
          <p:nvSpPr>
            <p:cNvPr id="25" name="矩形 24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29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30" name="直接连接符 29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 30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31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TextBox 32"/>
          <p:cNvSpPr txBox="1"/>
          <p:nvPr/>
        </p:nvSpPr>
        <p:spPr>
          <a:xfrm>
            <a:off x="3929058" y="3071810"/>
            <a:ext cx="150019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 smtClean="0"/>
              <a:t>Are you with friends?</a:t>
            </a:r>
          </a:p>
          <a:p>
            <a:r>
              <a:rPr lang="en-US" altLang="zh-CN" sz="900" dirty="0" smtClean="0"/>
              <a:t>(</a:t>
            </a:r>
            <a:r>
              <a:rPr lang="zh-CN" altLang="en-US" sz="700" dirty="0" smtClean="0"/>
              <a:t>如果是大于</a:t>
            </a:r>
            <a:r>
              <a:rPr lang="en-US" altLang="zh-CN" sz="700" dirty="0" smtClean="0"/>
              <a:t>2</a:t>
            </a:r>
            <a:r>
              <a:rPr lang="zh-CN" altLang="en-US" sz="700" dirty="0" smtClean="0"/>
              <a:t>个人，选择性别）</a:t>
            </a:r>
            <a:endParaRPr lang="en-US" altLang="zh-CN" sz="900" dirty="0" smtClean="0"/>
          </a:p>
          <a:p>
            <a:r>
              <a:rPr lang="en-US" altLang="zh-CN" sz="900" dirty="0" smtClean="0"/>
              <a:t>Your destination</a:t>
            </a:r>
          </a:p>
          <a:p>
            <a:r>
              <a:rPr lang="en-US" altLang="zh-CN" sz="900" dirty="0" smtClean="0"/>
              <a:t>Color</a:t>
            </a:r>
            <a:r>
              <a:rPr lang="zh-CN" altLang="en-US" sz="900" dirty="0" smtClean="0"/>
              <a:t> </a:t>
            </a:r>
            <a:r>
              <a:rPr lang="en-US" altLang="zh-CN" sz="900" dirty="0" smtClean="0"/>
              <a:t>of your top</a:t>
            </a:r>
          </a:p>
          <a:p>
            <a:r>
              <a:rPr lang="en-US" altLang="zh-CN" sz="900" dirty="0" smtClean="0"/>
              <a:t>Other features   </a:t>
            </a:r>
          </a:p>
        </p:txBody>
      </p:sp>
      <p:sp>
        <p:nvSpPr>
          <p:cNvPr id="35" name="矩形 34"/>
          <p:cNvSpPr/>
          <p:nvPr/>
        </p:nvSpPr>
        <p:spPr>
          <a:xfrm>
            <a:off x="4786314" y="3357562"/>
            <a:ext cx="357190" cy="14287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/>
        </p:nvSpPr>
        <p:spPr>
          <a:xfrm>
            <a:off x="4922049" y="3789580"/>
            <a:ext cx="500066" cy="14287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000496" y="3857628"/>
            <a:ext cx="500066" cy="14287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/>
          <p:cNvGrpSpPr/>
          <p:nvPr/>
        </p:nvGrpSpPr>
        <p:grpSpPr>
          <a:xfrm>
            <a:off x="7286644" y="2786058"/>
            <a:ext cx="1500198" cy="1857388"/>
            <a:chOff x="500034" y="571480"/>
            <a:chExt cx="1500198" cy="1857388"/>
          </a:xfrm>
        </p:grpSpPr>
        <p:sp>
          <p:nvSpPr>
            <p:cNvPr id="40" name="矩形 39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43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44" name="直接连接符 43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 44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TextBox 46"/>
          <p:cNvSpPr txBox="1"/>
          <p:nvPr/>
        </p:nvSpPr>
        <p:spPr>
          <a:xfrm>
            <a:off x="7429520" y="3143248"/>
            <a:ext cx="1214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前面输入信息总结</a:t>
            </a:r>
            <a:endParaRPr lang="zh-CN" altLang="en-US" dirty="0"/>
          </a:p>
        </p:txBody>
      </p:sp>
      <p:sp>
        <p:nvSpPr>
          <p:cNvPr id="48" name="矩形 47"/>
          <p:cNvSpPr/>
          <p:nvPr/>
        </p:nvSpPr>
        <p:spPr>
          <a:xfrm>
            <a:off x="7286644" y="4143380"/>
            <a:ext cx="714380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Confirm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001024" y="4714884"/>
            <a:ext cx="1000132" cy="10156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popup</a:t>
            </a:r>
            <a:r>
              <a:rPr lang="zh-CN" altLang="en-US" sz="1200" dirty="0" smtClean="0"/>
              <a:t>告知已经排入队列，</a:t>
            </a:r>
            <a:r>
              <a:rPr lang="en-US" altLang="zh-CN" sz="1200" dirty="0" smtClean="0"/>
              <a:t>2</a:t>
            </a:r>
            <a:r>
              <a:rPr lang="zh-CN" altLang="en-US" sz="1200" dirty="0" smtClean="0"/>
              <a:t>秒淡化自动进入配对页面</a:t>
            </a:r>
            <a:endParaRPr lang="zh-CN" altLang="en-US" sz="1200" dirty="0"/>
          </a:p>
        </p:txBody>
      </p:sp>
      <p:grpSp>
        <p:nvGrpSpPr>
          <p:cNvPr id="116" name="组合 115"/>
          <p:cNvGrpSpPr/>
          <p:nvPr/>
        </p:nvGrpSpPr>
        <p:grpSpPr>
          <a:xfrm>
            <a:off x="6929454" y="428604"/>
            <a:ext cx="1500198" cy="1857388"/>
            <a:chOff x="500034" y="571480"/>
            <a:chExt cx="1500198" cy="1857388"/>
          </a:xfrm>
        </p:grpSpPr>
        <p:sp>
          <p:nvSpPr>
            <p:cNvPr id="117" name="矩形 116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矩形 117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119" name="矩形 118"/>
            <p:cNvSpPr/>
            <p:nvPr/>
          </p:nvSpPr>
          <p:spPr>
            <a:xfrm>
              <a:off x="500034" y="1928802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 smtClean="0">
                  <a:solidFill>
                    <a:schemeClr val="tx1"/>
                  </a:solidFill>
                </a:rPr>
                <a:t>Buy Credits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121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122" name="直接连接符 121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5" name="右箭头 124"/>
          <p:cNvSpPr/>
          <p:nvPr/>
        </p:nvSpPr>
        <p:spPr>
          <a:xfrm>
            <a:off x="3071802" y="2000240"/>
            <a:ext cx="3714776" cy="714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TextBox 125"/>
          <p:cNvSpPr txBox="1"/>
          <p:nvPr/>
        </p:nvSpPr>
        <p:spPr>
          <a:xfrm>
            <a:off x="7072330" y="785794"/>
            <a:ext cx="12144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如果用户信用点为</a:t>
            </a:r>
            <a:r>
              <a:rPr lang="en-US" altLang="zh-CN" sz="1200" dirty="0" smtClean="0"/>
              <a:t>0</a:t>
            </a:r>
            <a:r>
              <a:rPr lang="zh-CN" altLang="en-US" sz="1200" dirty="0" smtClean="0"/>
              <a:t>，则显示该页面：</a:t>
            </a:r>
            <a:r>
              <a:rPr lang="en-US" altLang="zh-CN" sz="1200" dirty="0" smtClean="0"/>
              <a:t>Oops, you credit balance is 0</a:t>
            </a:r>
            <a:endParaRPr lang="zh-CN" altLang="en-US" sz="1200" dirty="0"/>
          </a:p>
        </p:txBody>
      </p:sp>
      <p:sp>
        <p:nvSpPr>
          <p:cNvPr id="127" name="下弧形箭头 126"/>
          <p:cNvSpPr/>
          <p:nvPr/>
        </p:nvSpPr>
        <p:spPr>
          <a:xfrm>
            <a:off x="5286380" y="4214818"/>
            <a:ext cx="2286016" cy="571504"/>
          </a:xfrm>
          <a:prstGeom prst="curvedUpArrow">
            <a:avLst>
              <a:gd name="adj1" fmla="val 16365"/>
              <a:gd name="adj2" fmla="val 57690"/>
              <a:gd name="adj3" fmla="val 26905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643570" y="2786058"/>
            <a:ext cx="1500198" cy="18573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右箭头 137"/>
          <p:cNvSpPr/>
          <p:nvPr/>
        </p:nvSpPr>
        <p:spPr>
          <a:xfrm>
            <a:off x="5000628" y="3357562"/>
            <a:ext cx="714380" cy="142876"/>
          </a:xfrm>
          <a:prstGeom prst="rightArrow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/>
          <p:cNvSpPr/>
          <p:nvPr/>
        </p:nvSpPr>
        <p:spPr>
          <a:xfrm>
            <a:off x="5643570" y="2786058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solidFill>
                  <a:schemeClr val="tx1"/>
                </a:solidFill>
              </a:rPr>
              <a:t>输入框（</a:t>
            </a:r>
            <a:r>
              <a:rPr lang="en-US" altLang="zh-CN" sz="1200" dirty="0" err="1" smtClean="0">
                <a:solidFill>
                  <a:schemeClr val="tx1"/>
                </a:solidFill>
              </a:rPr>
              <a:t>Lyft</a:t>
            </a:r>
            <a:r>
              <a:rPr lang="zh-CN" altLang="en-US" sz="1200" dirty="0" smtClean="0">
                <a:solidFill>
                  <a:schemeClr val="tx1"/>
                </a:solidFill>
              </a:rPr>
              <a:t>界面）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5643570" y="3143248"/>
            <a:ext cx="15001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即时提示输入匹配地点列表，用户点击即为选择退回上一界面</a:t>
            </a:r>
            <a:endParaRPr lang="zh-CN" altLang="en-US" sz="1200" dirty="0"/>
          </a:p>
        </p:txBody>
      </p:sp>
      <p:sp>
        <p:nvSpPr>
          <p:cNvPr id="142" name="矩形 141"/>
          <p:cNvSpPr/>
          <p:nvPr/>
        </p:nvSpPr>
        <p:spPr>
          <a:xfrm>
            <a:off x="3929058" y="4143380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Join the Q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1643042" y="1643050"/>
            <a:ext cx="1000132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 smtClean="0">
                <a:solidFill>
                  <a:schemeClr val="tx1"/>
                </a:solidFill>
              </a:rPr>
              <a:t>显示</a:t>
            </a:r>
            <a:r>
              <a:rPr lang="en-US" altLang="zh-CN" sz="900" dirty="0" smtClean="0">
                <a:solidFill>
                  <a:schemeClr val="tx1"/>
                </a:solidFill>
              </a:rPr>
              <a:t>GPS</a:t>
            </a:r>
            <a:r>
              <a:rPr lang="zh-CN" altLang="en-US" sz="900" dirty="0" smtClean="0">
                <a:solidFill>
                  <a:schemeClr val="tx1"/>
                </a:solidFill>
              </a:rPr>
              <a:t>所对应的最近出租车站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47" name="矩形 146"/>
          <p:cNvSpPr/>
          <p:nvPr/>
        </p:nvSpPr>
        <p:spPr>
          <a:xfrm>
            <a:off x="2643174" y="1643050"/>
            <a:ext cx="500066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 smtClean="0">
                <a:solidFill>
                  <a:schemeClr val="tx1"/>
                </a:solidFill>
              </a:rPr>
              <a:t>Change</a:t>
            </a:r>
            <a:endParaRPr lang="zh-CN" altLang="en-US" sz="800" dirty="0">
              <a:solidFill>
                <a:schemeClr val="tx1"/>
              </a:solidFill>
            </a:endParaRPr>
          </a:p>
        </p:txBody>
      </p:sp>
      <p:sp>
        <p:nvSpPr>
          <p:cNvPr id="156" name="圆角矩形 155"/>
          <p:cNvSpPr/>
          <p:nvPr/>
        </p:nvSpPr>
        <p:spPr>
          <a:xfrm>
            <a:off x="6715140" y="285728"/>
            <a:ext cx="1928826" cy="2071702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/>
          <p:cNvSpPr/>
          <p:nvPr/>
        </p:nvSpPr>
        <p:spPr>
          <a:xfrm>
            <a:off x="285720" y="2786058"/>
            <a:ext cx="1500198" cy="18573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/>
          <p:cNvSpPr/>
          <p:nvPr/>
        </p:nvSpPr>
        <p:spPr>
          <a:xfrm>
            <a:off x="285720" y="2786058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solidFill>
                  <a:schemeClr val="tx1"/>
                </a:solidFill>
              </a:rPr>
              <a:t>输入框（</a:t>
            </a:r>
            <a:r>
              <a:rPr lang="en-US" altLang="zh-CN" sz="1200" dirty="0" err="1" smtClean="0">
                <a:solidFill>
                  <a:schemeClr val="tx1"/>
                </a:solidFill>
              </a:rPr>
              <a:t>Lyft</a:t>
            </a:r>
            <a:r>
              <a:rPr lang="zh-CN" altLang="en-US" sz="1200" dirty="0" smtClean="0">
                <a:solidFill>
                  <a:schemeClr val="tx1"/>
                </a:solidFill>
              </a:rPr>
              <a:t>界面）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285720" y="3071810"/>
            <a:ext cx="15001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即时提示输入匹配出租车站列表，用户点击某一提示即为选择退回上一界面</a:t>
            </a:r>
            <a:endParaRPr lang="zh-CN" altLang="en-US" sz="1200" dirty="0"/>
          </a:p>
        </p:txBody>
      </p:sp>
      <p:sp>
        <p:nvSpPr>
          <p:cNvPr id="136" name="矩形 135"/>
          <p:cNvSpPr/>
          <p:nvPr/>
        </p:nvSpPr>
        <p:spPr>
          <a:xfrm>
            <a:off x="285720" y="4214818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>
                <a:solidFill>
                  <a:schemeClr val="tx1"/>
                </a:solidFill>
              </a:rPr>
              <a:t>Can’t find? Report a new taxi stand?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2143108" y="2786058"/>
            <a:ext cx="1500198" cy="18573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右箭头 166"/>
          <p:cNvSpPr/>
          <p:nvPr/>
        </p:nvSpPr>
        <p:spPr>
          <a:xfrm>
            <a:off x="1785918" y="4286256"/>
            <a:ext cx="428628" cy="71438"/>
          </a:xfrm>
          <a:prstGeom prst="rightArrow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TextBox 167"/>
          <p:cNvSpPr txBox="1"/>
          <p:nvPr/>
        </p:nvSpPr>
        <p:spPr>
          <a:xfrm>
            <a:off x="2143108" y="2857496"/>
            <a:ext cx="150019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/>
              <a:t>Thank you! We have recorded the coordinates of the taxi stand you have proposed and will add in after verifying.</a:t>
            </a:r>
            <a:endParaRPr lang="zh-CN" altLang="en-US" sz="1100" dirty="0"/>
          </a:p>
        </p:txBody>
      </p:sp>
      <p:sp>
        <p:nvSpPr>
          <p:cNvPr id="169" name="矩形 168"/>
          <p:cNvSpPr/>
          <p:nvPr/>
        </p:nvSpPr>
        <p:spPr>
          <a:xfrm>
            <a:off x="2143108" y="4143380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>
                <a:solidFill>
                  <a:schemeClr val="tx1"/>
                </a:solidFill>
              </a:rPr>
              <a:t>Thank you!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70" name="圆角矩形 169"/>
          <p:cNvSpPr/>
          <p:nvPr/>
        </p:nvSpPr>
        <p:spPr>
          <a:xfrm>
            <a:off x="0" y="2357430"/>
            <a:ext cx="3857620" cy="2357454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TextBox 171"/>
          <p:cNvSpPr txBox="1"/>
          <p:nvPr/>
        </p:nvSpPr>
        <p:spPr>
          <a:xfrm>
            <a:off x="285720" y="2428868"/>
            <a:ext cx="34290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如果显示对应车站不正确，用户可手动搜索更改</a:t>
            </a:r>
            <a:endParaRPr lang="zh-CN" altLang="en-US" sz="1200" dirty="0"/>
          </a:p>
        </p:txBody>
      </p:sp>
      <p:cxnSp>
        <p:nvCxnSpPr>
          <p:cNvPr id="174" name="形状 173"/>
          <p:cNvCxnSpPr>
            <a:stCxn id="147" idx="3"/>
            <a:endCxn id="172" idx="1"/>
          </p:cNvCxnSpPr>
          <p:nvPr/>
        </p:nvCxnSpPr>
        <p:spPr>
          <a:xfrm flipH="1">
            <a:off x="285720" y="1785926"/>
            <a:ext cx="2857520" cy="781442"/>
          </a:xfrm>
          <a:prstGeom prst="bentConnector5">
            <a:avLst>
              <a:gd name="adj1" fmla="val -8000"/>
              <a:gd name="adj2" fmla="val 50280"/>
              <a:gd name="adj3" fmla="val 108000"/>
            </a:avLst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矩形 174"/>
          <p:cNvSpPr/>
          <p:nvPr/>
        </p:nvSpPr>
        <p:spPr>
          <a:xfrm>
            <a:off x="8072462" y="4143380"/>
            <a:ext cx="714380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Amend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77" name="形状 176"/>
          <p:cNvCxnSpPr>
            <a:stCxn id="48" idx="2"/>
            <a:endCxn id="57" idx="1"/>
          </p:cNvCxnSpPr>
          <p:nvPr/>
        </p:nvCxnSpPr>
        <p:spPr>
          <a:xfrm rot="16200000" flipH="1">
            <a:off x="7425637" y="4647329"/>
            <a:ext cx="793584" cy="357190"/>
          </a:xfrm>
          <a:prstGeom prst="bentConnector2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/>
          <p:cNvSpPr txBox="1"/>
          <p:nvPr/>
        </p:nvSpPr>
        <p:spPr>
          <a:xfrm>
            <a:off x="3214678" y="4714884"/>
            <a:ext cx="1000132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回到主界面</a:t>
            </a:r>
            <a:endParaRPr lang="zh-CN" altLang="en-US" sz="1200" dirty="0"/>
          </a:p>
        </p:txBody>
      </p:sp>
      <p:cxnSp>
        <p:nvCxnSpPr>
          <p:cNvPr id="179" name="形状 178"/>
          <p:cNvCxnSpPr>
            <a:endCxn id="178" idx="1"/>
          </p:cNvCxnSpPr>
          <p:nvPr/>
        </p:nvCxnSpPr>
        <p:spPr>
          <a:xfrm rot="16200000" flipH="1">
            <a:off x="2823957" y="4462663"/>
            <a:ext cx="424252" cy="357190"/>
          </a:xfrm>
          <a:prstGeom prst="bentConnector2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Documents and Settings\LC\Local Settings\Temporary Internet Files\Content.IE5\A2AI3MUO\MC900442124[1]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4635" y="314313"/>
            <a:ext cx="328605" cy="328605"/>
          </a:xfrm>
          <a:prstGeom prst="rect">
            <a:avLst/>
          </a:prstGeom>
          <a:noFill/>
        </p:spPr>
      </p:pic>
      <p:cxnSp>
        <p:nvCxnSpPr>
          <p:cNvPr id="181" name="肘形连接符 180"/>
          <p:cNvCxnSpPr>
            <a:stCxn id="156" idx="2"/>
            <a:endCxn id="26" idx="0"/>
          </p:cNvCxnSpPr>
          <p:nvPr/>
        </p:nvCxnSpPr>
        <p:spPr>
          <a:xfrm rot="5400000">
            <a:off x="5965041" y="1071546"/>
            <a:ext cx="428628" cy="300039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14282" y="2437621"/>
            <a:ext cx="8072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“</a:t>
            </a:r>
            <a:r>
              <a:rPr lang="en-US" altLang="zh-CN" sz="1200" dirty="0" smtClean="0"/>
              <a:t>I am the next</a:t>
            </a:r>
            <a:r>
              <a:rPr lang="zh-CN" altLang="en-US" sz="1200" dirty="0" smtClean="0"/>
              <a:t>”按下后</a:t>
            </a:r>
            <a:r>
              <a:rPr lang="en-US" altLang="zh-CN" sz="1200" dirty="0" smtClean="0"/>
              <a:t>popup</a:t>
            </a:r>
            <a:r>
              <a:rPr lang="zh-CN" altLang="en-US" sz="1200" dirty="0" smtClean="0"/>
              <a:t>显示一下界面（先下车和后下车用户显示内容不同）</a:t>
            </a:r>
            <a:endParaRPr lang="zh-CN" altLang="en-US" sz="1200" dirty="0"/>
          </a:p>
        </p:txBody>
      </p:sp>
      <p:sp>
        <p:nvSpPr>
          <p:cNvPr id="14" name="矩形 13"/>
          <p:cNvSpPr/>
          <p:nvPr/>
        </p:nvSpPr>
        <p:spPr>
          <a:xfrm>
            <a:off x="285720" y="4071942"/>
            <a:ext cx="1500198" cy="214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 smtClean="0">
                <a:solidFill>
                  <a:schemeClr val="tx1"/>
                </a:solidFill>
              </a:rPr>
              <a:t>Understand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5720" y="2928934"/>
            <a:ext cx="15001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 smtClean="0"/>
              <a:t>Welcome Aboard!</a:t>
            </a:r>
          </a:p>
          <a:p>
            <a:r>
              <a:rPr lang="en-US" altLang="zh-CN" sz="1000" dirty="0" smtClean="0"/>
              <a:t>We will reach your destination first. At the time of lighting, please pay xxx half of the amount on the taxi meter.</a:t>
            </a:r>
            <a:endParaRPr lang="zh-CN" altLang="en-US" sz="1000" dirty="0"/>
          </a:p>
        </p:txBody>
      </p:sp>
      <p:sp>
        <p:nvSpPr>
          <p:cNvPr id="24" name="矩形 23"/>
          <p:cNvSpPr/>
          <p:nvPr/>
        </p:nvSpPr>
        <p:spPr>
          <a:xfrm>
            <a:off x="2000232" y="4071942"/>
            <a:ext cx="1500198" cy="214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 smtClean="0">
                <a:solidFill>
                  <a:schemeClr val="tx1"/>
                </a:solidFill>
              </a:rPr>
              <a:t>Understand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000232" y="2928934"/>
            <a:ext cx="15001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 smtClean="0"/>
              <a:t>Welcome Aboard!</a:t>
            </a:r>
          </a:p>
          <a:p>
            <a:r>
              <a:rPr lang="en-US" altLang="zh-CN" sz="800" dirty="0" smtClean="0"/>
              <a:t>We will drop off xxx first and continue driving towards your destination. Please collect half of the amount on the taxi meter from xxx when he alights  and </a:t>
            </a:r>
            <a:r>
              <a:rPr lang="en-US" altLang="zh-CN" sz="800" dirty="0" err="1" smtClean="0"/>
              <a:t>payt</a:t>
            </a:r>
            <a:r>
              <a:rPr lang="en-US" altLang="zh-CN" sz="800" dirty="0" smtClean="0"/>
              <a:t> he driver the final fare.</a:t>
            </a:r>
            <a:endParaRPr lang="zh-CN" altLang="en-US" sz="800" dirty="0"/>
          </a:p>
        </p:txBody>
      </p:sp>
      <p:sp>
        <p:nvSpPr>
          <p:cNvPr id="26" name="右箭头 25"/>
          <p:cNvSpPr/>
          <p:nvPr/>
        </p:nvSpPr>
        <p:spPr>
          <a:xfrm>
            <a:off x="3500430" y="3500438"/>
            <a:ext cx="785818" cy="14287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4357686" y="3143248"/>
            <a:ext cx="1143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smtClean="0"/>
              <a:t>popup</a:t>
            </a:r>
            <a:r>
              <a:rPr lang="zh-CN" altLang="en-US" sz="1400" dirty="0" smtClean="0"/>
              <a:t>“</a:t>
            </a:r>
            <a:r>
              <a:rPr lang="en-US" altLang="zh-CN" sz="1400" dirty="0" smtClean="0"/>
              <a:t>Enjoy the Ride”</a:t>
            </a:r>
            <a:r>
              <a:rPr lang="zh-CN" altLang="en-US" sz="1400" dirty="0" smtClean="0"/>
              <a:t>，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秒后淡化回到主界面</a:t>
            </a:r>
            <a:endParaRPr lang="zh-CN" altLang="en-US" sz="1400" dirty="0"/>
          </a:p>
        </p:txBody>
      </p:sp>
      <p:sp>
        <p:nvSpPr>
          <p:cNvPr id="29" name="矩形 28"/>
          <p:cNvSpPr/>
          <p:nvPr/>
        </p:nvSpPr>
        <p:spPr>
          <a:xfrm>
            <a:off x="214282" y="4714884"/>
            <a:ext cx="8715436" cy="19288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1200" dirty="0" smtClean="0">
                <a:solidFill>
                  <a:schemeClr val="tx1"/>
                </a:solidFill>
              </a:rPr>
              <a:t>新加坡出租车计费标准：</a:t>
            </a:r>
            <a:r>
              <a:rPr lang="zh-CN" altLang="en-US" sz="1200" dirty="0" smtClean="0">
                <a:solidFill>
                  <a:srgbClr val="FF0000"/>
                </a:solidFill>
              </a:rPr>
              <a:t>（红色标注的计费时不用考虑）</a:t>
            </a:r>
            <a:endParaRPr lang="en-US" altLang="zh-CN" sz="1200" dirty="0" smtClean="0">
              <a:solidFill>
                <a:srgbClr val="FF0000"/>
              </a:solidFill>
            </a:endParaRP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一公里以内起步费：</a:t>
            </a:r>
            <a:r>
              <a:rPr lang="en-US" altLang="zh-CN" sz="1200" dirty="0" smtClean="0">
                <a:solidFill>
                  <a:schemeClr val="tx1"/>
                </a:solidFill>
              </a:rPr>
              <a:t>S$3.00</a:t>
            </a: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一公里以上十公里以内，每</a:t>
            </a:r>
            <a:r>
              <a:rPr lang="en-US" altLang="zh-CN" sz="1200" dirty="0" smtClean="0">
                <a:solidFill>
                  <a:schemeClr val="tx1"/>
                </a:solidFill>
              </a:rPr>
              <a:t>400</a:t>
            </a:r>
            <a:r>
              <a:rPr lang="zh-CN" altLang="en-US" sz="1200" dirty="0" smtClean="0">
                <a:solidFill>
                  <a:schemeClr val="tx1"/>
                </a:solidFill>
              </a:rPr>
              <a:t>米：</a:t>
            </a:r>
            <a:r>
              <a:rPr lang="en-US" altLang="zh-CN" sz="1200" dirty="0" smtClean="0">
                <a:solidFill>
                  <a:schemeClr val="tx1"/>
                </a:solidFill>
              </a:rPr>
              <a:t>S$0.22</a:t>
            </a: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十公里以上每</a:t>
            </a:r>
            <a:r>
              <a:rPr lang="en-US" altLang="zh-CN" sz="1200" dirty="0" smtClean="0">
                <a:solidFill>
                  <a:schemeClr val="tx1"/>
                </a:solidFill>
              </a:rPr>
              <a:t>350</a:t>
            </a:r>
            <a:r>
              <a:rPr lang="zh-CN" altLang="en-US" sz="1200" dirty="0" smtClean="0">
                <a:solidFill>
                  <a:schemeClr val="tx1"/>
                </a:solidFill>
              </a:rPr>
              <a:t>米：</a:t>
            </a:r>
            <a:r>
              <a:rPr lang="en-US" altLang="zh-CN" sz="1200" dirty="0" smtClean="0">
                <a:solidFill>
                  <a:schemeClr val="tx1"/>
                </a:solidFill>
              </a:rPr>
              <a:t>S$0.22</a:t>
            </a:r>
          </a:p>
          <a:p>
            <a:r>
              <a:rPr lang="zh-CN" altLang="en-US" sz="1200" dirty="0" smtClean="0">
                <a:solidFill>
                  <a:srgbClr val="FF0000"/>
                </a:solidFill>
              </a:rPr>
              <a:t>每</a:t>
            </a:r>
            <a:r>
              <a:rPr lang="en-US" altLang="zh-CN" sz="1200" dirty="0" smtClean="0">
                <a:solidFill>
                  <a:srgbClr val="FF0000"/>
                </a:solidFill>
              </a:rPr>
              <a:t>45</a:t>
            </a:r>
            <a:r>
              <a:rPr lang="zh-CN" altLang="en-US" sz="1200" dirty="0" smtClean="0">
                <a:solidFill>
                  <a:srgbClr val="FF0000"/>
                </a:solidFill>
              </a:rPr>
              <a:t>秒等待：</a:t>
            </a:r>
            <a:r>
              <a:rPr lang="en-US" altLang="zh-CN" sz="1200" dirty="0" smtClean="0">
                <a:solidFill>
                  <a:srgbClr val="FF0000"/>
                </a:solidFill>
              </a:rPr>
              <a:t>S$0.22</a:t>
            </a:r>
          </a:p>
          <a:p>
            <a:endParaRPr lang="en-US" altLang="zh-CN" sz="1200" dirty="0" smtClean="0">
              <a:solidFill>
                <a:srgbClr val="FF0000"/>
              </a:solidFill>
            </a:endParaRP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高峰期及夜间额外附加费</a:t>
            </a:r>
            <a:r>
              <a:rPr lang="zh-CN" altLang="en-US" sz="1200" dirty="0" smtClean="0">
                <a:solidFill>
                  <a:schemeClr val="tx1"/>
                </a:solidFill>
                <a:sym typeface="Wingdings" pitchFamily="2" charset="2"/>
              </a:rPr>
              <a:t>： （以上车时间为准，我们考虑从按下“</a:t>
            </a:r>
            <a:r>
              <a:rPr lang="en-US" altLang="zh-CN" sz="1200" dirty="0" smtClean="0">
                <a:solidFill>
                  <a:schemeClr val="tx1"/>
                </a:solidFill>
                <a:sym typeface="Wingdings" pitchFamily="2" charset="2"/>
              </a:rPr>
              <a:t>I am the next</a:t>
            </a:r>
            <a:r>
              <a:rPr lang="zh-CN" altLang="en-US" sz="1200" dirty="0" smtClean="0">
                <a:solidFill>
                  <a:schemeClr val="tx1"/>
                </a:solidFill>
                <a:sym typeface="Wingdings" pitchFamily="2" charset="2"/>
              </a:rPr>
              <a:t>”算）</a:t>
            </a:r>
            <a:endParaRPr lang="en-US" altLang="zh-CN" sz="1200" dirty="0" smtClean="0">
              <a:solidFill>
                <a:schemeClr val="tx1"/>
              </a:solidFill>
            </a:endParaRP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周一到周五，上午</a:t>
            </a:r>
            <a:r>
              <a:rPr lang="en-US" altLang="zh-CN" sz="1200" dirty="0" smtClean="0">
                <a:solidFill>
                  <a:schemeClr val="tx1"/>
                </a:solidFill>
              </a:rPr>
              <a:t>6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30</a:t>
            </a:r>
            <a:r>
              <a:rPr lang="zh-CN" altLang="en-US" sz="1200" dirty="0" smtClean="0">
                <a:solidFill>
                  <a:schemeClr val="tx1"/>
                </a:solidFill>
              </a:rPr>
              <a:t>到</a:t>
            </a:r>
            <a:r>
              <a:rPr lang="en-US" altLang="zh-CN" sz="1200" dirty="0" smtClean="0">
                <a:solidFill>
                  <a:schemeClr val="tx1"/>
                </a:solidFill>
              </a:rPr>
              <a:t>9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30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25%</a:t>
            </a: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每天晚上</a:t>
            </a:r>
            <a:r>
              <a:rPr lang="en-US" altLang="zh-CN" sz="1200" dirty="0" smtClean="0">
                <a:solidFill>
                  <a:schemeClr val="tx1"/>
                </a:solidFill>
              </a:rPr>
              <a:t>6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00</a:t>
            </a:r>
            <a:r>
              <a:rPr lang="zh-CN" altLang="en-US" sz="1200" dirty="0" smtClean="0">
                <a:solidFill>
                  <a:schemeClr val="tx1"/>
                </a:solidFill>
              </a:rPr>
              <a:t>到</a:t>
            </a:r>
            <a:r>
              <a:rPr lang="en-US" altLang="zh-CN" sz="1200" dirty="0" smtClean="0">
                <a:solidFill>
                  <a:schemeClr val="tx1"/>
                </a:solidFill>
              </a:rPr>
              <a:t>12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00</a:t>
            </a:r>
            <a:r>
              <a:rPr lang="zh-CN" altLang="en-US" sz="1200" dirty="0" smtClean="0">
                <a:solidFill>
                  <a:schemeClr val="tx1"/>
                </a:solidFill>
              </a:rPr>
              <a:t>（凌晨）：</a:t>
            </a:r>
            <a:r>
              <a:rPr lang="en-US" altLang="zh-CN" sz="1200" dirty="0" smtClean="0">
                <a:solidFill>
                  <a:schemeClr val="tx1"/>
                </a:solidFill>
              </a:rPr>
              <a:t>25%</a:t>
            </a:r>
          </a:p>
          <a:p>
            <a:r>
              <a:rPr lang="zh-CN" altLang="en-US" sz="1200" dirty="0" smtClean="0">
                <a:solidFill>
                  <a:schemeClr val="tx1"/>
                </a:solidFill>
              </a:rPr>
              <a:t>每天晚上</a:t>
            </a:r>
            <a:r>
              <a:rPr lang="en-US" altLang="zh-CN" sz="1200" dirty="0" smtClean="0">
                <a:solidFill>
                  <a:schemeClr val="tx1"/>
                </a:solidFill>
              </a:rPr>
              <a:t>12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00</a:t>
            </a:r>
            <a:r>
              <a:rPr lang="zh-CN" altLang="en-US" sz="1200" dirty="0" smtClean="0">
                <a:solidFill>
                  <a:schemeClr val="tx1"/>
                </a:solidFill>
              </a:rPr>
              <a:t>（凌成）到第二天早上</a:t>
            </a:r>
            <a:r>
              <a:rPr lang="en-US" altLang="zh-CN" sz="1200" dirty="0" smtClean="0">
                <a:solidFill>
                  <a:schemeClr val="tx1"/>
                </a:solidFill>
              </a:rPr>
              <a:t>5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59</a:t>
            </a:r>
            <a:r>
              <a:rPr lang="zh-CN" altLang="en-US" sz="1200" dirty="0" smtClean="0">
                <a:solidFill>
                  <a:schemeClr val="tx1"/>
                </a:solidFill>
              </a:rPr>
              <a:t>：</a:t>
            </a:r>
            <a:r>
              <a:rPr lang="en-US" altLang="zh-CN" sz="1200" dirty="0" smtClean="0">
                <a:solidFill>
                  <a:schemeClr val="tx1"/>
                </a:solidFill>
              </a:rPr>
              <a:t>50%</a:t>
            </a:r>
          </a:p>
          <a:p>
            <a:endParaRPr lang="en-US" altLang="zh-CN" sz="1200" dirty="0" smtClean="0">
              <a:solidFill>
                <a:schemeClr val="tx1"/>
              </a:solidFill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5643570" y="2786058"/>
            <a:ext cx="1500198" cy="1857388"/>
            <a:chOff x="500034" y="571480"/>
            <a:chExt cx="1500198" cy="1857388"/>
          </a:xfrm>
        </p:grpSpPr>
        <p:sp>
          <p:nvSpPr>
            <p:cNvPr id="40" name="矩形 39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FF0000"/>
                </a:solidFill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rgbClr val="FF0000"/>
                  </a:solidFill>
                </a:rPr>
                <a:t>       Ride2gather  </a:t>
              </a:r>
              <a:endParaRPr lang="zh-CN" altLang="en-US" sz="1000" dirty="0">
                <a:solidFill>
                  <a:srgbClr val="FF0000"/>
                </a:solidFill>
              </a:endParaRPr>
            </a:p>
          </p:txBody>
        </p:sp>
        <p:grpSp>
          <p:nvGrpSpPr>
            <p:cNvPr id="43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44" name="直接连接符 43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 44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TextBox 46"/>
          <p:cNvSpPr txBox="1"/>
          <p:nvPr/>
        </p:nvSpPr>
        <p:spPr>
          <a:xfrm>
            <a:off x="5643570" y="3071810"/>
            <a:ext cx="14287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FF0000"/>
                </a:solidFill>
              </a:rPr>
              <a:t>一个小时后系统发出提示信息要求给予对方</a:t>
            </a:r>
            <a:r>
              <a:rPr lang="en-US" altLang="zh-CN" dirty="0" smtClean="0">
                <a:solidFill>
                  <a:srgbClr val="FF0000"/>
                </a:solidFill>
              </a:rPr>
              <a:t>rating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28596" y="-24"/>
            <a:ext cx="41434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4) </a:t>
            </a:r>
            <a:r>
              <a:rPr lang="zh-CN" altLang="en-US" sz="1200" dirty="0" smtClean="0"/>
              <a:t>配对页面（如果用户已加入队列，则直接显示配对页面）</a:t>
            </a:r>
            <a:endParaRPr lang="zh-CN" altLang="en-US" sz="1200" dirty="0"/>
          </a:p>
        </p:txBody>
      </p:sp>
      <p:grpSp>
        <p:nvGrpSpPr>
          <p:cNvPr id="34" name="组合 33"/>
          <p:cNvGrpSpPr/>
          <p:nvPr/>
        </p:nvGrpSpPr>
        <p:grpSpPr>
          <a:xfrm>
            <a:off x="1000100" y="357166"/>
            <a:ext cx="1500198" cy="1857388"/>
            <a:chOff x="500034" y="571480"/>
            <a:chExt cx="1500198" cy="1857388"/>
          </a:xfrm>
        </p:grpSpPr>
        <p:sp>
          <p:nvSpPr>
            <p:cNvPr id="35" name="矩形 34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37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38" name="直接连接符 37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连接符 41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矩形 48"/>
          <p:cNvSpPr/>
          <p:nvPr/>
        </p:nvSpPr>
        <p:spPr>
          <a:xfrm>
            <a:off x="1000100" y="1714488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Leave the Q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圆角矩形标注 49"/>
          <p:cNvSpPr/>
          <p:nvPr/>
        </p:nvSpPr>
        <p:spPr>
          <a:xfrm>
            <a:off x="-32" y="571480"/>
            <a:ext cx="857256" cy="1714512"/>
          </a:xfrm>
          <a:prstGeom prst="wedgeRoundRectCallout">
            <a:avLst>
              <a:gd name="adj1" fmla="val 93389"/>
              <a:gd name="adj2" fmla="val 631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 dirty="0" smtClean="0">
                <a:solidFill>
                  <a:schemeClr val="tx1"/>
                </a:solidFill>
              </a:rPr>
              <a:t>如果没有找到配对：</a:t>
            </a:r>
            <a:r>
              <a:rPr lang="en-US" altLang="zh-CN" sz="1050" dirty="0" smtClean="0">
                <a:solidFill>
                  <a:schemeClr val="tx1"/>
                </a:solidFill>
              </a:rPr>
              <a:t>Please be patient, we will let you know once a match is found.</a:t>
            </a:r>
            <a:endParaRPr lang="zh-CN" altLang="en-US" sz="1050" dirty="0">
              <a:solidFill>
                <a:schemeClr val="tx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71538" y="714356"/>
            <a:ext cx="135732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 smtClean="0"/>
              <a:t>Match found:</a:t>
            </a:r>
          </a:p>
          <a:p>
            <a:r>
              <a:rPr lang="zh-CN" altLang="en-US" sz="1000" dirty="0" smtClean="0"/>
              <a:t>对方的基本信息显示</a:t>
            </a:r>
            <a:endParaRPr lang="en-US" altLang="zh-CN" sz="1000" dirty="0" smtClean="0"/>
          </a:p>
          <a:p>
            <a:r>
              <a:rPr lang="zh-CN" altLang="en-US" sz="1000" dirty="0" smtClean="0"/>
              <a:t>。。。。。</a:t>
            </a:r>
            <a:endParaRPr lang="en-US" altLang="zh-CN" sz="1000" dirty="0" smtClean="0"/>
          </a:p>
          <a:p>
            <a:r>
              <a:rPr lang="zh-CN" altLang="en-US" sz="1000" dirty="0" smtClean="0"/>
              <a:t>。。。。。</a:t>
            </a:r>
            <a:endParaRPr lang="en-US" altLang="zh-CN" sz="1000" dirty="0" smtClean="0"/>
          </a:p>
          <a:p>
            <a:r>
              <a:rPr lang="en-US" altLang="zh-CN" sz="1000" dirty="0" smtClean="0"/>
              <a:t>Rating</a:t>
            </a:r>
            <a:endParaRPr lang="zh-CN" altLang="en-US" sz="1000" dirty="0"/>
          </a:p>
        </p:txBody>
      </p:sp>
      <p:sp>
        <p:nvSpPr>
          <p:cNvPr id="52" name="矩形 51"/>
          <p:cNvSpPr/>
          <p:nvPr/>
        </p:nvSpPr>
        <p:spPr>
          <a:xfrm>
            <a:off x="1714480" y="1142984"/>
            <a:ext cx="714380" cy="3571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>
                <a:solidFill>
                  <a:schemeClr val="tx1"/>
                </a:solidFill>
              </a:rPr>
              <a:t>View Route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2643174" y="357166"/>
            <a:ext cx="1500198" cy="1857388"/>
            <a:chOff x="500034" y="571480"/>
            <a:chExt cx="1500198" cy="1857388"/>
          </a:xfrm>
        </p:grpSpPr>
        <p:sp>
          <p:nvSpPr>
            <p:cNvPr id="54" name="矩形 53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56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57" name="直接连接符 56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接连接符 58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TextBox 59"/>
          <p:cNvSpPr txBox="1"/>
          <p:nvPr/>
        </p:nvSpPr>
        <p:spPr>
          <a:xfrm>
            <a:off x="2714612" y="642918"/>
            <a:ext cx="135732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路线图，大概节省费用。如果该用户第二个下车，告知大概延误时间（分钟）</a:t>
            </a:r>
            <a:endParaRPr lang="zh-CN" altLang="en-US" sz="1200" dirty="0"/>
          </a:p>
        </p:txBody>
      </p:sp>
      <p:sp>
        <p:nvSpPr>
          <p:cNvPr id="61" name="矩形 60"/>
          <p:cNvSpPr/>
          <p:nvPr/>
        </p:nvSpPr>
        <p:spPr>
          <a:xfrm>
            <a:off x="2643174" y="1643050"/>
            <a:ext cx="857256" cy="214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>
                <a:solidFill>
                  <a:schemeClr val="tx1"/>
                </a:solidFill>
              </a:rPr>
              <a:t>Agree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3500430" y="1643050"/>
            <a:ext cx="642942" cy="214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>
                <a:solidFill>
                  <a:schemeClr val="tx1"/>
                </a:solidFill>
              </a:rPr>
              <a:t>Reject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pSp>
        <p:nvGrpSpPr>
          <p:cNvPr id="63" name="组合 62"/>
          <p:cNvGrpSpPr/>
          <p:nvPr/>
        </p:nvGrpSpPr>
        <p:grpSpPr>
          <a:xfrm>
            <a:off x="6000760" y="357166"/>
            <a:ext cx="1500198" cy="1857388"/>
            <a:chOff x="500034" y="571480"/>
            <a:chExt cx="1500198" cy="1857388"/>
          </a:xfrm>
        </p:grpSpPr>
        <p:sp>
          <p:nvSpPr>
            <p:cNvPr id="64" name="矩形 63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66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67" name="直接连接符 66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接连接符 67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连接符 68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TextBox 69"/>
          <p:cNvSpPr txBox="1"/>
          <p:nvPr/>
        </p:nvSpPr>
        <p:spPr>
          <a:xfrm>
            <a:off x="6072198" y="616375"/>
            <a:ext cx="14287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 smtClean="0"/>
              <a:t>前端用户：显示：</a:t>
            </a:r>
            <a:r>
              <a:rPr lang="en-US" altLang="zh-CN" sz="1000" dirty="0" smtClean="0"/>
              <a:t>Waiting for the other party to accept</a:t>
            </a:r>
            <a:r>
              <a:rPr lang="zh-CN" altLang="en-US" sz="1000" dirty="0" smtClean="0"/>
              <a:t>，同时推送</a:t>
            </a:r>
            <a:r>
              <a:rPr lang="zh-CN" altLang="en-US" sz="1000" dirty="0" smtClean="0">
                <a:solidFill>
                  <a:srgbClr val="FF0000"/>
                </a:solidFill>
              </a:rPr>
              <a:t>配对页面一</a:t>
            </a:r>
            <a:r>
              <a:rPr lang="zh-CN" altLang="en-US" sz="1000" dirty="0" smtClean="0"/>
              <a:t>给后端用户</a:t>
            </a:r>
            <a:r>
              <a:rPr lang="en-US" altLang="zh-CN" sz="1000" dirty="0" smtClean="0"/>
              <a:t>; </a:t>
            </a:r>
            <a:r>
              <a:rPr lang="zh-CN" altLang="en-US" sz="1000" dirty="0" smtClean="0"/>
              <a:t>后端用户：显示成功配对，提供按钮查看更多对方信息。</a:t>
            </a:r>
            <a:endParaRPr lang="zh-CN" altLang="en-US" sz="1000" dirty="0"/>
          </a:p>
        </p:txBody>
      </p:sp>
      <p:sp>
        <p:nvSpPr>
          <p:cNvPr id="71" name="矩形 70"/>
          <p:cNvSpPr/>
          <p:nvPr/>
        </p:nvSpPr>
        <p:spPr>
          <a:xfrm>
            <a:off x="6000760" y="1785926"/>
            <a:ext cx="1500198" cy="214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 smtClean="0">
                <a:solidFill>
                  <a:schemeClr val="tx1"/>
                </a:solidFill>
              </a:rPr>
              <a:t>More about the other party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grpSp>
        <p:nvGrpSpPr>
          <p:cNvPr id="72" name="组合 71"/>
          <p:cNvGrpSpPr/>
          <p:nvPr/>
        </p:nvGrpSpPr>
        <p:grpSpPr>
          <a:xfrm>
            <a:off x="7572396" y="357166"/>
            <a:ext cx="1500198" cy="1857388"/>
            <a:chOff x="500034" y="571480"/>
            <a:chExt cx="1500198" cy="1857388"/>
          </a:xfrm>
        </p:grpSpPr>
        <p:sp>
          <p:nvSpPr>
            <p:cNvPr id="73" name="矩形 72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75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76" name="直接连接符 75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9" name="矩形 78"/>
          <p:cNvSpPr/>
          <p:nvPr/>
        </p:nvSpPr>
        <p:spPr>
          <a:xfrm>
            <a:off x="7572396" y="1785926"/>
            <a:ext cx="1500198" cy="214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 smtClean="0">
                <a:solidFill>
                  <a:schemeClr val="tx1"/>
                </a:solidFill>
              </a:rPr>
              <a:t>I am the next to board</a:t>
            </a:r>
            <a:endParaRPr lang="zh-CN" altLang="en-US" sz="900" dirty="0">
              <a:solidFill>
                <a:schemeClr val="tx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572396" y="642918"/>
            <a:ext cx="142876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dirty="0" smtClean="0"/>
              <a:t>对方详细信息</a:t>
            </a:r>
            <a:endParaRPr lang="en-US" altLang="zh-CN" sz="1000" dirty="0" smtClean="0"/>
          </a:p>
          <a:p>
            <a:r>
              <a:rPr lang="zh-CN" altLang="en-US" sz="1000" dirty="0" smtClean="0"/>
              <a:t>并系统分配配对编号</a:t>
            </a:r>
            <a:endParaRPr lang="en-US" altLang="zh-CN" sz="1000" dirty="0" smtClean="0"/>
          </a:p>
          <a:p>
            <a:endParaRPr lang="en-US" altLang="zh-CN" sz="1000" dirty="0" smtClean="0"/>
          </a:p>
          <a:p>
            <a:r>
              <a:rPr lang="zh-CN" altLang="en-US" sz="1000" dirty="0" smtClean="0"/>
              <a:t>前端用户给予以下按钮提示</a:t>
            </a:r>
            <a:endParaRPr lang="zh-CN" altLang="en-US" sz="1000" dirty="0"/>
          </a:p>
        </p:txBody>
      </p:sp>
      <p:grpSp>
        <p:nvGrpSpPr>
          <p:cNvPr id="81" name="组合 80"/>
          <p:cNvGrpSpPr/>
          <p:nvPr/>
        </p:nvGrpSpPr>
        <p:grpSpPr>
          <a:xfrm>
            <a:off x="4429124" y="357166"/>
            <a:ext cx="1500198" cy="1857388"/>
            <a:chOff x="500034" y="571480"/>
            <a:chExt cx="1500198" cy="1857388"/>
          </a:xfrm>
        </p:grpSpPr>
        <p:sp>
          <p:nvSpPr>
            <p:cNvPr id="82" name="矩形 81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 82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84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85" name="直接连接符 84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9" name="矩形 88"/>
          <p:cNvSpPr/>
          <p:nvPr/>
        </p:nvSpPr>
        <p:spPr>
          <a:xfrm>
            <a:off x="4429124" y="1714488"/>
            <a:ext cx="714380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Confirm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429124" y="642918"/>
            <a:ext cx="13573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 smtClean="0"/>
              <a:t>用户</a:t>
            </a:r>
            <a:r>
              <a:rPr lang="en-US" altLang="zh-CN" sz="1400" dirty="0" smtClean="0"/>
              <a:t>confirm</a:t>
            </a:r>
            <a:r>
              <a:rPr lang="zh-CN" altLang="en-US" sz="1400" dirty="0" smtClean="0"/>
              <a:t>选择</a:t>
            </a:r>
            <a:r>
              <a:rPr lang="en-US" altLang="zh-CN" sz="1400" dirty="0" smtClean="0"/>
              <a:t>-accept, reject, leave Q</a:t>
            </a:r>
            <a:endParaRPr lang="zh-CN" altLang="en-US" sz="1400" dirty="0"/>
          </a:p>
        </p:txBody>
      </p:sp>
      <p:sp>
        <p:nvSpPr>
          <p:cNvPr id="91" name="TextBox 90"/>
          <p:cNvSpPr txBox="1"/>
          <p:nvPr/>
        </p:nvSpPr>
        <p:spPr>
          <a:xfrm>
            <a:off x="1214414" y="2214554"/>
            <a:ext cx="12144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>
                <a:solidFill>
                  <a:srgbClr val="FF0000"/>
                </a:solidFill>
              </a:rPr>
              <a:t>（配对页面一）</a:t>
            </a:r>
            <a:endParaRPr lang="zh-CN" altLang="en-US" sz="1200" dirty="0">
              <a:solidFill>
                <a:srgbClr val="FF0000"/>
              </a:solidFill>
            </a:endParaRPr>
          </a:p>
        </p:txBody>
      </p:sp>
      <p:sp>
        <p:nvSpPr>
          <p:cNvPr id="92" name="右箭头 91"/>
          <p:cNvSpPr/>
          <p:nvPr/>
        </p:nvSpPr>
        <p:spPr>
          <a:xfrm>
            <a:off x="2428860" y="1285860"/>
            <a:ext cx="214314" cy="714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下弧形箭头 92"/>
          <p:cNvSpPr/>
          <p:nvPr/>
        </p:nvSpPr>
        <p:spPr>
          <a:xfrm>
            <a:off x="2357422" y="1928826"/>
            <a:ext cx="2500330" cy="714356"/>
          </a:xfrm>
          <a:prstGeom prst="curvedUp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95" name="形状 94"/>
          <p:cNvCxnSpPr>
            <a:stCxn id="62" idx="2"/>
            <a:endCxn id="91" idx="3"/>
          </p:cNvCxnSpPr>
          <p:nvPr/>
        </p:nvCxnSpPr>
        <p:spPr>
          <a:xfrm rot="5400000">
            <a:off x="2877536" y="1408689"/>
            <a:ext cx="495690" cy="1393041"/>
          </a:xfrm>
          <a:prstGeom prst="bentConnector2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/>
          <p:cNvSpPr/>
          <p:nvPr/>
        </p:nvSpPr>
        <p:spPr>
          <a:xfrm>
            <a:off x="5143504" y="1714488"/>
            <a:ext cx="78581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Return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5929322" y="0"/>
            <a:ext cx="3000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smtClean="0"/>
              <a:t>Accept</a:t>
            </a:r>
            <a:r>
              <a:rPr lang="zh-CN" altLang="en-US" sz="1400" dirty="0" smtClean="0"/>
              <a:t>后</a:t>
            </a:r>
            <a:endParaRPr lang="zh-CN" altLang="en-US" sz="1400" dirty="0"/>
          </a:p>
        </p:txBody>
      </p:sp>
      <p:cxnSp>
        <p:nvCxnSpPr>
          <p:cNvPr id="102" name="直接箭头连接符 101"/>
          <p:cNvCxnSpPr/>
          <p:nvPr/>
        </p:nvCxnSpPr>
        <p:spPr>
          <a:xfrm rot="5400000">
            <a:off x="8465371" y="2321711"/>
            <a:ext cx="642942" cy="1588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 102"/>
          <p:cNvSpPr/>
          <p:nvPr/>
        </p:nvSpPr>
        <p:spPr>
          <a:xfrm>
            <a:off x="8001024" y="2643182"/>
            <a:ext cx="1071570" cy="7858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solidFill>
                  <a:schemeClr val="tx1"/>
                </a:solidFill>
              </a:rPr>
              <a:t>后端用户手机声音及</a:t>
            </a:r>
            <a:r>
              <a:rPr lang="en-US" altLang="zh-CN" sz="1200" dirty="0" smtClean="0">
                <a:solidFill>
                  <a:schemeClr val="tx1"/>
                </a:solidFill>
              </a:rPr>
              <a:t>popup</a:t>
            </a:r>
            <a:r>
              <a:rPr lang="zh-CN" altLang="en-US" sz="1200" dirty="0" smtClean="0">
                <a:solidFill>
                  <a:schemeClr val="tx1"/>
                </a:solidFill>
              </a:rPr>
              <a:t>提示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04" name="直接箭头连接符 103"/>
          <p:cNvCxnSpPr/>
          <p:nvPr/>
        </p:nvCxnSpPr>
        <p:spPr>
          <a:xfrm rot="5400000">
            <a:off x="6572264" y="2143116"/>
            <a:ext cx="285752" cy="1588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矩形 104"/>
          <p:cNvSpPr/>
          <p:nvPr/>
        </p:nvSpPr>
        <p:spPr>
          <a:xfrm>
            <a:off x="6286512" y="2285992"/>
            <a:ext cx="1643074" cy="3571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solidFill>
                  <a:schemeClr val="tx1"/>
                </a:solidFill>
              </a:rPr>
              <a:t>双方均同意后扣</a:t>
            </a:r>
            <a:r>
              <a:rPr lang="en-US" altLang="zh-CN" sz="1200" dirty="0" smtClean="0">
                <a:solidFill>
                  <a:schemeClr val="tx1"/>
                </a:solidFill>
              </a:rPr>
              <a:t>1</a:t>
            </a:r>
            <a:r>
              <a:rPr lang="zh-CN" altLang="en-US" sz="1200" dirty="0" smtClean="0">
                <a:solidFill>
                  <a:schemeClr val="tx1"/>
                </a:solidFill>
              </a:rPr>
              <a:t>点数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pic>
        <p:nvPicPr>
          <p:cNvPr id="108" name="Picture 2" descr="C:\Documents and Settings\LC\Local Settings\Temporary Internet Files\Content.IE5\A2AI3MUO\MC900442124[1]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6578" y="2786058"/>
            <a:ext cx="328605" cy="32860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8596" y="71414"/>
            <a:ext cx="8358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5) </a:t>
            </a:r>
            <a:r>
              <a:rPr lang="zh-CN" altLang="en-US" sz="1200" dirty="0" smtClean="0"/>
              <a:t>更多选项页面（点击主页面左上角三横线，页面向右移动，露出更多选项首页面，</a:t>
            </a:r>
            <a:r>
              <a:rPr lang="zh-CN" altLang="en-US" sz="1200" b="1" dirty="0" smtClean="0">
                <a:solidFill>
                  <a:srgbClr val="FF0000"/>
                </a:solidFill>
              </a:rPr>
              <a:t>页面设计参考</a:t>
            </a:r>
            <a:r>
              <a:rPr lang="en-US" altLang="zh-CN" sz="1200" b="1" dirty="0" err="1" smtClean="0">
                <a:solidFill>
                  <a:srgbClr val="FF0000"/>
                </a:solidFill>
              </a:rPr>
              <a:t>Lyft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6" name="矩形 5"/>
          <p:cNvSpPr/>
          <p:nvPr/>
        </p:nvSpPr>
        <p:spPr>
          <a:xfrm>
            <a:off x="1071538" y="4714884"/>
            <a:ext cx="1500198" cy="18573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428596" y="4366447"/>
            <a:ext cx="8358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6) </a:t>
            </a:r>
            <a:r>
              <a:rPr lang="zh-CN" altLang="en-US" sz="1200" dirty="0" smtClean="0"/>
              <a:t>点数购买页面</a:t>
            </a:r>
            <a:endParaRPr lang="zh-CN" altLang="en-US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1142976" y="5795207"/>
            <a:ext cx="13573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种点数套餐选择</a:t>
            </a:r>
            <a:endParaRPr lang="en-US" altLang="zh-CN" sz="1200" dirty="0" smtClean="0"/>
          </a:p>
          <a:p>
            <a:endParaRPr lang="en-US" altLang="zh-CN" sz="1200" dirty="0" smtClean="0"/>
          </a:p>
          <a:p>
            <a:endParaRPr lang="zh-CN" altLang="en-US" sz="1200" dirty="0"/>
          </a:p>
        </p:txBody>
      </p:sp>
      <p:sp>
        <p:nvSpPr>
          <p:cNvPr id="16" name="矩形 15"/>
          <p:cNvSpPr/>
          <p:nvPr/>
        </p:nvSpPr>
        <p:spPr>
          <a:xfrm>
            <a:off x="1142976" y="4857760"/>
            <a:ext cx="1357322" cy="2857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smtClean="0"/>
              <a:t>Post a </a:t>
            </a:r>
            <a:r>
              <a:rPr lang="en-US" altLang="zh-CN" sz="1000" dirty="0" err="1" smtClean="0"/>
              <a:t>facebook</a:t>
            </a:r>
            <a:r>
              <a:rPr lang="en-US" altLang="zh-CN" sz="1000" dirty="0" smtClean="0"/>
              <a:t> to gain 1 credit</a:t>
            </a:r>
            <a:endParaRPr lang="zh-CN" altLang="en-US" sz="1000" dirty="0"/>
          </a:p>
        </p:txBody>
      </p:sp>
      <p:sp>
        <p:nvSpPr>
          <p:cNvPr id="17" name="圆角矩形标注 16"/>
          <p:cNvSpPr/>
          <p:nvPr/>
        </p:nvSpPr>
        <p:spPr>
          <a:xfrm>
            <a:off x="0" y="4714884"/>
            <a:ext cx="928662" cy="2143116"/>
          </a:xfrm>
          <a:prstGeom prst="wedgeRoundRectCallout">
            <a:avLst>
              <a:gd name="adj1" fmla="val 79268"/>
              <a:gd name="adj2" fmla="val -3201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solidFill>
                  <a:schemeClr val="tx1"/>
                </a:solidFill>
              </a:rPr>
              <a:t>内含即时功能，需距离上一次</a:t>
            </a:r>
            <a:r>
              <a:rPr lang="en-US" altLang="zh-CN" sz="1000" dirty="0" smtClean="0">
                <a:solidFill>
                  <a:schemeClr val="tx1"/>
                </a:solidFill>
              </a:rPr>
              <a:t>post</a:t>
            </a:r>
            <a:r>
              <a:rPr lang="zh-CN" altLang="en-US" sz="1000" dirty="0" smtClean="0">
                <a:solidFill>
                  <a:schemeClr val="tx1"/>
                </a:solidFill>
              </a:rPr>
              <a:t>至少</a:t>
            </a:r>
            <a:r>
              <a:rPr lang="en-US" altLang="zh-CN" sz="1000" dirty="0" smtClean="0">
                <a:solidFill>
                  <a:schemeClr val="tx1"/>
                </a:solidFill>
              </a:rPr>
              <a:t>168</a:t>
            </a:r>
            <a:r>
              <a:rPr lang="zh-CN" altLang="en-US" sz="1000" dirty="0" smtClean="0">
                <a:solidFill>
                  <a:schemeClr val="tx1"/>
                </a:solidFill>
              </a:rPr>
              <a:t>小时，否则该按钮显示灰色，且按钮上提示距下次时间。邀请朋友随时加入都可以加点数</a:t>
            </a:r>
            <a:endParaRPr lang="en-US" altLang="zh-CN" sz="1000" dirty="0" smtClean="0">
              <a:solidFill>
                <a:schemeClr val="tx1"/>
              </a:solidFill>
            </a:endParaRPr>
          </a:p>
        </p:txBody>
      </p:sp>
      <p:sp>
        <p:nvSpPr>
          <p:cNvPr id="18" name="右箭头 17"/>
          <p:cNvSpPr/>
          <p:nvPr/>
        </p:nvSpPr>
        <p:spPr>
          <a:xfrm>
            <a:off x="2500298" y="6000768"/>
            <a:ext cx="357190" cy="2143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3000364" y="5506066"/>
            <a:ext cx="1714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要求输入密码信息进行</a:t>
            </a:r>
            <a:r>
              <a:rPr lang="en-US" altLang="zh-CN" dirty="0" smtClean="0"/>
              <a:t>in-app purchase</a:t>
            </a:r>
            <a:endParaRPr lang="zh-CN" altLang="en-US" dirty="0"/>
          </a:p>
        </p:txBody>
      </p:sp>
      <p:sp>
        <p:nvSpPr>
          <p:cNvPr id="20" name="右箭头 19"/>
          <p:cNvSpPr/>
          <p:nvPr/>
        </p:nvSpPr>
        <p:spPr>
          <a:xfrm>
            <a:off x="4786314" y="5715016"/>
            <a:ext cx="428628" cy="2143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1" name="组合 20"/>
          <p:cNvGrpSpPr/>
          <p:nvPr/>
        </p:nvGrpSpPr>
        <p:grpSpPr>
          <a:xfrm>
            <a:off x="5357818" y="4786322"/>
            <a:ext cx="1500198" cy="1857388"/>
            <a:chOff x="500034" y="571480"/>
            <a:chExt cx="1500198" cy="1857388"/>
          </a:xfrm>
        </p:grpSpPr>
        <p:sp>
          <p:nvSpPr>
            <p:cNvPr id="22" name="矩形 21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Ride2gather  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26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27" name="直接连接符 26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" name="TextBox 29"/>
          <p:cNvSpPr txBox="1"/>
          <p:nvPr/>
        </p:nvSpPr>
        <p:spPr>
          <a:xfrm>
            <a:off x="5357818" y="5072074"/>
            <a:ext cx="150019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告知购买成功或免费获得</a:t>
            </a:r>
            <a:r>
              <a:rPr lang="en-US" altLang="zh-CN" sz="1600" dirty="0" smtClean="0"/>
              <a:t>1</a:t>
            </a:r>
            <a:r>
              <a:rPr lang="zh-CN" altLang="en-US" sz="1600" dirty="0" smtClean="0"/>
              <a:t>点，显示</a:t>
            </a:r>
            <a:r>
              <a:rPr lang="en-US" altLang="zh-CN" sz="1600" dirty="0" smtClean="0"/>
              <a:t>credit balance</a:t>
            </a:r>
            <a:endParaRPr lang="zh-CN" altLang="en-US" sz="1600" dirty="0"/>
          </a:p>
        </p:txBody>
      </p:sp>
      <p:sp>
        <p:nvSpPr>
          <p:cNvPr id="31" name="矩形 30"/>
          <p:cNvSpPr/>
          <p:nvPr/>
        </p:nvSpPr>
        <p:spPr>
          <a:xfrm>
            <a:off x="5357818" y="6143644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Start Saving More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2" name="右箭头 31"/>
          <p:cNvSpPr/>
          <p:nvPr/>
        </p:nvSpPr>
        <p:spPr>
          <a:xfrm>
            <a:off x="6858016" y="6215082"/>
            <a:ext cx="428628" cy="714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7358082" y="6060064"/>
            <a:ext cx="1428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回到主页面</a:t>
            </a:r>
            <a:endParaRPr lang="zh-CN" altLang="en-US" dirty="0"/>
          </a:p>
        </p:txBody>
      </p:sp>
      <p:sp>
        <p:nvSpPr>
          <p:cNvPr id="35" name="矩形 34"/>
          <p:cNvSpPr/>
          <p:nvPr/>
        </p:nvSpPr>
        <p:spPr>
          <a:xfrm>
            <a:off x="571472" y="428604"/>
            <a:ext cx="1500198" cy="18573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上弧形箭头 43"/>
          <p:cNvSpPr/>
          <p:nvPr/>
        </p:nvSpPr>
        <p:spPr>
          <a:xfrm>
            <a:off x="2500298" y="4500570"/>
            <a:ext cx="2928958" cy="71438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71472" y="500042"/>
            <a:ext cx="150019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 smtClean="0"/>
              <a:t>Return to Main</a:t>
            </a:r>
          </a:p>
          <a:p>
            <a:r>
              <a:rPr lang="en-US" altLang="zh-CN" sz="1000" dirty="0" smtClean="0"/>
              <a:t>Profile</a:t>
            </a:r>
          </a:p>
          <a:p>
            <a:r>
              <a:rPr lang="en-US" altLang="zh-CN" sz="1000" dirty="0" smtClean="0"/>
              <a:t>Credits</a:t>
            </a:r>
          </a:p>
          <a:p>
            <a:r>
              <a:rPr lang="en-US" altLang="zh-CN" sz="1000" dirty="0" smtClean="0">
                <a:solidFill>
                  <a:srgbClr val="FF0000"/>
                </a:solidFill>
              </a:rPr>
              <a:t>Tell a friend (SMS -</a:t>
            </a:r>
            <a:r>
              <a:rPr lang="en-US" altLang="zh-CN" sz="1000" b="1" dirty="0" err="1" smtClean="0">
                <a:solidFill>
                  <a:srgbClr val="FF0000"/>
                </a:solidFill>
              </a:rPr>
              <a:t>Lyft</a:t>
            </a:r>
            <a:r>
              <a:rPr lang="en-US" altLang="zh-CN" sz="1000" b="1" dirty="0" smtClean="0">
                <a:solidFill>
                  <a:srgbClr val="FF0000"/>
                </a:solidFill>
              </a:rPr>
              <a:t>)</a:t>
            </a:r>
            <a:endParaRPr lang="en-US" altLang="zh-CN" sz="1000" dirty="0" smtClean="0">
              <a:solidFill>
                <a:srgbClr val="FF0000"/>
              </a:solidFill>
            </a:endParaRPr>
          </a:p>
          <a:p>
            <a:r>
              <a:rPr lang="en-US" altLang="zh-CN" sz="1000" dirty="0" smtClean="0"/>
              <a:t>Sharing Criteria</a:t>
            </a:r>
          </a:p>
          <a:p>
            <a:r>
              <a:rPr lang="en-US" altLang="zh-CN" sz="1000" dirty="0" smtClean="0">
                <a:solidFill>
                  <a:srgbClr val="FF0000"/>
                </a:solidFill>
              </a:rPr>
              <a:t>History and Rating</a:t>
            </a:r>
          </a:p>
          <a:p>
            <a:r>
              <a:rPr lang="en-US" altLang="zh-CN" sz="1000" dirty="0" smtClean="0">
                <a:solidFill>
                  <a:srgbClr val="FF0000"/>
                </a:solidFill>
              </a:rPr>
              <a:t>Messages(2)</a:t>
            </a:r>
          </a:p>
          <a:p>
            <a:r>
              <a:rPr lang="en-US" altLang="zh-CN" sz="1000" dirty="0" smtClean="0">
                <a:solidFill>
                  <a:srgbClr val="FF0000"/>
                </a:solidFill>
              </a:rPr>
              <a:t>Help</a:t>
            </a:r>
          </a:p>
          <a:p>
            <a:endParaRPr lang="en-US" altLang="zh-CN" sz="1000" dirty="0" smtClean="0"/>
          </a:p>
          <a:p>
            <a:r>
              <a:rPr lang="zh-CN" altLang="en-US" sz="1000" dirty="0" smtClean="0">
                <a:solidFill>
                  <a:srgbClr val="FF0000"/>
                </a:solidFill>
              </a:rPr>
              <a:t>联系方式，网站等信息</a:t>
            </a:r>
            <a:endParaRPr lang="en-US" altLang="zh-CN" sz="1000" dirty="0" smtClean="0">
              <a:solidFill>
                <a:srgbClr val="FF0000"/>
              </a:solidFill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2214546" y="428604"/>
            <a:ext cx="1500198" cy="1857388"/>
            <a:chOff x="500034" y="571480"/>
            <a:chExt cx="1500198" cy="1857388"/>
          </a:xfrm>
        </p:grpSpPr>
        <p:sp>
          <p:nvSpPr>
            <p:cNvPr id="47" name="矩形 46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 47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 smtClean="0">
                  <a:solidFill>
                    <a:schemeClr val="tx1"/>
                  </a:solidFill>
                </a:rPr>
                <a:t>Profile </a:t>
              </a:r>
              <a:r>
                <a:rPr lang="en-US" altLang="zh-CN" sz="1000" b="1" dirty="0" smtClean="0">
                  <a:solidFill>
                    <a:srgbClr val="FF0000"/>
                  </a:solidFill>
                </a:rPr>
                <a:t>(</a:t>
              </a:r>
              <a:r>
                <a:rPr lang="en-US" altLang="zh-CN" sz="1000" b="1" dirty="0" err="1" smtClean="0">
                  <a:solidFill>
                    <a:srgbClr val="FF0000"/>
                  </a:solidFill>
                </a:rPr>
                <a:t>Lyft</a:t>
              </a:r>
              <a:r>
                <a:rPr lang="en-US" altLang="zh-CN" sz="1000" b="1" dirty="0" smtClean="0">
                  <a:solidFill>
                    <a:srgbClr val="FF0000"/>
                  </a:solidFill>
                </a:rPr>
                <a:t>)</a:t>
              </a:r>
              <a:endParaRPr lang="zh-CN" altLang="en-US" sz="10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2357422" y="785794"/>
            <a:ext cx="12144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>
                <a:solidFill>
                  <a:srgbClr val="FF0000"/>
                </a:solidFill>
              </a:rPr>
              <a:t>邮箱手机更新</a:t>
            </a:r>
            <a:endParaRPr lang="zh-CN" altLang="en-US" sz="1200" dirty="0">
              <a:solidFill>
                <a:srgbClr val="FF0000"/>
              </a:solidFill>
            </a:endParaRPr>
          </a:p>
        </p:txBody>
      </p:sp>
      <p:grpSp>
        <p:nvGrpSpPr>
          <p:cNvPr id="52" name="组合 51"/>
          <p:cNvGrpSpPr/>
          <p:nvPr/>
        </p:nvGrpSpPr>
        <p:grpSpPr>
          <a:xfrm>
            <a:off x="5500694" y="428604"/>
            <a:ext cx="1500198" cy="1857388"/>
            <a:chOff x="500034" y="571480"/>
            <a:chExt cx="1500198" cy="1857388"/>
          </a:xfrm>
        </p:grpSpPr>
        <p:sp>
          <p:nvSpPr>
            <p:cNvPr id="53" name="矩形 52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 smtClean="0">
                  <a:solidFill>
                    <a:schemeClr val="tx1"/>
                  </a:solidFill>
                </a:rPr>
                <a:t>Credits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5643570" y="714356"/>
            <a:ext cx="1143008" cy="117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You have xxx Credits.</a:t>
            </a:r>
          </a:p>
          <a:p>
            <a:r>
              <a:rPr lang="en-US" altLang="zh-CN" sz="1200" dirty="0" smtClean="0"/>
              <a:t>You have saved more than </a:t>
            </a:r>
            <a:r>
              <a:rPr lang="en-US" altLang="zh-CN" sz="1200" dirty="0" err="1" smtClean="0"/>
              <a:t>S$x</a:t>
            </a:r>
            <a:r>
              <a:rPr lang="en-US" altLang="zh-CN" sz="1200" dirty="0" smtClean="0"/>
              <a:t>.</a:t>
            </a:r>
          </a:p>
          <a:p>
            <a:endParaRPr lang="en-US" altLang="zh-CN" sz="1200" dirty="0" smtClean="0"/>
          </a:p>
          <a:p>
            <a:r>
              <a:rPr lang="en-US" altLang="zh-CN" sz="1050" dirty="0" smtClean="0"/>
              <a:t>Buy more credits</a:t>
            </a:r>
            <a:endParaRPr lang="zh-CN" altLang="en-US" sz="1050" dirty="0"/>
          </a:p>
        </p:txBody>
      </p:sp>
      <p:cxnSp>
        <p:nvCxnSpPr>
          <p:cNvPr id="59" name="直接箭头连接符 58"/>
          <p:cNvCxnSpPr/>
          <p:nvPr/>
        </p:nvCxnSpPr>
        <p:spPr>
          <a:xfrm rot="10800000" flipV="1">
            <a:off x="1821638" y="2000240"/>
            <a:ext cx="4107685" cy="2714644"/>
          </a:xfrm>
          <a:prstGeom prst="straightConnector1">
            <a:avLst/>
          </a:prstGeom>
          <a:ln w="53975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组合 64"/>
          <p:cNvGrpSpPr/>
          <p:nvPr/>
        </p:nvGrpSpPr>
        <p:grpSpPr>
          <a:xfrm>
            <a:off x="642910" y="2428868"/>
            <a:ext cx="1500198" cy="1857388"/>
            <a:chOff x="500034" y="571480"/>
            <a:chExt cx="1500198" cy="1857388"/>
          </a:xfrm>
        </p:grpSpPr>
        <p:sp>
          <p:nvSpPr>
            <p:cNvPr id="66" name="矩形 65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 smtClean="0">
                  <a:solidFill>
                    <a:schemeClr val="tx1"/>
                  </a:solidFill>
                </a:rPr>
                <a:t>History and Rating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矩形 77"/>
          <p:cNvSpPr/>
          <p:nvPr/>
        </p:nvSpPr>
        <p:spPr>
          <a:xfrm>
            <a:off x="5715008" y="1643050"/>
            <a:ext cx="1071570" cy="2857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79" name="TextBox 78"/>
          <p:cNvSpPr txBox="1"/>
          <p:nvPr/>
        </p:nvSpPr>
        <p:spPr>
          <a:xfrm>
            <a:off x="642910" y="2714620"/>
            <a:ext cx="150019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 smtClean="0"/>
              <a:t>显示成功拼车历史，格式为：</a:t>
            </a:r>
            <a:endParaRPr lang="en-US" altLang="zh-CN" sz="1100" dirty="0" smtClean="0"/>
          </a:p>
          <a:p>
            <a:r>
              <a:rPr lang="zh-CN" altLang="en-US" sz="1100" dirty="0" smtClean="0"/>
              <a:t>时间，起始目的地，大约节省费用及总计，按最近的开始排序</a:t>
            </a:r>
            <a:endParaRPr lang="zh-CN" altLang="en-US" sz="1100" dirty="0"/>
          </a:p>
        </p:txBody>
      </p:sp>
      <p:sp>
        <p:nvSpPr>
          <p:cNvPr id="91" name="TextBox 90"/>
          <p:cNvSpPr txBox="1"/>
          <p:nvPr/>
        </p:nvSpPr>
        <p:spPr>
          <a:xfrm>
            <a:off x="6929454" y="2428868"/>
            <a:ext cx="1857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如果用户余额等于低于</a:t>
            </a:r>
            <a:r>
              <a:rPr lang="en-US" altLang="zh-CN" sz="1200" dirty="0" smtClean="0"/>
              <a:t>2</a:t>
            </a:r>
            <a:r>
              <a:rPr lang="zh-CN" altLang="en-US" sz="1200" dirty="0" smtClean="0"/>
              <a:t>，进入该页面后自动</a:t>
            </a:r>
            <a:r>
              <a:rPr lang="en-US" altLang="zh-CN" sz="1200" dirty="0" smtClean="0"/>
              <a:t>popup</a:t>
            </a:r>
            <a:r>
              <a:rPr lang="zh-CN" altLang="en-US" sz="1200" dirty="0" smtClean="0"/>
              <a:t>提示</a:t>
            </a:r>
            <a:endParaRPr lang="en-US" altLang="zh-CN" sz="1200" dirty="0" smtClean="0"/>
          </a:p>
        </p:txBody>
      </p:sp>
      <p:sp>
        <p:nvSpPr>
          <p:cNvPr id="92" name="TextBox 91"/>
          <p:cNvSpPr txBox="1"/>
          <p:nvPr/>
        </p:nvSpPr>
        <p:spPr>
          <a:xfrm>
            <a:off x="7072330" y="3143248"/>
            <a:ext cx="15716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Your credit balance is low. Would you like to buy more credits and continue enjoying more savings?</a:t>
            </a:r>
            <a:endParaRPr lang="zh-CN" altLang="en-US" sz="1200" dirty="0"/>
          </a:p>
        </p:txBody>
      </p:sp>
      <p:cxnSp>
        <p:nvCxnSpPr>
          <p:cNvPr id="94" name="直接箭头连接符 93"/>
          <p:cNvCxnSpPr/>
          <p:nvPr/>
        </p:nvCxnSpPr>
        <p:spPr>
          <a:xfrm rot="10800000" flipV="1">
            <a:off x="1928794" y="4357694"/>
            <a:ext cx="5286414" cy="357190"/>
          </a:xfrm>
          <a:prstGeom prst="straightConnector1">
            <a:avLst/>
          </a:prstGeom>
          <a:ln w="53975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右弧形箭头 96"/>
          <p:cNvSpPr/>
          <p:nvPr/>
        </p:nvSpPr>
        <p:spPr>
          <a:xfrm>
            <a:off x="8501090" y="4357694"/>
            <a:ext cx="357190" cy="642942"/>
          </a:xfrm>
          <a:prstGeom prst="curvedLeftArrow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143900" y="5000636"/>
            <a:ext cx="1000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>
                <a:solidFill>
                  <a:srgbClr val="FF0000"/>
                </a:solidFill>
              </a:rPr>
              <a:t>回到</a:t>
            </a:r>
            <a:r>
              <a:rPr lang="en-US" altLang="zh-CN" sz="1200" dirty="0" smtClean="0">
                <a:solidFill>
                  <a:srgbClr val="FF0000"/>
                </a:solidFill>
              </a:rPr>
              <a:t>Credits</a:t>
            </a:r>
            <a:r>
              <a:rPr lang="zh-CN" altLang="en-US" sz="1200" dirty="0" smtClean="0">
                <a:solidFill>
                  <a:srgbClr val="FF0000"/>
                </a:solidFill>
              </a:rPr>
              <a:t>页面</a:t>
            </a:r>
            <a:endParaRPr lang="zh-CN" altLang="en-US" sz="1200" dirty="0">
              <a:solidFill>
                <a:srgbClr val="FF0000"/>
              </a:solidFill>
            </a:endParaRPr>
          </a:p>
        </p:txBody>
      </p:sp>
      <p:grpSp>
        <p:nvGrpSpPr>
          <p:cNvPr id="104" name="组合 103"/>
          <p:cNvGrpSpPr/>
          <p:nvPr/>
        </p:nvGrpSpPr>
        <p:grpSpPr>
          <a:xfrm>
            <a:off x="2357422" y="2428868"/>
            <a:ext cx="1500198" cy="1857388"/>
            <a:chOff x="500034" y="571480"/>
            <a:chExt cx="1500198" cy="1857388"/>
          </a:xfrm>
        </p:grpSpPr>
        <p:sp>
          <p:nvSpPr>
            <p:cNvPr id="105" name="矩形 104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" name="矩形 105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 smtClean="0">
                  <a:solidFill>
                    <a:schemeClr val="tx1"/>
                  </a:solidFill>
                </a:rPr>
                <a:t>Tell a Friend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9" name="TextBox 108"/>
          <p:cNvSpPr txBox="1"/>
          <p:nvPr/>
        </p:nvSpPr>
        <p:spPr>
          <a:xfrm>
            <a:off x="2357422" y="2714620"/>
            <a:ext cx="15001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 smtClean="0"/>
              <a:t>用户从手机通信录中查找号码，然后已平台短信形式发送给对方，具体短信内容后期提供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2357422" y="3786190"/>
            <a:ext cx="1500198" cy="2857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Send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11" name="右箭头 110"/>
          <p:cNvSpPr/>
          <p:nvPr/>
        </p:nvSpPr>
        <p:spPr>
          <a:xfrm>
            <a:off x="3714744" y="3857628"/>
            <a:ext cx="428628" cy="71438"/>
          </a:xfrm>
          <a:prstGeom prst="rightArrow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TextBox 111"/>
          <p:cNvSpPr txBox="1"/>
          <p:nvPr/>
        </p:nvSpPr>
        <p:spPr>
          <a:xfrm>
            <a:off x="4143372" y="3714752"/>
            <a:ext cx="114300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solidFill>
                  <a:srgbClr val="FF0000"/>
                </a:solidFill>
              </a:rPr>
              <a:t>popup</a:t>
            </a:r>
            <a:r>
              <a:rPr lang="zh-CN" altLang="en-US" sz="1100" dirty="0" smtClean="0">
                <a:solidFill>
                  <a:srgbClr val="FF0000"/>
                </a:solidFill>
              </a:rPr>
              <a:t>告知发送成功，自动回到</a:t>
            </a:r>
            <a:r>
              <a:rPr lang="en-US" altLang="zh-CN" sz="1100" dirty="0" smtClean="0">
                <a:solidFill>
                  <a:srgbClr val="FF0000"/>
                </a:solidFill>
              </a:rPr>
              <a:t>more </a:t>
            </a:r>
            <a:r>
              <a:rPr lang="zh-CN" altLang="en-US" sz="1100" dirty="0" smtClean="0">
                <a:solidFill>
                  <a:srgbClr val="FF0000"/>
                </a:solidFill>
              </a:rPr>
              <a:t>页面</a:t>
            </a:r>
            <a:endParaRPr lang="zh-CN" altLang="en-US" sz="1100" dirty="0">
              <a:solidFill>
                <a:srgbClr val="FF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42976" y="5286388"/>
            <a:ext cx="1357322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dirty="0" smtClean="0">
                <a:solidFill>
                  <a:srgbClr val="FF0000"/>
                </a:solidFill>
              </a:rPr>
              <a:t>Invite a friend to join (</a:t>
            </a:r>
            <a:r>
              <a:rPr lang="en-US" altLang="zh-CN" sz="1050" dirty="0" err="1" smtClean="0">
                <a:solidFill>
                  <a:srgbClr val="FF0000"/>
                </a:solidFill>
              </a:rPr>
              <a:t>facebook</a:t>
            </a:r>
            <a:r>
              <a:rPr lang="en-US" altLang="zh-CN" sz="1050" dirty="0" smtClean="0">
                <a:solidFill>
                  <a:srgbClr val="FF0000"/>
                </a:solidFill>
              </a:rPr>
              <a:t>) + 2 credits</a:t>
            </a:r>
            <a:endParaRPr lang="zh-CN" altLang="en-US" sz="1050" dirty="0">
              <a:solidFill>
                <a:srgbClr val="FF0000"/>
              </a:solidFill>
            </a:endParaRPr>
          </a:p>
        </p:txBody>
      </p:sp>
      <p:grpSp>
        <p:nvGrpSpPr>
          <p:cNvPr id="96" name="组合 95"/>
          <p:cNvGrpSpPr/>
          <p:nvPr/>
        </p:nvGrpSpPr>
        <p:grpSpPr>
          <a:xfrm>
            <a:off x="3857620" y="428604"/>
            <a:ext cx="1500198" cy="1857388"/>
            <a:chOff x="571472" y="2643182"/>
            <a:chExt cx="1500198" cy="1857388"/>
          </a:xfrm>
        </p:grpSpPr>
        <p:sp>
          <p:nvSpPr>
            <p:cNvPr id="99" name="矩形 98"/>
            <p:cNvSpPr/>
            <p:nvPr/>
          </p:nvSpPr>
          <p:spPr>
            <a:xfrm>
              <a:off x="571472" y="2643182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矩形 99"/>
            <p:cNvSpPr/>
            <p:nvPr/>
          </p:nvSpPr>
          <p:spPr>
            <a:xfrm>
              <a:off x="571472" y="2643182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 smtClean="0">
                  <a:solidFill>
                    <a:schemeClr val="tx1"/>
                  </a:solidFill>
                </a:rPr>
                <a:t>Sharing Criteria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571472" y="2928934"/>
              <a:ext cx="150019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" b="1" dirty="0" smtClean="0"/>
                <a:t>Share with</a:t>
              </a:r>
            </a:p>
            <a:p>
              <a:r>
                <a:rPr lang="en-US" altLang="zh-CN" sz="700" dirty="0" smtClean="0"/>
                <a:t>Individual</a:t>
              </a:r>
            </a:p>
            <a:p>
              <a:r>
                <a:rPr lang="en-US" altLang="zh-CN" sz="700" dirty="0" smtClean="0"/>
                <a:t>Same gender            Both</a:t>
              </a:r>
            </a:p>
            <a:p>
              <a:endParaRPr lang="en-US" altLang="zh-CN" sz="700" dirty="0" smtClean="0"/>
            </a:p>
            <a:p>
              <a:r>
                <a:rPr lang="en-US" altLang="zh-CN" sz="700" dirty="0" smtClean="0"/>
                <a:t>Group of people      Yes/No</a:t>
              </a:r>
            </a:p>
            <a:p>
              <a:r>
                <a:rPr lang="en-US" altLang="zh-CN" sz="700" dirty="0" smtClean="0"/>
                <a:t>Same gender           Mixed</a:t>
              </a:r>
            </a:p>
            <a:p>
              <a:r>
                <a:rPr lang="en-US" altLang="zh-CN" sz="700" dirty="0" smtClean="0"/>
                <a:t>Does not matter </a:t>
              </a:r>
            </a:p>
            <a:p>
              <a:endParaRPr lang="en-US" altLang="zh-CN" sz="700" dirty="0" smtClean="0"/>
            </a:p>
            <a:p>
              <a:r>
                <a:rPr lang="en-US" altLang="zh-CN" sz="700" dirty="0" smtClean="0"/>
                <a:t>Delay less than           </a:t>
              </a:r>
              <a:r>
                <a:rPr lang="en-US" altLang="zh-CN" sz="700" dirty="0" err="1" smtClean="0"/>
                <a:t>mins</a:t>
              </a:r>
              <a:r>
                <a:rPr lang="en-US" altLang="zh-CN" sz="700" dirty="0" smtClean="0"/>
                <a:t> </a:t>
              </a:r>
              <a:endParaRPr lang="zh-CN" altLang="en-US" sz="700" dirty="0"/>
            </a:p>
          </p:txBody>
        </p:sp>
      </p:grpSp>
      <p:sp>
        <p:nvSpPr>
          <p:cNvPr id="114" name="矩形 113"/>
          <p:cNvSpPr/>
          <p:nvPr/>
        </p:nvSpPr>
        <p:spPr>
          <a:xfrm>
            <a:off x="3857620" y="1785926"/>
            <a:ext cx="1500198" cy="2857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Save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107" name="组合 18"/>
          <p:cNvGrpSpPr/>
          <p:nvPr/>
        </p:nvGrpSpPr>
        <p:grpSpPr>
          <a:xfrm flipH="1" flipV="1">
            <a:off x="2285984" y="500042"/>
            <a:ext cx="142877" cy="141279"/>
            <a:chOff x="2786050" y="1071546"/>
            <a:chExt cx="142876" cy="144464"/>
          </a:xfrm>
        </p:grpSpPr>
        <p:cxnSp>
          <p:nvCxnSpPr>
            <p:cNvPr id="108" name="直接连接符 107"/>
            <p:cNvCxnSpPr/>
            <p:nvPr/>
          </p:nvCxnSpPr>
          <p:spPr>
            <a:xfrm>
              <a:off x="2786050" y="1142984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接连接符 112"/>
            <p:cNvCxnSpPr/>
            <p:nvPr/>
          </p:nvCxnSpPr>
          <p:spPr>
            <a:xfrm>
              <a:off x="2786050" y="1214422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/>
            <p:cNvCxnSpPr/>
            <p:nvPr/>
          </p:nvCxnSpPr>
          <p:spPr>
            <a:xfrm>
              <a:off x="2786050" y="1071546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组合 18"/>
          <p:cNvGrpSpPr/>
          <p:nvPr/>
        </p:nvGrpSpPr>
        <p:grpSpPr>
          <a:xfrm flipH="1" flipV="1">
            <a:off x="3929058" y="501639"/>
            <a:ext cx="142877" cy="141279"/>
            <a:chOff x="2786050" y="1071546"/>
            <a:chExt cx="142876" cy="144464"/>
          </a:xfrm>
        </p:grpSpPr>
        <p:cxnSp>
          <p:nvCxnSpPr>
            <p:cNvPr id="117" name="直接连接符 116"/>
            <p:cNvCxnSpPr/>
            <p:nvPr/>
          </p:nvCxnSpPr>
          <p:spPr>
            <a:xfrm>
              <a:off x="2786050" y="1142984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/>
            <p:cNvCxnSpPr/>
            <p:nvPr/>
          </p:nvCxnSpPr>
          <p:spPr>
            <a:xfrm>
              <a:off x="2786050" y="1214422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/>
            <p:cNvCxnSpPr/>
            <p:nvPr/>
          </p:nvCxnSpPr>
          <p:spPr>
            <a:xfrm>
              <a:off x="2786050" y="1071546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组合 18"/>
          <p:cNvGrpSpPr/>
          <p:nvPr/>
        </p:nvGrpSpPr>
        <p:grpSpPr>
          <a:xfrm flipH="1" flipV="1">
            <a:off x="5572131" y="500042"/>
            <a:ext cx="142877" cy="141279"/>
            <a:chOff x="2786050" y="1071546"/>
            <a:chExt cx="142876" cy="144464"/>
          </a:xfrm>
        </p:grpSpPr>
        <p:cxnSp>
          <p:nvCxnSpPr>
            <p:cNvPr id="121" name="直接连接符 120"/>
            <p:cNvCxnSpPr/>
            <p:nvPr/>
          </p:nvCxnSpPr>
          <p:spPr>
            <a:xfrm>
              <a:off x="2786050" y="1142984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连接符 121"/>
            <p:cNvCxnSpPr/>
            <p:nvPr/>
          </p:nvCxnSpPr>
          <p:spPr>
            <a:xfrm>
              <a:off x="2786050" y="1214422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/>
            <p:cNvCxnSpPr/>
            <p:nvPr/>
          </p:nvCxnSpPr>
          <p:spPr>
            <a:xfrm>
              <a:off x="2786050" y="1071546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4" name="组合 18"/>
          <p:cNvGrpSpPr/>
          <p:nvPr/>
        </p:nvGrpSpPr>
        <p:grpSpPr>
          <a:xfrm flipH="1" flipV="1">
            <a:off x="714348" y="2501903"/>
            <a:ext cx="142877" cy="141279"/>
            <a:chOff x="2786050" y="1071546"/>
            <a:chExt cx="142876" cy="144464"/>
          </a:xfrm>
        </p:grpSpPr>
        <p:cxnSp>
          <p:nvCxnSpPr>
            <p:cNvPr id="125" name="直接连接符 124"/>
            <p:cNvCxnSpPr/>
            <p:nvPr/>
          </p:nvCxnSpPr>
          <p:spPr>
            <a:xfrm>
              <a:off x="2786050" y="1142984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/>
            <p:nvPr/>
          </p:nvCxnSpPr>
          <p:spPr>
            <a:xfrm>
              <a:off x="2786050" y="1214422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连接符 126"/>
            <p:cNvCxnSpPr/>
            <p:nvPr/>
          </p:nvCxnSpPr>
          <p:spPr>
            <a:xfrm>
              <a:off x="2786050" y="1071546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8" name="组合 18"/>
          <p:cNvGrpSpPr/>
          <p:nvPr/>
        </p:nvGrpSpPr>
        <p:grpSpPr>
          <a:xfrm flipH="1" flipV="1">
            <a:off x="2438384" y="2501903"/>
            <a:ext cx="142877" cy="141279"/>
            <a:chOff x="2786050" y="1071546"/>
            <a:chExt cx="142876" cy="144464"/>
          </a:xfrm>
        </p:grpSpPr>
        <p:cxnSp>
          <p:nvCxnSpPr>
            <p:cNvPr id="129" name="直接连接符 128"/>
            <p:cNvCxnSpPr/>
            <p:nvPr/>
          </p:nvCxnSpPr>
          <p:spPr>
            <a:xfrm>
              <a:off x="2786050" y="1142984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接连接符 129"/>
            <p:cNvCxnSpPr/>
            <p:nvPr/>
          </p:nvCxnSpPr>
          <p:spPr>
            <a:xfrm>
              <a:off x="2786050" y="1214422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接连接符 130"/>
            <p:cNvCxnSpPr/>
            <p:nvPr/>
          </p:nvCxnSpPr>
          <p:spPr>
            <a:xfrm>
              <a:off x="2786050" y="1071546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6" name="矩形 135"/>
          <p:cNvSpPr/>
          <p:nvPr/>
        </p:nvSpPr>
        <p:spPr>
          <a:xfrm>
            <a:off x="1857356" y="428604"/>
            <a:ext cx="214314" cy="18573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7" name="组合 18"/>
          <p:cNvGrpSpPr/>
          <p:nvPr/>
        </p:nvGrpSpPr>
        <p:grpSpPr>
          <a:xfrm flipH="1" flipV="1">
            <a:off x="1857356" y="500042"/>
            <a:ext cx="142877" cy="141279"/>
            <a:chOff x="2786050" y="1071546"/>
            <a:chExt cx="142876" cy="144464"/>
          </a:xfrm>
        </p:grpSpPr>
        <p:cxnSp>
          <p:nvCxnSpPr>
            <p:cNvPr id="138" name="直接连接符 137"/>
            <p:cNvCxnSpPr/>
            <p:nvPr/>
          </p:nvCxnSpPr>
          <p:spPr>
            <a:xfrm>
              <a:off x="2786050" y="1142984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/>
            <p:cNvCxnSpPr/>
            <p:nvPr/>
          </p:nvCxnSpPr>
          <p:spPr>
            <a:xfrm>
              <a:off x="2786050" y="1214422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接连接符 139"/>
            <p:cNvCxnSpPr/>
            <p:nvPr/>
          </p:nvCxnSpPr>
          <p:spPr>
            <a:xfrm>
              <a:off x="2786050" y="1071546"/>
              <a:ext cx="142876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矩形 141"/>
          <p:cNvSpPr/>
          <p:nvPr/>
        </p:nvSpPr>
        <p:spPr>
          <a:xfrm>
            <a:off x="7215206" y="4214818"/>
            <a:ext cx="571504" cy="2857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Yes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7786710" y="4214818"/>
            <a:ext cx="785818" cy="2857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</a:rPr>
              <a:t>Not Now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grpSp>
        <p:nvGrpSpPr>
          <p:cNvPr id="144" name="组合 143"/>
          <p:cNvGrpSpPr/>
          <p:nvPr/>
        </p:nvGrpSpPr>
        <p:grpSpPr>
          <a:xfrm>
            <a:off x="5357818" y="2500306"/>
            <a:ext cx="1500198" cy="1857388"/>
            <a:chOff x="500034" y="571480"/>
            <a:chExt cx="1500198" cy="1857388"/>
          </a:xfrm>
        </p:grpSpPr>
        <p:sp>
          <p:nvSpPr>
            <p:cNvPr id="145" name="矩形 144"/>
            <p:cNvSpPr/>
            <p:nvPr/>
          </p:nvSpPr>
          <p:spPr>
            <a:xfrm>
              <a:off x="500034" y="571480"/>
              <a:ext cx="1500198" cy="185738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6" name="矩形 145"/>
            <p:cNvSpPr/>
            <p:nvPr/>
          </p:nvSpPr>
          <p:spPr>
            <a:xfrm>
              <a:off x="500034" y="571480"/>
              <a:ext cx="1500198" cy="28575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dirty="0" smtClean="0">
                  <a:solidFill>
                    <a:schemeClr val="tx1"/>
                  </a:solidFill>
                </a:rPr>
                <a:t>       Meter Reading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147" name="组合 18"/>
            <p:cNvGrpSpPr/>
            <p:nvPr/>
          </p:nvGrpSpPr>
          <p:grpSpPr>
            <a:xfrm flipH="1" flipV="1">
              <a:off x="571472" y="642994"/>
              <a:ext cx="142877" cy="141279"/>
              <a:chOff x="2786050" y="1071546"/>
              <a:chExt cx="142876" cy="144464"/>
            </a:xfrm>
          </p:grpSpPr>
          <p:cxnSp>
            <p:nvCxnSpPr>
              <p:cNvPr id="148" name="直接连接符 147"/>
              <p:cNvCxnSpPr/>
              <p:nvPr/>
            </p:nvCxnSpPr>
            <p:spPr>
              <a:xfrm>
                <a:off x="2786050" y="1142984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接连接符 148"/>
              <p:cNvCxnSpPr/>
              <p:nvPr/>
            </p:nvCxnSpPr>
            <p:spPr>
              <a:xfrm>
                <a:off x="2786050" y="1214422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连接符 149"/>
              <p:cNvCxnSpPr/>
              <p:nvPr/>
            </p:nvCxnSpPr>
            <p:spPr>
              <a:xfrm>
                <a:off x="2786050" y="1071546"/>
                <a:ext cx="142876" cy="158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51" name="TextBox 150"/>
          <p:cNvSpPr txBox="1"/>
          <p:nvPr/>
        </p:nvSpPr>
        <p:spPr>
          <a:xfrm>
            <a:off x="5357818" y="2786058"/>
            <a:ext cx="15001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Help </a:t>
            </a:r>
            <a:r>
              <a:rPr lang="zh-CN" altLang="en-US" dirty="0" smtClean="0"/>
              <a:t>一栏：教用户如何正确读咪表的图片</a:t>
            </a:r>
            <a:endParaRPr lang="zh-CN" altLang="en-US" dirty="0"/>
          </a:p>
        </p:txBody>
      </p:sp>
      <p:cxnSp>
        <p:nvCxnSpPr>
          <p:cNvPr id="134" name="形状 133"/>
          <p:cNvCxnSpPr>
            <a:stCxn id="53" idx="3"/>
            <a:endCxn id="91" idx="0"/>
          </p:cNvCxnSpPr>
          <p:nvPr/>
        </p:nvCxnSpPr>
        <p:spPr>
          <a:xfrm>
            <a:off x="7000892" y="1357298"/>
            <a:ext cx="857256" cy="1071570"/>
          </a:xfrm>
          <a:prstGeom prst="bentConnector2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1009</TotalTime>
  <Words>1576</Words>
  <Application>Microsoft Office PowerPoint</Application>
  <PresentationFormat>On-screen Show (4:3)</PresentationFormat>
  <Paragraphs>168</Paragraphs>
  <Slides>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主题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cp:lastModifiedBy>RKS</cp:lastModifiedBy>
  <cp:revision>178</cp:revision>
  <dcterms:modified xsi:type="dcterms:W3CDTF">2013-08-21T23:42:30Z</dcterms:modified>
</cp:coreProperties>
</file>