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441" autoAdjust="0"/>
    <p:restoredTop sz="94660"/>
  </p:normalViewPr>
  <p:slideViewPr>
    <p:cSldViewPr>
      <p:cViewPr>
        <p:scale>
          <a:sx n="100" d="100"/>
          <a:sy n="100" d="100"/>
        </p:scale>
        <p:origin x="-438" y="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0632B-FDD4-48A0-AF5C-5C4E0E093B3E}" type="datetimeFigureOut">
              <a:rPr lang="zh-CN" altLang="en-US" smtClean="0"/>
              <a:t>2013-8-11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90C29-4DD4-4420-948D-E9E7F20983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790C29-4DD4-4420-948D-E9E7F20983B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2013-8-11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1472" y="642918"/>
            <a:ext cx="1428760" cy="1571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596" y="71414"/>
            <a:ext cx="835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rgbClr val="FF0000"/>
                </a:solidFill>
              </a:rPr>
              <a:t>参考</a:t>
            </a:r>
            <a:r>
              <a:rPr lang="en-US" altLang="zh-CN" sz="1200" b="1" dirty="0" err="1" smtClean="0">
                <a:solidFill>
                  <a:srgbClr val="FF0000"/>
                </a:solidFill>
              </a:rPr>
              <a:t>Lyft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r>
              <a:rPr lang="en-US" altLang="zh-CN" sz="1200" dirty="0" smtClean="0"/>
              <a:t>1) </a:t>
            </a:r>
            <a:r>
              <a:rPr lang="zh-CN" altLang="en-US" sz="1200" dirty="0" smtClean="0"/>
              <a:t>开启页面（每次开启显示，除非用户已加入某队列，则打开直接显示配对页面）</a:t>
            </a:r>
            <a:endParaRPr lang="zh-CN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357290" y="1580365"/>
            <a:ext cx="571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Logo</a:t>
            </a:r>
            <a:endParaRPr lang="zh-CN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2285992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2) </a:t>
            </a:r>
            <a:r>
              <a:rPr lang="zh-CN" altLang="en-US" sz="1200" dirty="0" smtClean="0"/>
              <a:t>注册及配对设置（用户</a:t>
            </a:r>
            <a:r>
              <a:rPr lang="zh-CN" altLang="en-US" sz="1200" dirty="0" smtClean="0"/>
              <a:t>未绑定</a:t>
            </a:r>
            <a:r>
              <a:rPr lang="en-US" altLang="zh-CN" sz="1200" dirty="0" err="1" smtClean="0"/>
              <a:t>facebook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grpSp>
        <p:nvGrpSpPr>
          <p:cNvPr id="35" name="组合 34"/>
          <p:cNvGrpSpPr/>
          <p:nvPr/>
        </p:nvGrpSpPr>
        <p:grpSpPr>
          <a:xfrm>
            <a:off x="3643306" y="2643182"/>
            <a:ext cx="1500198" cy="1857388"/>
            <a:chOff x="571472" y="2643182"/>
            <a:chExt cx="1500198" cy="1857388"/>
          </a:xfrm>
        </p:grpSpPr>
        <p:sp>
          <p:nvSpPr>
            <p:cNvPr id="36" name="矩形 35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71472" y="2714620"/>
              <a:ext cx="15001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smtClean="0"/>
                <a:t>Important Notice</a:t>
              </a:r>
            </a:p>
            <a:p>
              <a:pPr algn="ctr"/>
              <a:r>
                <a:rPr lang="en-US" altLang="zh-CN" sz="1000" dirty="0" smtClean="0"/>
                <a:t>……………………….</a:t>
              </a:r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r>
                <a:rPr lang="en-US" altLang="zh-CN" sz="1000" dirty="0" smtClean="0"/>
                <a:t>………………………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5286380" y="2643182"/>
            <a:ext cx="1500198" cy="1938992"/>
            <a:chOff x="571472" y="2643182"/>
            <a:chExt cx="1500198" cy="1938992"/>
          </a:xfrm>
        </p:grpSpPr>
        <p:sp>
          <p:nvSpPr>
            <p:cNvPr id="49" name="矩形 4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71472" y="2643182"/>
              <a:ext cx="150019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100" dirty="0" smtClean="0"/>
            </a:p>
            <a:p>
              <a:r>
                <a:rPr lang="en-US" altLang="zh-CN" sz="1100" dirty="0" err="1" smtClean="0"/>
                <a:t>Xxxx</a:t>
              </a:r>
              <a:r>
                <a:rPr lang="en-US" altLang="zh-CN" sz="1100" dirty="0" smtClean="0"/>
                <a:t>, Welcome!</a:t>
              </a:r>
            </a:p>
            <a:p>
              <a:r>
                <a:rPr lang="en-US" altLang="zh-CN" sz="1400" dirty="0" smtClean="0"/>
                <a:t>…….</a:t>
              </a:r>
            </a:p>
            <a:p>
              <a:endParaRPr lang="en-US" altLang="zh-CN" sz="1400" dirty="0" smtClean="0"/>
            </a:p>
            <a:p>
              <a:r>
                <a:rPr lang="en-US" altLang="zh-CN" sz="1400" dirty="0" smtClean="0"/>
                <a:t>【5】 </a:t>
              </a:r>
              <a:r>
                <a:rPr lang="en-US" altLang="zh-CN" sz="1400" dirty="0" smtClean="0"/>
                <a:t>free credits have been given to you</a:t>
              </a:r>
            </a:p>
            <a:p>
              <a:endParaRPr lang="en-US" altLang="zh-CN" sz="1400" dirty="0" smtClean="0"/>
            </a:p>
            <a:p>
              <a:r>
                <a:rPr lang="en-US" altLang="zh-CN" sz="1400" dirty="0" smtClean="0"/>
                <a:t>  </a:t>
              </a:r>
              <a:endParaRPr lang="zh-CN" altLang="en-US" sz="1400" dirty="0"/>
            </a:p>
          </p:txBody>
        </p:sp>
      </p:grpSp>
      <p:sp>
        <p:nvSpPr>
          <p:cNvPr id="54" name="矩形 53"/>
          <p:cNvSpPr/>
          <p:nvPr/>
        </p:nvSpPr>
        <p:spPr>
          <a:xfrm>
            <a:off x="5429256" y="4143380"/>
            <a:ext cx="1214446" cy="2857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Start tour</a:t>
            </a:r>
            <a:endParaRPr lang="zh-CN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2357422" y="785794"/>
            <a:ext cx="6286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FF0000"/>
                </a:solidFill>
              </a:rPr>
              <a:t>名称为：</a:t>
            </a:r>
            <a:r>
              <a:rPr lang="en-US" altLang="zh-CN" sz="1600" dirty="0" smtClean="0">
                <a:solidFill>
                  <a:srgbClr val="FF0000"/>
                </a:solidFill>
              </a:rPr>
              <a:t>[Ride2gather]</a:t>
            </a:r>
          </a:p>
          <a:p>
            <a:r>
              <a:rPr lang="en-US" altLang="zh-CN" sz="1600" dirty="0" smtClean="0">
                <a:solidFill>
                  <a:srgbClr val="FF0000"/>
                </a:solidFill>
              </a:rPr>
              <a:t>Logo</a:t>
            </a:r>
            <a:r>
              <a:rPr lang="zh-CN" altLang="en-US" sz="1600" dirty="0" smtClean="0">
                <a:solidFill>
                  <a:srgbClr val="FF0000"/>
                </a:solidFill>
              </a:rPr>
              <a:t>以英文单词为主体进行美工，简洁大方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zh-CN" altLang="en-US" sz="1600" dirty="0" smtClean="0">
                <a:solidFill>
                  <a:srgbClr val="FF0000"/>
                </a:solidFill>
              </a:rPr>
              <a:t>如果有设计是把出租车简笔画加入到单词中就更好了。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zh-CN" altLang="en-US" sz="1600" dirty="0" smtClean="0">
                <a:solidFill>
                  <a:srgbClr val="FF0000"/>
                </a:solidFill>
              </a:rPr>
              <a:t>整体色调</a:t>
            </a:r>
            <a:r>
              <a:rPr lang="zh-CN" altLang="en-US" sz="1600" dirty="0" smtClean="0">
                <a:solidFill>
                  <a:srgbClr val="FF0000"/>
                </a:solidFill>
              </a:rPr>
              <a:t>要求</a:t>
            </a:r>
            <a:r>
              <a:rPr lang="zh-CN" altLang="en-US" sz="1600" dirty="0" smtClean="0">
                <a:solidFill>
                  <a:srgbClr val="FF0000"/>
                </a:solidFill>
              </a:rPr>
              <a:t>简洁活泼</a:t>
            </a:r>
            <a:r>
              <a:rPr lang="zh-CN" altLang="en-US" sz="1600" dirty="0" smtClean="0">
                <a:solidFill>
                  <a:srgbClr val="FF0000"/>
                </a:solidFill>
              </a:rPr>
              <a:t>，参考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Lyft</a:t>
            </a:r>
            <a:r>
              <a:rPr lang="zh-CN" altLang="en-US" sz="1600" dirty="0" smtClean="0">
                <a:solidFill>
                  <a:srgbClr val="FF0000"/>
                </a:solidFill>
              </a:rPr>
              <a:t>，</a:t>
            </a:r>
            <a:r>
              <a:rPr lang="zh-CN" altLang="en-US" sz="1600" dirty="0" smtClean="0">
                <a:solidFill>
                  <a:srgbClr val="FF0000"/>
                </a:solidFill>
              </a:rPr>
              <a:t>主背景色调选择白色、浅灰、或黑色。其他颜色根据背景色搭配。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85720" y="2643182"/>
            <a:ext cx="1500198" cy="1857388"/>
            <a:chOff x="571472" y="2643182"/>
            <a:chExt cx="1500198" cy="1857388"/>
          </a:xfrm>
        </p:grpSpPr>
        <p:sp>
          <p:nvSpPr>
            <p:cNvPr id="62" name="矩形 61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1472" y="3191532"/>
              <a:ext cx="1500198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 smtClean="0"/>
                <a:t>facebook</a:t>
              </a:r>
              <a:r>
                <a:rPr lang="zh-CN" altLang="en-US" sz="1400" dirty="0" smtClean="0"/>
                <a:t>帐号</a:t>
              </a:r>
              <a:r>
                <a:rPr lang="zh-CN" altLang="en-US" sz="1400" dirty="0" smtClean="0"/>
                <a:t>登录</a:t>
              </a:r>
              <a:endParaRPr lang="en-US" altLang="zh-CN" sz="1400" dirty="0" smtClean="0"/>
            </a:p>
          </p:txBody>
        </p:sp>
      </p:grpSp>
      <p:sp>
        <p:nvSpPr>
          <p:cNvPr id="82" name="矩形 81"/>
          <p:cNvSpPr/>
          <p:nvPr/>
        </p:nvSpPr>
        <p:spPr>
          <a:xfrm>
            <a:off x="3786182" y="4143380"/>
            <a:ext cx="1214446" cy="2857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I Understand</a:t>
            </a:r>
            <a:endParaRPr lang="zh-CN" altLang="en-US" sz="1400" dirty="0"/>
          </a:p>
        </p:txBody>
      </p:sp>
      <p:sp>
        <p:nvSpPr>
          <p:cNvPr id="83" name="右箭头 82"/>
          <p:cNvSpPr/>
          <p:nvPr/>
        </p:nvSpPr>
        <p:spPr>
          <a:xfrm>
            <a:off x="6929454" y="3429000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7786710" y="3286124"/>
            <a:ext cx="1142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过程</a:t>
            </a:r>
            <a:r>
              <a:rPr lang="zh-CN" altLang="en-US" dirty="0" smtClean="0"/>
              <a:t>演示，包括设置</a:t>
            </a:r>
            <a:endParaRPr lang="zh-CN" altLang="en-US" dirty="0"/>
          </a:p>
        </p:txBody>
      </p:sp>
      <p:grpSp>
        <p:nvGrpSpPr>
          <p:cNvPr id="63" name="组合 62"/>
          <p:cNvGrpSpPr/>
          <p:nvPr/>
        </p:nvGrpSpPr>
        <p:grpSpPr>
          <a:xfrm>
            <a:off x="2000232" y="2643182"/>
            <a:ext cx="1500198" cy="1857388"/>
            <a:chOff x="571472" y="2643182"/>
            <a:chExt cx="1500198" cy="1857388"/>
          </a:xfrm>
        </p:grpSpPr>
        <p:sp>
          <p:nvSpPr>
            <p:cNvPr id="64" name="矩形 63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71472" y="3191532"/>
              <a:ext cx="1500198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 dirty="0" smtClean="0"/>
                <a:t>填写手机和邮箱</a:t>
              </a:r>
              <a:endParaRPr lang="en-US" altLang="zh-CN" sz="1400" dirty="0" smtClean="0"/>
            </a:p>
            <a:p>
              <a:r>
                <a:rPr lang="zh-CN" altLang="en-US" sz="1400" dirty="0" smtClean="0"/>
                <a:t>不需要验证</a:t>
              </a:r>
              <a:endParaRPr lang="en-US" altLang="zh-CN" sz="1400" dirty="0" smtClean="0"/>
            </a:p>
          </p:txBody>
        </p:sp>
      </p:grpSp>
      <p:sp>
        <p:nvSpPr>
          <p:cNvPr id="75" name="矩形 74"/>
          <p:cNvSpPr/>
          <p:nvPr/>
        </p:nvSpPr>
        <p:spPr>
          <a:xfrm>
            <a:off x="2143108" y="4000504"/>
            <a:ext cx="1214446" cy="2857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Next</a:t>
            </a:r>
            <a:endParaRPr lang="zh-CN" altLang="en-US" sz="1400" dirty="0"/>
          </a:p>
        </p:txBody>
      </p:sp>
      <p:sp>
        <p:nvSpPr>
          <p:cNvPr id="55" name="TextBox 54"/>
          <p:cNvSpPr txBox="1"/>
          <p:nvPr/>
        </p:nvSpPr>
        <p:spPr>
          <a:xfrm>
            <a:off x="357158" y="3786190"/>
            <a:ext cx="135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（获取</a:t>
            </a:r>
            <a:r>
              <a:rPr lang="en-US" altLang="zh-CN" sz="1200" dirty="0" smtClean="0"/>
              <a:t>username, gender</a:t>
            </a:r>
            <a:r>
              <a:rPr lang="zh-CN" altLang="en-US" sz="1200" dirty="0" smtClean="0"/>
              <a:t>和年龄</a:t>
            </a:r>
            <a:r>
              <a:rPr lang="zh-CN" altLang="en-US" sz="1200" dirty="0" smtClean="0"/>
              <a:t>信息）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14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3) </a:t>
            </a:r>
            <a:r>
              <a:rPr lang="zh-CN" altLang="en-US" sz="1200" dirty="0" smtClean="0"/>
              <a:t>主页面（用户已注册，开启页面后显示，如果用户已加入队列，则直接显示配对页面）</a:t>
            </a:r>
            <a:endParaRPr lang="zh-CN" altLang="en-US" sz="12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643042" y="357166"/>
            <a:ext cx="1500198" cy="1857388"/>
            <a:chOff x="500034" y="571480"/>
            <a:chExt cx="1500198" cy="1857388"/>
          </a:xfrm>
        </p:grpSpPr>
        <p:sp>
          <p:nvSpPr>
            <p:cNvPr id="6" name="矩形 5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00034" y="2143116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Join a Taxi Stand Q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flipH="1" flipV="1">
              <a:off x="571472" y="642918"/>
              <a:ext cx="142877" cy="141288"/>
              <a:chOff x="2786050" y="1071546"/>
              <a:chExt cx="142876" cy="144464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Box 20"/>
          <p:cNvSpPr txBox="1"/>
          <p:nvPr/>
        </p:nvSpPr>
        <p:spPr>
          <a:xfrm>
            <a:off x="1643042" y="642918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    MAP</a:t>
            </a:r>
            <a:r>
              <a:rPr lang="zh-CN" altLang="en-US" sz="1200" dirty="0" smtClean="0"/>
              <a:t>，如果该部分也被计入每日</a:t>
            </a:r>
            <a:r>
              <a:rPr lang="en-US" altLang="zh-CN" sz="1200" dirty="0" smtClean="0"/>
              <a:t>25000</a:t>
            </a:r>
            <a:r>
              <a:rPr lang="zh-CN" altLang="en-US" sz="1200" dirty="0" smtClean="0"/>
              <a:t>次谷歌</a:t>
            </a:r>
            <a:r>
              <a:rPr lang="en-US" altLang="zh-CN" sz="1200" dirty="0" smtClean="0"/>
              <a:t>map</a:t>
            </a:r>
            <a:r>
              <a:rPr lang="zh-CN" altLang="en-US" sz="1200" dirty="0" smtClean="0"/>
              <a:t>读取则不要显示，考虑其他方案</a:t>
            </a:r>
            <a:endParaRPr lang="zh-CN" altLang="en-US" sz="1200" dirty="0"/>
          </a:p>
        </p:txBody>
      </p:sp>
      <p:sp>
        <p:nvSpPr>
          <p:cNvPr id="22" name="圆角矩形标注 21"/>
          <p:cNvSpPr/>
          <p:nvPr/>
        </p:nvSpPr>
        <p:spPr>
          <a:xfrm>
            <a:off x="357158" y="428604"/>
            <a:ext cx="1143008" cy="571504"/>
          </a:xfrm>
          <a:prstGeom prst="wedgeRoundRectCallout">
            <a:avLst>
              <a:gd name="adj1" fmla="val 71700"/>
              <a:gd name="adj2" fmla="val -4203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此处为更多</a:t>
            </a:r>
            <a:r>
              <a:rPr lang="zh-CN" altLang="en-US" sz="1200" dirty="0" smtClean="0">
                <a:solidFill>
                  <a:schemeClr val="tx1"/>
                </a:solidFill>
              </a:rPr>
              <a:t>选项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圆角矩形标注 22"/>
          <p:cNvSpPr/>
          <p:nvPr/>
        </p:nvSpPr>
        <p:spPr>
          <a:xfrm>
            <a:off x="3428992" y="500042"/>
            <a:ext cx="2571768" cy="857256"/>
          </a:xfrm>
          <a:prstGeom prst="wedgeRoundRectCallout">
            <a:avLst>
              <a:gd name="adj1" fmla="val -82809"/>
              <a:gd name="adj2" fmla="val -5269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如果用户信用点数等于或低于</a:t>
            </a:r>
            <a:r>
              <a:rPr lang="en-US" altLang="zh-CN" sz="1200" dirty="0" smtClean="0">
                <a:solidFill>
                  <a:schemeClr val="tx1"/>
                </a:solidFill>
              </a:rPr>
              <a:t>2</a:t>
            </a:r>
            <a:r>
              <a:rPr lang="zh-CN" altLang="en-US" sz="1200" dirty="0" smtClean="0">
                <a:solidFill>
                  <a:schemeClr val="tx1"/>
                </a:solidFill>
              </a:rPr>
              <a:t>点，则显示滚动提示：</a:t>
            </a:r>
            <a:r>
              <a:rPr lang="zh-CN" altLang="en-US" sz="1200" dirty="0" smtClean="0">
                <a:solidFill>
                  <a:schemeClr val="tx1"/>
                </a:solidFill>
              </a:rPr>
              <a:t>“</a:t>
            </a:r>
            <a:r>
              <a:rPr lang="en-US" altLang="zh-CN" sz="1200" dirty="0" smtClean="0">
                <a:solidFill>
                  <a:schemeClr val="tx1"/>
                </a:solidFill>
              </a:rPr>
              <a:t>C</a:t>
            </a:r>
            <a:r>
              <a:rPr lang="en-US" altLang="zh-CN" sz="1200" dirty="0" smtClean="0">
                <a:solidFill>
                  <a:schemeClr val="tx1"/>
                </a:solidFill>
              </a:rPr>
              <a:t>redit </a:t>
            </a:r>
            <a:r>
              <a:rPr lang="en-US" altLang="zh-CN" sz="1200" dirty="0" smtClean="0">
                <a:solidFill>
                  <a:schemeClr val="tx1"/>
                </a:solidFill>
              </a:rPr>
              <a:t>balance </a:t>
            </a:r>
            <a:r>
              <a:rPr lang="en-US" altLang="zh-CN" sz="1200" dirty="0" smtClean="0">
                <a:solidFill>
                  <a:schemeClr val="tx1"/>
                </a:solidFill>
              </a:rPr>
              <a:t>low</a:t>
            </a:r>
            <a:r>
              <a:rPr lang="en-US" altLang="zh-CN" sz="1200" dirty="0" smtClean="0">
                <a:solidFill>
                  <a:schemeClr val="tx1"/>
                </a:solidFill>
              </a:rPr>
              <a:t>, </a:t>
            </a:r>
            <a:r>
              <a:rPr lang="en-US" altLang="zh-CN" sz="1200" dirty="0" smtClean="0">
                <a:solidFill>
                  <a:schemeClr val="tx1"/>
                </a:solidFill>
              </a:rPr>
              <a:t>buy credits </a:t>
            </a:r>
            <a:r>
              <a:rPr lang="en-US" altLang="zh-CN" sz="1200" dirty="0" smtClean="0">
                <a:solidFill>
                  <a:schemeClr val="tx1"/>
                </a:solidFill>
              </a:rPr>
              <a:t>now!” </a:t>
            </a:r>
            <a:r>
              <a:rPr lang="zh-CN" altLang="en-US" sz="1200" dirty="0" smtClean="0">
                <a:solidFill>
                  <a:schemeClr val="tx1"/>
                </a:solidFill>
              </a:rPr>
              <a:t>点击直接进入点数购买页面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929058" y="2786058"/>
            <a:ext cx="1500198" cy="1857388"/>
            <a:chOff x="500034" y="571480"/>
            <a:chExt cx="1500198" cy="1857388"/>
          </a:xfrm>
        </p:grpSpPr>
        <p:sp>
          <p:nvSpPr>
            <p:cNvPr id="25" name="矩形 2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29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30" name="直接连接符 29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/>
          <p:cNvSpPr txBox="1"/>
          <p:nvPr/>
        </p:nvSpPr>
        <p:spPr>
          <a:xfrm>
            <a:off x="3929058" y="3071810"/>
            <a:ext cx="150019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 smtClean="0"/>
              <a:t>Are you with friends?</a:t>
            </a:r>
            <a:endParaRPr lang="en-US" altLang="zh-CN" sz="900" dirty="0" smtClean="0"/>
          </a:p>
          <a:p>
            <a:r>
              <a:rPr lang="en-US" altLang="zh-CN" sz="900" dirty="0" smtClean="0"/>
              <a:t>(</a:t>
            </a:r>
            <a:r>
              <a:rPr lang="zh-CN" altLang="en-US" sz="700" dirty="0" smtClean="0"/>
              <a:t>如果是大于</a:t>
            </a:r>
            <a:r>
              <a:rPr lang="en-US" altLang="zh-CN" sz="700" dirty="0" smtClean="0"/>
              <a:t>2</a:t>
            </a:r>
            <a:r>
              <a:rPr lang="zh-CN" altLang="en-US" sz="700" dirty="0" smtClean="0"/>
              <a:t>个人，选择性别）</a:t>
            </a:r>
            <a:endParaRPr lang="en-US" altLang="zh-CN" sz="900" dirty="0" smtClean="0"/>
          </a:p>
          <a:p>
            <a:r>
              <a:rPr lang="en-US" altLang="zh-CN" sz="900" dirty="0" smtClean="0"/>
              <a:t>Your destination</a:t>
            </a:r>
            <a:endParaRPr lang="en-US" altLang="zh-CN" sz="900" dirty="0" smtClean="0"/>
          </a:p>
          <a:p>
            <a:r>
              <a:rPr lang="en-US" altLang="zh-CN" sz="900" dirty="0" smtClean="0"/>
              <a:t>Color</a:t>
            </a:r>
            <a:r>
              <a:rPr lang="zh-CN" altLang="en-US" sz="900" dirty="0" smtClean="0"/>
              <a:t> </a:t>
            </a:r>
            <a:r>
              <a:rPr lang="en-US" altLang="zh-CN" sz="900" dirty="0" smtClean="0"/>
              <a:t>of </a:t>
            </a:r>
            <a:r>
              <a:rPr lang="en-US" altLang="zh-CN" sz="900" dirty="0" smtClean="0"/>
              <a:t>your</a:t>
            </a:r>
            <a:r>
              <a:rPr lang="en-US" altLang="zh-CN" sz="900" dirty="0" smtClean="0"/>
              <a:t> </a:t>
            </a:r>
            <a:r>
              <a:rPr lang="en-US" altLang="zh-CN" sz="900" dirty="0" smtClean="0"/>
              <a:t>top</a:t>
            </a:r>
          </a:p>
          <a:p>
            <a:r>
              <a:rPr lang="en-US" altLang="zh-CN" sz="900" dirty="0" smtClean="0"/>
              <a:t>Other features   </a:t>
            </a:r>
          </a:p>
        </p:txBody>
      </p:sp>
      <p:sp>
        <p:nvSpPr>
          <p:cNvPr id="35" name="矩形 34"/>
          <p:cNvSpPr/>
          <p:nvPr/>
        </p:nvSpPr>
        <p:spPr>
          <a:xfrm>
            <a:off x="4786314" y="3357562"/>
            <a:ext cx="357190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4786314" y="3500438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4000496" y="3857628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7286644" y="2786058"/>
            <a:ext cx="1500198" cy="1857388"/>
            <a:chOff x="500034" y="571480"/>
            <a:chExt cx="1500198" cy="1857388"/>
          </a:xfrm>
        </p:grpSpPr>
        <p:sp>
          <p:nvSpPr>
            <p:cNvPr id="40" name="矩形 3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/>
          <p:cNvSpPr txBox="1"/>
          <p:nvPr/>
        </p:nvSpPr>
        <p:spPr>
          <a:xfrm>
            <a:off x="7429520" y="3143248"/>
            <a:ext cx="121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前面输入信息总结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7286644" y="4143380"/>
            <a:ext cx="714380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Confirm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001024" y="4714884"/>
            <a:ext cx="1000132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popup</a:t>
            </a:r>
            <a:r>
              <a:rPr lang="zh-CN" altLang="en-US" sz="1200" dirty="0" smtClean="0"/>
              <a:t>告知已经排入队列，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秒淡化自动进入配对页面</a:t>
            </a:r>
            <a:endParaRPr lang="zh-CN" altLang="en-US" sz="1200" dirty="0"/>
          </a:p>
        </p:txBody>
      </p:sp>
      <p:grpSp>
        <p:nvGrpSpPr>
          <p:cNvPr id="116" name="组合 115"/>
          <p:cNvGrpSpPr/>
          <p:nvPr/>
        </p:nvGrpSpPr>
        <p:grpSpPr>
          <a:xfrm>
            <a:off x="6929454" y="428604"/>
            <a:ext cx="1500198" cy="1857388"/>
            <a:chOff x="500034" y="571480"/>
            <a:chExt cx="1500198" cy="1857388"/>
          </a:xfrm>
        </p:grpSpPr>
        <p:sp>
          <p:nvSpPr>
            <p:cNvPr id="117" name="矩形 11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Buy Credits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21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22" name="直接连接符 121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右箭头 124"/>
          <p:cNvSpPr/>
          <p:nvPr/>
        </p:nvSpPr>
        <p:spPr>
          <a:xfrm>
            <a:off x="3071802" y="2000240"/>
            <a:ext cx="3714776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TextBox 125"/>
          <p:cNvSpPr txBox="1"/>
          <p:nvPr/>
        </p:nvSpPr>
        <p:spPr>
          <a:xfrm>
            <a:off x="7072330" y="785794"/>
            <a:ext cx="12144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如果用户信用点为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，则显示该页面：</a:t>
            </a:r>
            <a:r>
              <a:rPr lang="en-US" altLang="zh-CN" sz="1200" dirty="0" smtClean="0"/>
              <a:t>Oops, you credit balance is 0</a:t>
            </a:r>
            <a:endParaRPr lang="zh-CN" altLang="en-US" sz="1200" dirty="0"/>
          </a:p>
        </p:txBody>
      </p:sp>
      <p:sp>
        <p:nvSpPr>
          <p:cNvPr id="127" name="下弧形箭头 126"/>
          <p:cNvSpPr/>
          <p:nvPr/>
        </p:nvSpPr>
        <p:spPr>
          <a:xfrm>
            <a:off x="5286380" y="4214818"/>
            <a:ext cx="2286016" cy="571504"/>
          </a:xfrm>
          <a:prstGeom prst="curvedUpArrow">
            <a:avLst>
              <a:gd name="adj1" fmla="val 16365"/>
              <a:gd name="adj2" fmla="val 57690"/>
              <a:gd name="adj3" fmla="val 26905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5643570" y="2786058"/>
            <a:ext cx="1500198" cy="1857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右箭头 137"/>
          <p:cNvSpPr/>
          <p:nvPr/>
        </p:nvSpPr>
        <p:spPr>
          <a:xfrm>
            <a:off x="5000628" y="3357562"/>
            <a:ext cx="714380" cy="142876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矩形 139"/>
          <p:cNvSpPr/>
          <p:nvPr/>
        </p:nvSpPr>
        <p:spPr>
          <a:xfrm>
            <a:off x="5643570" y="278605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输入框（</a:t>
            </a:r>
            <a:r>
              <a:rPr lang="en-US" altLang="zh-CN" sz="1200" dirty="0" err="1" smtClean="0">
                <a:solidFill>
                  <a:schemeClr val="tx1"/>
                </a:solidFill>
              </a:rPr>
              <a:t>Lyft</a:t>
            </a:r>
            <a:r>
              <a:rPr lang="zh-CN" altLang="en-US" sz="1200" dirty="0" smtClean="0">
                <a:solidFill>
                  <a:schemeClr val="tx1"/>
                </a:solidFill>
              </a:rPr>
              <a:t>界面）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5643570" y="3143248"/>
            <a:ext cx="150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即时提示输入</a:t>
            </a:r>
            <a:r>
              <a:rPr lang="zh-CN" altLang="en-US" sz="1200" dirty="0" smtClean="0"/>
              <a:t>匹配</a:t>
            </a:r>
            <a:r>
              <a:rPr lang="zh-CN" altLang="en-US" sz="1200" dirty="0" smtClean="0"/>
              <a:t>地点</a:t>
            </a:r>
            <a:r>
              <a:rPr lang="zh-CN" altLang="en-US" sz="1200" dirty="0" smtClean="0"/>
              <a:t>列表</a:t>
            </a:r>
            <a:r>
              <a:rPr lang="zh-CN" altLang="en-US" sz="1200" dirty="0" smtClean="0"/>
              <a:t>，用户点击即为选择退回上一界面</a:t>
            </a:r>
            <a:endParaRPr lang="zh-CN" altLang="en-US" sz="1200" dirty="0"/>
          </a:p>
        </p:txBody>
      </p:sp>
      <p:sp>
        <p:nvSpPr>
          <p:cNvPr id="142" name="矩形 141"/>
          <p:cNvSpPr/>
          <p:nvPr/>
        </p:nvSpPr>
        <p:spPr>
          <a:xfrm>
            <a:off x="3929058" y="4143380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Join the Q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3" name="矩形 132"/>
          <p:cNvSpPr/>
          <p:nvPr/>
        </p:nvSpPr>
        <p:spPr>
          <a:xfrm>
            <a:off x="1643042" y="1643050"/>
            <a:ext cx="1000132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</a:rPr>
              <a:t>显示</a:t>
            </a:r>
            <a:r>
              <a:rPr lang="en-US" altLang="zh-CN" sz="900" dirty="0" smtClean="0">
                <a:solidFill>
                  <a:schemeClr val="tx1"/>
                </a:solidFill>
              </a:rPr>
              <a:t>GPS</a:t>
            </a:r>
            <a:r>
              <a:rPr lang="zh-CN" altLang="en-US" sz="900" dirty="0" smtClean="0">
                <a:solidFill>
                  <a:schemeClr val="tx1"/>
                </a:solidFill>
              </a:rPr>
              <a:t>所对应的最近出租车站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47" name="矩形 146"/>
          <p:cNvSpPr/>
          <p:nvPr/>
        </p:nvSpPr>
        <p:spPr>
          <a:xfrm>
            <a:off x="2643174" y="1643050"/>
            <a:ext cx="500066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 smtClean="0">
                <a:solidFill>
                  <a:schemeClr val="tx1"/>
                </a:solidFill>
              </a:rPr>
              <a:t>Change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715140" y="285728"/>
            <a:ext cx="1928826" cy="207170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/>
          <p:cNvSpPr/>
          <p:nvPr/>
        </p:nvSpPr>
        <p:spPr>
          <a:xfrm>
            <a:off x="285720" y="2786058"/>
            <a:ext cx="1500198" cy="1857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285720" y="278605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输入框（</a:t>
            </a:r>
            <a:r>
              <a:rPr lang="en-US" altLang="zh-CN" sz="1200" dirty="0" err="1" smtClean="0">
                <a:solidFill>
                  <a:schemeClr val="tx1"/>
                </a:solidFill>
              </a:rPr>
              <a:t>Lyft</a:t>
            </a:r>
            <a:r>
              <a:rPr lang="zh-CN" altLang="en-US" sz="1200" dirty="0" smtClean="0">
                <a:solidFill>
                  <a:schemeClr val="tx1"/>
                </a:solidFill>
              </a:rPr>
              <a:t>界面）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285720" y="3071810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即时提示输入匹配出租车站列表，用户</a:t>
            </a:r>
            <a:r>
              <a:rPr lang="zh-CN" altLang="en-US" sz="1200" dirty="0" smtClean="0"/>
              <a:t>点击某一提示即</a:t>
            </a:r>
            <a:r>
              <a:rPr lang="zh-CN" altLang="en-US" sz="1200" dirty="0" smtClean="0"/>
              <a:t>为选择退回上一界面</a:t>
            </a:r>
            <a:endParaRPr lang="zh-CN" altLang="en-US" sz="1200" dirty="0"/>
          </a:p>
        </p:txBody>
      </p:sp>
      <p:sp>
        <p:nvSpPr>
          <p:cNvPr id="136" name="矩形 135"/>
          <p:cNvSpPr/>
          <p:nvPr/>
        </p:nvSpPr>
        <p:spPr>
          <a:xfrm>
            <a:off x="285720" y="421481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Can’t find? Report a new taxi stand?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2143108" y="2786058"/>
            <a:ext cx="1500198" cy="18573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右箭头 166"/>
          <p:cNvSpPr/>
          <p:nvPr/>
        </p:nvSpPr>
        <p:spPr>
          <a:xfrm>
            <a:off x="1785918" y="4286256"/>
            <a:ext cx="428628" cy="7143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TextBox 167"/>
          <p:cNvSpPr txBox="1"/>
          <p:nvPr/>
        </p:nvSpPr>
        <p:spPr>
          <a:xfrm>
            <a:off x="2143108" y="2857496"/>
            <a:ext cx="15001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/>
              <a:t>Thank you! We have recorded the </a:t>
            </a:r>
            <a:r>
              <a:rPr lang="en-US" altLang="zh-CN" sz="1100" dirty="0" smtClean="0"/>
              <a:t>coordinates of the </a:t>
            </a:r>
            <a:r>
              <a:rPr lang="en-US" altLang="zh-CN" sz="1100" dirty="0" smtClean="0"/>
              <a:t>taxi </a:t>
            </a:r>
            <a:r>
              <a:rPr lang="en-US" altLang="zh-CN" sz="1100" dirty="0" smtClean="0"/>
              <a:t>stand </a:t>
            </a:r>
            <a:r>
              <a:rPr lang="en-US" altLang="zh-CN" sz="1100" dirty="0" smtClean="0"/>
              <a:t>you have proposed </a:t>
            </a:r>
            <a:r>
              <a:rPr lang="en-US" altLang="zh-CN" sz="1100" dirty="0" smtClean="0"/>
              <a:t>and </a:t>
            </a:r>
            <a:r>
              <a:rPr lang="en-US" altLang="zh-CN" sz="1100" dirty="0" smtClean="0"/>
              <a:t>will add in after verifying.</a:t>
            </a:r>
            <a:endParaRPr lang="zh-CN" altLang="en-US" sz="1100" dirty="0"/>
          </a:p>
        </p:txBody>
      </p:sp>
      <p:sp>
        <p:nvSpPr>
          <p:cNvPr id="169" name="矩形 168"/>
          <p:cNvSpPr/>
          <p:nvPr/>
        </p:nvSpPr>
        <p:spPr>
          <a:xfrm>
            <a:off x="2143108" y="4143380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Thank you!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70" name="圆角矩形 169"/>
          <p:cNvSpPr/>
          <p:nvPr/>
        </p:nvSpPr>
        <p:spPr>
          <a:xfrm>
            <a:off x="0" y="2357430"/>
            <a:ext cx="3857620" cy="2357454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TextBox 171"/>
          <p:cNvSpPr txBox="1"/>
          <p:nvPr/>
        </p:nvSpPr>
        <p:spPr>
          <a:xfrm>
            <a:off x="285720" y="2428868"/>
            <a:ext cx="3429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如果显示对应车站不正确，用户可手动搜索更改</a:t>
            </a:r>
            <a:endParaRPr lang="zh-CN" altLang="en-US" sz="1200" dirty="0"/>
          </a:p>
        </p:txBody>
      </p:sp>
      <p:cxnSp>
        <p:nvCxnSpPr>
          <p:cNvPr id="174" name="形状 173"/>
          <p:cNvCxnSpPr>
            <a:stCxn id="147" idx="3"/>
            <a:endCxn id="172" idx="1"/>
          </p:cNvCxnSpPr>
          <p:nvPr/>
        </p:nvCxnSpPr>
        <p:spPr>
          <a:xfrm flipH="1">
            <a:off x="285720" y="1785926"/>
            <a:ext cx="2857520" cy="781442"/>
          </a:xfrm>
          <a:prstGeom prst="bentConnector5">
            <a:avLst>
              <a:gd name="adj1" fmla="val -8000"/>
              <a:gd name="adj2" fmla="val 50280"/>
              <a:gd name="adj3" fmla="val 108000"/>
            </a:avLst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矩形 174"/>
          <p:cNvSpPr/>
          <p:nvPr/>
        </p:nvSpPr>
        <p:spPr>
          <a:xfrm>
            <a:off x="8072462" y="4143380"/>
            <a:ext cx="714380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Amend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77" name="形状 176"/>
          <p:cNvCxnSpPr>
            <a:stCxn id="48" idx="2"/>
            <a:endCxn id="57" idx="1"/>
          </p:cNvCxnSpPr>
          <p:nvPr/>
        </p:nvCxnSpPr>
        <p:spPr>
          <a:xfrm rot="16200000" flipH="1">
            <a:off x="7425637" y="4647329"/>
            <a:ext cx="793584" cy="357190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3214678" y="4714884"/>
            <a:ext cx="1000132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回到主界面</a:t>
            </a:r>
            <a:endParaRPr lang="zh-CN" altLang="en-US" sz="1200" dirty="0"/>
          </a:p>
        </p:txBody>
      </p:sp>
      <p:cxnSp>
        <p:nvCxnSpPr>
          <p:cNvPr id="179" name="形状 178"/>
          <p:cNvCxnSpPr>
            <a:endCxn id="178" idx="1"/>
          </p:cNvCxnSpPr>
          <p:nvPr/>
        </p:nvCxnSpPr>
        <p:spPr>
          <a:xfrm rot="16200000" flipH="1">
            <a:off x="2823957" y="4462663"/>
            <a:ext cx="424252" cy="357190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Documents and Settings\LC\Local Settings\Temporary Internet Files\Content.IE5\A2AI3MUO\MC900442124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4635" y="314313"/>
            <a:ext cx="328605" cy="328605"/>
          </a:xfrm>
          <a:prstGeom prst="rect">
            <a:avLst/>
          </a:prstGeom>
          <a:noFill/>
        </p:spPr>
      </p:pic>
      <p:cxnSp>
        <p:nvCxnSpPr>
          <p:cNvPr id="181" name="肘形连接符 180"/>
          <p:cNvCxnSpPr>
            <a:stCxn id="156" idx="2"/>
            <a:endCxn id="26" idx="0"/>
          </p:cNvCxnSpPr>
          <p:nvPr/>
        </p:nvCxnSpPr>
        <p:spPr>
          <a:xfrm rot="5400000">
            <a:off x="5965041" y="1071546"/>
            <a:ext cx="428628" cy="300039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2437621"/>
            <a:ext cx="8072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“</a:t>
            </a:r>
            <a:r>
              <a:rPr lang="en-US" altLang="zh-CN" sz="1200" dirty="0" smtClean="0"/>
              <a:t>I am the next</a:t>
            </a:r>
            <a:r>
              <a:rPr lang="zh-CN" altLang="en-US" sz="1200" dirty="0" smtClean="0"/>
              <a:t>”按下</a:t>
            </a:r>
            <a:r>
              <a:rPr lang="zh-CN" altLang="en-US" sz="1200" dirty="0" smtClean="0"/>
              <a:t>后</a:t>
            </a:r>
            <a:r>
              <a:rPr lang="en-US" altLang="zh-CN" sz="1200" dirty="0" smtClean="0"/>
              <a:t>popup</a:t>
            </a:r>
            <a:r>
              <a:rPr lang="zh-CN" altLang="en-US" sz="1200" dirty="0" smtClean="0"/>
              <a:t>显示一下界面（</a:t>
            </a:r>
            <a:r>
              <a:rPr lang="zh-CN" altLang="en-US" sz="1200" dirty="0" smtClean="0"/>
              <a:t>先下车和后下车用户显示内容不同）</a:t>
            </a:r>
            <a:endParaRPr lang="zh-CN" altLang="en-US" sz="1200" dirty="0"/>
          </a:p>
        </p:txBody>
      </p:sp>
      <p:sp>
        <p:nvSpPr>
          <p:cNvPr id="14" name="矩形 13"/>
          <p:cNvSpPr/>
          <p:nvPr/>
        </p:nvSpPr>
        <p:spPr>
          <a:xfrm>
            <a:off x="285720" y="4071942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Understand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5720" y="2928934"/>
            <a:ext cx="15001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Welcome Aboard!</a:t>
            </a:r>
          </a:p>
          <a:p>
            <a:r>
              <a:rPr lang="en-US" altLang="zh-CN" sz="1000" dirty="0" smtClean="0"/>
              <a:t>We will reach your destination first. At the time of lighting, please pay xxx half of the amount on the taxi </a:t>
            </a:r>
            <a:r>
              <a:rPr lang="en-US" altLang="zh-CN" sz="1000" dirty="0" smtClean="0"/>
              <a:t>meter.</a:t>
            </a:r>
            <a:endParaRPr lang="zh-CN" altLang="en-US" sz="1000" dirty="0"/>
          </a:p>
        </p:txBody>
      </p:sp>
      <p:sp>
        <p:nvSpPr>
          <p:cNvPr id="24" name="矩形 23"/>
          <p:cNvSpPr/>
          <p:nvPr/>
        </p:nvSpPr>
        <p:spPr>
          <a:xfrm>
            <a:off x="2000232" y="4071942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Understand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00232" y="2928934"/>
            <a:ext cx="1500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smtClean="0"/>
              <a:t>Welcome Aboard!</a:t>
            </a:r>
          </a:p>
          <a:p>
            <a:r>
              <a:rPr lang="en-US" altLang="zh-CN" sz="800" dirty="0" smtClean="0"/>
              <a:t>We will drop off xxx first and continue driving towards your destination. Please collect half of the amount on the taxi meter from xxx when he </a:t>
            </a:r>
            <a:r>
              <a:rPr lang="en-US" altLang="zh-CN" sz="800" dirty="0" smtClean="0"/>
              <a:t>alights  </a:t>
            </a:r>
            <a:r>
              <a:rPr lang="en-US" altLang="zh-CN" sz="800" dirty="0" smtClean="0"/>
              <a:t>and </a:t>
            </a:r>
            <a:r>
              <a:rPr lang="en-US" altLang="zh-CN" sz="800" dirty="0" err="1" smtClean="0"/>
              <a:t>payt</a:t>
            </a:r>
            <a:r>
              <a:rPr lang="en-US" altLang="zh-CN" sz="800" dirty="0" smtClean="0"/>
              <a:t> he </a:t>
            </a:r>
            <a:r>
              <a:rPr lang="en-US" altLang="zh-CN" sz="800" dirty="0" smtClean="0"/>
              <a:t>driver the final fare.</a:t>
            </a:r>
            <a:endParaRPr lang="zh-CN" altLang="en-US" sz="800" dirty="0"/>
          </a:p>
        </p:txBody>
      </p:sp>
      <p:sp>
        <p:nvSpPr>
          <p:cNvPr id="26" name="右箭头 25"/>
          <p:cNvSpPr/>
          <p:nvPr/>
        </p:nvSpPr>
        <p:spPr>
          <a:xfrm>
            <a:off x="3500430" y="3500438"/>
            <a:ext cx="78581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357686" y="3143248"/>
            <a:ext cx="1143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popup</a:t>
            </a:r>
            <a:r>
              <a:rPr lang="zh-CN" altLang="en-US" sz="1400" dirty="0" smtClean="0"/>
              <a:t>“</a:t>
            </a:r>
            <a:r>
              <a:rPr lang="en-US" altLang="zh-CN" sz="1400" dirty="0" smtClean="0"/>
              <a:t>Enjoy the Ride”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3</a:t>
            </a:r>
            <a:r>
              <a:rPr lang="zh-CN" altLang="en-US" sz="1400" dirty="0" smtClean="0"/>
              <a:t>秒后淡化回到主界面</a:t>
            </a:r>
            <a:endParaRPr lang="zh-CN" altLang="en-US" sz="1400" dirty="0"/>
          </a:p>
        </p:txBody>
      </p:sp>
      <p:sp>
        <p:nvSpPr>
          <p:cNvPr id="29" name="矩形 28"/>
          <p:cNvSpPr/>
          <p:nvPr/>
        </p:nvSpPr>
        <p:spPr>
          <a:xfrm>
            <a:off x="214282" y="4714884"/>
            <a:ext cx="8715436" cy="19288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新加坡</a:t>
            </a:r>
            <a:r>
              <a:rPr lang="zh-CN" altLang="en-US" sz="1200" dirty="0" smtClean="0">
                <a:solidFill>
                  <a:schemeClr val="tx1"/>
                </a:solidFill>
              </a:rPr>
              <a:t>出租车计费标准：</a:t>
            </a:r>
            <a:r>
              <a:rPr lang="zh-CN" altLang="en-US" sz="1200" dirty="0" smtClean="0">
                <a:solidFill>
                  <a:srgbClr val="FF0000"/>
                </a:solidFill>
              </a:rPr>
              <a:t>（红色标注的计费时不用考虑）</a:t>
            </a:r>
            <a:endParaRPr lang="en-US" altLang="zh-CN" sz="1200" dirty="0" smtClean="0">
              <a:solidFill>
                <a:srgbClr val="FF0000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一公里以内起步费：</a:t>
            </a:r>
            <a:r>
              <a:rPr lang="en-US" altLang="zh-CN" sz="1200" dirty="0" smtClean="0">
                <a:solidFill>
                  <a:schemeClr val="tx1"/>
                </a:solidFill>
              </a:rPr>
              <a:t>S$3.00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一公里以上十公里以内，每</a:t>
            </a:r>
            <a:r>
              <a:rPr lang="en-US" altLang="zh-CN" sz="1200" dirty="0" smtClean="0">
                <a:solidFill>
                  <a:schemeClr val="tx1"/>
                </a:solidFill>
              </a:rPr>
              <a:t>400</a:t>
            </a:r>
            <a:r>
              <a:rPr lang="zh-CN" altLang="en-US" sz="1200" dirty="0" smtClean="0">
                <a:solidFill>
                  <a:schemeClr val="tx1"/>
                </a:solidFill>
              </a:rPr>
              <a:t>米：</a:t>
            </a:r>
            <a:r>
              <a:rPr lang="en-US" altLang="zh-CN" sz="1200" dirty="0" smtClean="0">
                <a:solidFill>
                  <a:schemeClr val="tx1"/>
                </a:solidFill>
              </a:rPr>
              <a:t>S$0.22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十公里以上每</a:t>
            </a:r>
            <a:r>
              <a:rPr lang="en-US" altLang="zh-CN" sz="1200" dirty="0" smtClean="0">
                <a:solidFill>
                  <a:schemeClr val="tx1"/>
                </a:solidFill>
              </a:rPr>
              <a:t>350</a:t>
            </a:r>
            <a:r>
              <a:rPr lang="zh-CN" altLang="en-US" sz="1200" dirty="0" smtClean="0">
                <a:solidFill>
                  <a:schemeClr val="tx1"/>
                </a:solidFill>
              </a:rPr>
              <a:t>米：</a:t>
            </a:r>
            <a:r>
              <a:rPr lang="en-US" altLang="zh-CN" sz="1200" dirty="0" smtClean="0">
                <a:solidFill>
                  <a:schemeClr val="tx1"/>
                </a:solidFill>
              </a:rPr>
              <a:t>S$0.22</a:t>
            </a:r>
          </a:p>
          <a:p>
            <a:r>
              <a:rPr lang="zh-CN" altLang="en-US" sz="1200" dirty="0" smtClean="0">
                <a:solidFill>
                  <a:srgbClr val="FF0000"/>
                </a:solidFill>
              </a:rPr>
              <a:t>每</a:t>
            </a:r>
            <a:r>
              <a:rPr lang="en-US" altLang="zh-CN" sz="1200" dirty="0" smtClean="0">
                <a:solidFill>
                  <a:srgbClr val="FF0000"/>
                </a:solidFill>
              </a:rPr>
              <a:t>45</a:t>
            </a:r>
            <a:r>
              <a:rPr lang="zh-CN" altLang="en-US" sz="1200" dirty="0" smtClean="0">
                <a:solidFill>
                  <a:srgbClr val="FF0000"/>
                </a:solidFill>
              </a:rPr>
              <a:t>秒等待：</a:t>
            </a:r>
            <a:r>
              <a:rPr lang="en-US" altLang="zh-CN" sz="1200" dirty="0" smtClean="0">
                <a:solidFill>
                  <a:srgbClr val="FF0000"/>
                </a:solidFill>
              </a:rPr>
              <a:t>S$0.22</a:t>
            </a:r>
          </a:p>
          <a:p>
            <a:endParaRPr lang="en-US" altLang="zh-CN" sz="1200" dirty="0" smtClean="0">
              <a:solidFill>
                <a:srgbClr val="FF0000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高峰期及夜间额外附加费</a:t>
            </a:r>
            <a:r>
              <a:rPr lang="zh-CN" altLang="en-US" sz="1200" dirty="0" smtClean="0">
                <a:solidFill>
                  <a:schemeClr val="tx1"/>
                </a:solidFill>
                <a:sym typeface="Wingdings" pitchFamily="2" charset="2"/>
              </a:rPr>
              <a:t>： （以上车时间为准，我们考虑从按下“</a:t>
            </a:r>
            <a:r>
              <a:rPr lang="en-US" altLang="zh-CN" sz="1200" dirty="0" smtClean="0">
                <a:solidFill>
                  <a:schemeClr val="tx1"/>
                </a:solidFill>
                <a:sym typeface="Wingdings" pitchFamily="2" charset="2"/>
              </a:rPr>
              <a:t>I am the next</a:t>
            </a:r>
            <a:r>
              <a:rPr lang="zh-CN" altLang="en-US" sz="1200" dirty="0" smtClean="0">
                <a:solidFill>
                  <a:schemeClr val="tx1"/>
                </a:solidFill>
                <a:sym typeface="Wingdings" pitchFamily="2" charset="2"/>
              </a:rPr>
              <a:t>”算）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周一到周五，上午</a:t>
            </a:r>
            <a:r>
              <a:rPr lang="en-US" altLang="zh-CN" sz="1200" dirty="0" smtClean="0">
                <a:solidFill>
                  <a:schemeClr val="tx1"/>
                </a:solidFill>
              </a:rPr>
              <a:t>6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30</a:t>
            </a:r>
            <a:r>
              <a:rPr lang="zh-CN" altLang="en-US" sz="1200" dirty="0" smtClean="0">
                <a:solidFill>
                  <a:schemeClr val="tx1"/>
                </a:solidFill>
              </a:rPr>
              <a:t>到</a:t>
            </a:r>
            <a:r>
              <a:rPr lang="en-US" altLang="zh-CN" sz="1200" dirty="0" smtClean="0">
                <a:solidFill>
                  <a:schemeClr val="tx1"/>
                </a:solidFill>
              </a:rPr>
              <a:t>9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30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25%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每天晚上</a:t>
            </a:r>
            <a:r>
              <a:rPr lang="en-US" altLang="zh-CN" sz="1200" dirty="0" smtClean="0">
                <a:solidFill>
                  <a:schemeClr val="tx1"/>
                </a:solidFill>
              </a:rPr>
              <a:t>6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00</a:t>
            </a:r>
            <a:r>
              <a:rPr lang="zh-CN" altLang="en-US" sz="1200" dirty="0" smtClean="0">
                <a:solidFill>
                  <a:schemeClr val="tx1"/>
                </a:solidFill>
              </a:rPr>
              <a:t>到</a:t>
            </a:r>
            <a:r>
              <a:rPr lang="en-US" altLang="zh-CN" sz="1200" dirty="0" smtClean="0">
                <a:solidFill>
                  <a:schemeClr val="tx1"/>
                </a:solidFill>
              </a:rPr>
              <a:t>12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00</a:t>
            </a:r>
            <a:r>
              <a:rPr lang="zh-CN" altLang="en-US" sz="1200" dirty="0" smtClean="0">
                <a:solidFill>
                  <a:schemeClr val="tx1"/>
                </a:solidFill>
              </a:rPr>
              <a:t>（凌晨）：</a:t>
            </a:r>
            <a:r>
              <a:rPr lang="en-US" altLang="zh-CN" sz="1200" dirty="0" smtClean="0">
                <a:solidFill>
                  <a:schemeClr val="tx1"/>
                </a:solidFill>
              </a:rPr>
              <a:t>25%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每天晚上</a:t>
            </a:r>
            <a:r>
              <a:rPr lang="en-US" altLang="zh-CN" sz="1200" dirty="0" smtClean="0">
                <a:solidFill>
                  <a:schemeClr val="tx1"/>
                </a:solidFill>
              </a:rPr>
              <a:t>12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00</a:t>
            </a:r>
            <a:r>
              <a:rPr lang="zh-CN" altLang="en-US" sz="1200" dirty="0" smtClean="0">
                <a:solidFill>
                  <a:schemeClr val="tx1"/>
                </a:solidFill>
              </a:rPr>
              <a:t>（凌成）到第二天早上</a:t>
            </a:r>
            <a:r>
              <a:rPr lang="en-US" altLang="zh-CN" sz="1200" dirty="0" smtClean="0">
                <a:solidFill>
                  <a:schemeClr val="tx1"/>
                </a:solidFill>
              </a:rPr>
              <a:t>5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59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50%</a:t>
            </a:r>
          </a:p>
          <a:p>
            <a:endParaRPr lang="en-US" altLang="zh-CN" sz="1200" dirty="0" smtClean="0">
              <a:solidFill>
                <a:schemeClr val="tx1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5643570" y="2786058"/>
            <a:ext cx="1500198" cy="1857388"/>
            <a:chOff x="500034" y="571480"/>
            <a:chExt cx="1500198" cy="1857388"/>
          </a:xfrm>
        </p:grpSpPr>
        <p:sp>
          <p:nvSpPr>
            <p:cNvPr id="40" name="矩形 3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rgbClr val="FF0000"/>
                  </a:solidFill>
                </a:rPr>
                <a:t>       Ride2gather  </a:t>
              </a:r>
              <a:endParaRPr lang="zh-CN" altLang="en-US" sz="1000" dirty="0">
                <a:solidFill>
                  <a:srgbClr val="FF0000"/>
                </a:solidFill>
              </a:endParaRPr>
            </a:p>
          </p:txBody>
        </p:sp>
        <p:grpSp>
          <p:nvGrpSpPr>
            <p:cNvPr id="4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/>
          <p:cNvSpPr txBox="1"/>
          <p:nvPr/>
        </p:nvSpPr>
        <p:spPr>
          <a:xfrm>
            <a:off x="5643570" y="3071810"/>
            <a:ext cx="1428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一个小时后系统发出提示信息要求给予对方</a:t>
            </a:r>
            <a:r>
              <a:rPr lang="en-US" altLang="zh-CN" dirty="0" smtClean="0">
                <a:solidFill>
                  <a:srgbClr val="FF0000"/>
                </a:solidFill>
              </a:rPr>
              <a:t>rating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8596" y="-24"/>
            <a:ext cx="41434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4) </a:t>
            </a:r>
            <a:r>
              <a:rPr lang="zh-CN" altLang="en-US" sz="1200" dirty="0" smtClean="0"/>
              <a:t>配对页面（如果用户已加入队列，则直接显示配对</a:t>
            </a:r>
            <a:r>
              <a:rPr lang="zh-CN" altLang="en-US" sz="1200" dirty="0" smtClean="0"/>
              <a:t>页面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grpSp>
        <p:nvGrpSpPr>
          <p:cNvPr id="34" name="组合 33"/>
          <p:cNvGrpSpPr/>
          <p:nvPr/>
        </p:nvGrpSpPr>
        <p:grpSpPr>
          <a:xfrm>
            <a:off x="1000100" y="357166"/>
            <a:ext cx="1500198" cy="1857388"/>
            <a:chOff x="500034" y="571480"/>
            <a:chExt cx="1500198" cy="1857388"/>
          </a:xfrm>
        </p:grpSpPr>
        <p:sp>
          <p:nvSpPr>
            <p:cNvPr id="35" name="矩形 3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37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38" name="直接连接符 37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矩形 48"/>
          <p:cNvSpPr/>
          <p:nvPr/>
        </p:nvSpPr>
        <p:spPr>
          <a:xfrm>
            <a:off x="1000100" y="171448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Leave the Q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圆角矩形标注 49"/>
          <p:cNvSpPr/>
          <p:nvPr/>
        </p:nvSpPr>
        <p:spPr>
          <a:xfrm>
            <a:off x="-32" y="571480"/>
            <a:ext cx="857256" cy="1714512"/>
          </a:xfrm>
          <a:prstGeom prst="wedgeRoundRectCallout">
            <a:avLst>
              <a:gd name="adj1" fmla="val 93389"/>
              <a:gd name="adj2" fmla="val 631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 smtClean="0">
                <a:solidFill>
                  <a:schemeClr val="tx1"/>
                </a:solidFill>
              </a:rPr>
              <a:t>如果没有找到配对：</a:t>
            </a:r>
            <a:r>
              <a:rPr lang="en-US" altLang="zh-CN" sz="1050" dirty="0" smtClean="0">
                <a:solidFill>
                  <a:schemeClr val="tx1"/>
                </a:solidFill>
              </a:rPr>
              <a:t>Please be patient, we will let you know once a match is found.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71538" y="714356"/>
            <a:ext cx="1357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Match found:</a:t>
            </a:r>
          </a:p>
          <a:p>
            <a:r>
              <a:rPr lang="zh-CN" altLang="en-US" sz="1000" dirty="0" smtClean="0"/>
              <a:t>对方的基本信息显示</a:t>
            </a:r>
            <a:endParaRPr lang="en-US" altLang="zh-CN" sz="1000" dirty="0" smtClean="0"/>
          </a:p>
          <a:p>
            <a:r>
              <a:rPr lang="zh-CN" altLang="en-US" sz="1000" dirty="0" smtClean="0"/>
              <a:t>。。。。。</a:t>
            </a:r>
            <a:endParaRPr lang="en-US" altLang="zh-CN" sz="1000" dirty="0" smtClean="0"/>
          </a:p>
          <a:p>
            <a:r>
              <a:rPr lang="zh-CN" altLang="en-US" sz="1000" dirty="0" smtClean="0"/>
              <a:t>。。。。。</a:t>
            </a:r>
            <a:endParaRPr lang="en-US" altLang="zh-CN" sz="1000" dirty="0" smtClean="0"/>
          </a:p>
          <a:p>
            <a:r>
              <a:rPr lang="en-US" altLang="zh-CN" sz="1000" dirty="0" smtClean="0"/>
              <a:t>Rating</a:t>
            </a:r>
            <a:endParaRPr lang="zh-CN" altLang="en-US" sz="1000" dirty="0"/>
          </a:p>
        </p:txBody>
      </p:sp>
      <p:sp>
        <p:nvSpPr>
          <p:cNvPr id="52" name="矩形 51"/>
          <p:cNvSpPr/>
          <p:nvPr/>
        </p:nvSpPr>
        <p:spPr>
          <a:xfrm>
            <a:off x="1714480" y="1142984"/>
            <a:ext cx="714380" cy="357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View Route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2643174" y="357166"/>
            <a:ext cx="1500198" cy="1857388"/>
            <a:chOff x="500034" y="571480"/>
            <a:chExt cx="1500198" cy="1857388"/>
          </a:xfrm>
        </p:grpSpPr>
        <p:sp>
          <p:nvSpPr>
            <p:cNvPr id="54" name="矩形 53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56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57" name="直接连接符 56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TextBox 59"/>
          <p:cNvSpPr txBox="1"/>
          <p:nvPr/>
        </p:nvSpPr>
        <p:spPr>
          <a:xfrm>
            <a:off x="2714612" y="642918"/>
            <a:ext cx="1357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路线图，大概节省费用。如果该用户第二个下车，告知大概延误时间（分钟）</a:t>
            </a:r>
            <a:endParaRPr lang="zh-CN" altLang="en-US" sz="1200" dirty="0"/>
          </a:p>
        </p:txBody>
      </p:sp>
      <p:sp>
        <p:nvSpPr>
          <p:cNvPr id="61" name="矩形 60"/>
          <p:cNvSpPr/>
          <p:nvPr/>
        </p:nvSpPr>
        <p:spPr>
          <a:xfrm>
            <a:off x="2643174" y="1643050"/>
            <a:ext cx="857256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Agree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500430" y="1643050"/>
            <a:ext cx="642942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Reject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000760" y="357166"/>
            <a:ext cx="1500198" cy="1857388"/>
            <a:chOff x="500034" y="571480"/>
            <a:chExt cx="1500198" cy="1857388"/>
          </a:xfrm>
        </p:grpSpPr>
        <p:sp>
          <p:nvSpPr>
            <p:cNvPr id="64" name="矩形 63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66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67" name="直接连接符 66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0" name="TextBox 69"/>
          <p:cNvSpPr txBox="1"/>
          <p:nvPr/>
        </p:nvSpPr>
        <p:spPr>
          <a:xfrm>
            <a:off x="6072198" y="616375"/>
            <a:ext cx="14287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前端用户：显示：</a:t>
            </a:r>
            <a:r>
              <a:rPr lang="en-US" altLang="zh-CN" sz="1000" dirty="0" smtClean="0"/>
              <a:t>Waiting for the other party to accept</a:t>
            </a:r>
            <a:r>
              <a:rPr lang="zh-CN" altLang="en-US" sz="1000" dirty="0" smtClean="0"/>
              <a:t>，同时推送</a:t>
            </a:r>
            <a:r>
              <a:rPr lang="zh-CN" altLang="en-US" sz="1000" dirty="0" smtClean="0">
                <a:solidFill>
                  <a:srgbClr val="FF0000"/>
                </a:solidFill>
              </a:rPr>
              <a:t>配对页面一</a:t>
            </a:r>
            <a:r>
              <a:rPr lang="zh-CN" altLang="en-US" sz="1000" dirty="0" smtClean="0"/>
              <a:t>给后端用户</a:t>
            </a:r>
            <a:r>
              <a:rPr lang="en-US" altLang="zh-CN" sz="1000" dirty="0" smtClean="0"/>
              <a:t>; </a:t>
            </a:r>
            <a:r>
              <a:rPr lang="zh-CN" altLang="en-US" sz="1000" dirty="0" smtClean="0"/>
              <a:t>后端用户：显示成功配对，提供按钮查看更多对方信息。</a:t>
            </a:r>
            <a:endParaRPr lang="zh-CN" altLang="en-US" sz="1000" dirty="0"/>
          </a:p>
        </p:txBody>
      </p:sp>
      <p:sp>
        <p:nvSpPr>
          <p:cNvPr id="71" name="矩形 70"/>
          <p:cNvSpPr/>
          <p:nvPr/>
        </p:nvSpPr>
        <p:spPr>
          <a:xfrm>
            <a:off x="6000760" y="1785926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More about the other party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7572396" y="357166"/>
            <a:ext cx="1500198" cy="1857388"/>
            <a:chOff x="500034" y="571480"/>
            <a:chExt cx="1500198" cy="1857388"/>
          </a:xfrm>
        </p:grpSpPr>
        <p:sp>
          <p:nvSpPr>
            <p:cNvPr id="73" name="矩形 72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75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9" name="矩形 78"/>
          <p:cNvSpPr/>
          <p:nvPr/>
        </p:nvSpPr>
        <p:spPr>
          <a:xfrm>
            <a:off x="7572396" y="1785926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I am the next to board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7572396" y="642918"/>
            <a:ext cx="14287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对方详细信息</a:t>
            </a:r>
            <a:endParaRPr lang="en-US" altLang="zh-CN" sz="1000" dirty="0" smtClean="0"/>
          </a:p>
          <a:p>
            <a:r>
              <a:rPr lang="zh-CN" altLang="en-US" sz="1000" dirty="0" smtClean="0"/>
              <a:t>并系统分配配对编号</a:t>
            </a:r>
            <a:endParaRPr lang="en-US" altLang="zh-CN" sz="1000" dirty="0" smtClean="0"/>
          </a:p>
          <a:p>
            <a:endParaRPr lang="en-US" altLang="zh-CN" sz="1000" dirty="0" smtClean="0"/>
          </a:p>
          <a:p>
            <a:r>
              <a:rPr lang="zh-CN" altLang="en-US" sz="1000" dirty="0" smtClean="0"/>
              <a:t>前端用户给予以下按钮提示</a:t>
            </a:r>
            <a:endParaRPr lang="zh-CN" altLang="en-US" sz="1000" dirty="0"/>
          </a:p>
        </p:txBody>
      </p:sp>
      <p:grpSp>
        <p:nvGrpSpPr>
          <p:cNvPr id="81" name="组合 80"/>
          <p:cNvGrpSpPr/>
          <p:nvPr/>
        </p:nvGrpSpPr>
        <p:grpSpPr>
          <a:xfrm>
            <a:off x="4429124" y="357166"/>
            <a:ext cx="1500198" cy="1857388"/>
            <a:chOff x="500034" y="571480"/>
            <a:chExt cx="1500198" cy="1857388"/>
          </a:xfrm>
        </p:grpSpPr>
        <p:sp>
          <p:nvSpPr>
            <p:cNvPr id="82" name="矩形 81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84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85" name="直接连接符 84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接连接符 86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9" name="矩形 88"/>
          <p:cNvSpPr/>
          <p:nvPr/>
        </p:nvSpPr>
        <p:spPr>
          <a:xfrm>
            <a:off x="4429124" y="1714488"/>
            <a:ext cx="714380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Confirm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429124" y="642918"/>
            <a:ext cx="13573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用户</a:t>
            </a:r>
            <a:r>
              <a:rPr lang="en-US" altLang="zh-CN" sz="1400" dirty="0" smtClean="0"/>
              <a:t>confirm</a:t>
            </a:r>
            <a:r>
              <a:rPr lang="zh-CN" altLang="en-US" sz="1400" dirty="0" smtClean="0"/>
              <a:t>选择</a:t>
            </a:r>
            <a:r>
              <a:rPr lang="en-US" altLang="zh-CN" sz="1400" dirty="0" smtClean="0"/>
              <a:t>-accept, reject, leave Q</a:t>
            </a:r>
            <a:endParaRPr lang="zh-CN" altLang="en-US" sz="1400" dirty="0"/>
          </a:p>
        </p:txBody>
      </p:sp>
      <p:sp>
        <p:nvSpPr>
          <p:cNvPr id="91" name="TextBox 90"/>
          <p:cNvSpPr txBox="1"/>
          <p:nvPr/>
        </p:nvSpPr>
        <p:spPr>
          <a:xfrm>
            <a:off x="1214414" y="2214554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（配对页面一）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92" name="右箭头 91"/>
          <p:cNvSpPr/>
          <p:nvPr/>
        </p:nvSpPr>
        <p:spPr>
          <a:xfrm>
            <a:off x="2428860" y="1285860"/>
            <a:ext cx="214314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下弧形箭头 92"/>
          <p:cNvSpPr/>
          <p:nvPr/>
        </p:nvSpPr>
        <p:spPr>
          <a:xfrm>
            <a:off x="2357422" y="1928826"/>
            <a:ext cx="2500330" cy="714356"/>
          </a:xfrm>
          <a:prstGeom prst="curvedUp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5" name="形状 94"/>
          <p:cNvCxnSpPr>
            <a:stCxn id="62" idx="2"/>
            <a:endCxn id="91" idx="3"/>
          </p:cNvCxnSpPr>
          <p:nvPr/>
        </p:nvCxnSpPr>
        <p:spPr>
          <a:xfrm rot="5400000">
            <a:off x="2877536" y="1408689"/>
            <a:ext cx="495690" cy="1393041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矩形 98"/>
          <p:cNvSpPr/>
          <p:nvPr/>
        </p:nvSpPr>
        <p:spPr>
          <a:xfrm>
            <a:off x="5143504" y="1714488"/>
            <a:ext cx="78581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Return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929322" y="0"/>
            <a:ext cx="300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Accept</a:t>
            </a:r>
            <a:r>
              <a:rPr lang="zh-CN" altLang="en-US" sz="1400" dirty="0" smtClean="0"/>
              <a:t>后</a:t>
            </a:r>
            <a:endParaRPr lang="zh-CN" altLang="en-US" sz="1400" dirty="0"/>
          </a:p>
        </p:txBody>
      </p:sp>
      <p:cxnSp>
        <p:nvCxnSpPr>
          <p:cNvPr id="102" name="直接箭头连接符 101"/>
          <p:cNvCxnSpPr/>
          <p:nvPr/>
        </p:nvCxnSpPr>
        <p:spPr>
          <a:xfrm rot="5400000">
            <a:off x="8465371" y="2321711"/>
            <a:ext cx="642942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102"/>
          <p:cNvSpPr/>
          <p:nvPr/>
        </p:nvSpPr>
        <p:spPr>
          <a:xfrm>
            <a:off x="8001024" y="2643182"/>
            <a:ext cx="1071570" cy="785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后端用户手机声音及</a:t>
            </a:r>
            <a:r>
              <a:rPr lang="en-US" altLang="zh-CN" sz="1200" dirty="0" smtClean="0">
                <a:solidFill>
                  <a:schemeClr val="tx1"/>
                </a:solidFill>
              </a:rPr>
              <a:t>popup</a:t>
            </a:r>
            <a:r>
              <a:rPr lang="zh-CN" altLang="en-US" sz="1200" dirty="0" smtClean="0">
                <a:solidFill>
                  <a:schemeClr val="tx1"/>
                </a:solidFill>
              </a:rPr>
              <a:t>提示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04" name="直接箭头连接符 103"/>
          <p:cNvCxnSpPr/>
          <p:nvPr/>
        </p:nvCxnSpPr>
        <p:spPr>
          <a:xfrm rot="5400000">
            <a:off x="6572264" y="2143116"/>
            <a:ext cx="285752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/>
          <p:nvPr/>
        </p:nvSpPr>
        <p:spPr>
          <a:xfrm>
            <a:off x="6286512" y="2285992"/>
            <a:ext cx="1643074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双方均同意后扣</a:t>
            </a:r>
            <a:r>
              <a:rPr lang="en-US" altLang="zh-CN" sz="1200" dirty="0" smtClean="0">
                <a:solidFill>
                  <a:schemeClr val="tx1"/>
                </a:solidFill>
              </a:rPr>
              <a:t>1</a:t>
            </a:r>
            <a:r>
              <a:rPr lang="zh-CN" altLang="en-US" sz="1200" dirty="0" smtClean="0">
                <a:solidFill>
                  <a:schemeClr val="tx1"/>
                </a:solidFill>
              </a:rPr>
              <a:t>点数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pic>
        <p:nvPicPr>
          <p:cNvPr id="108" name="Picture 2" descr="C:\Documents and Settings\LC\Local Settings\Temporary Internet Files\Content.IE5\A2AI3MUO\MC900442124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6578" y="2786058"/>
            <a:ext cx="328605" cy="3286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14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5) </a:t>
            </a:r>
            <a:r>
              <a:rPr lang="zh-CN" altLang="en-US" sz="1200" dirty="0" smtClean="0"/>
              <a:t>更多选项页面（点击主页面左上角三横线，页面向右移动，露出更多选项首页面，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页面设计参考</a:t>
            </a:r>
            <a:r>
              <a:rPr lang="en-US" altLang="zh-CN" sz="1200" b="1" dirty="0" err="1" smtClean="0">
                <a:solidFill>
                  <a:srgbClr val="FF0000"/>
                </a:solidFill>
              </a:rPr>
              <a:t>Lyft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sp>
        <p:nvSpPr>
          <p:cNvPr id="6" name="矩形 5"/>
          <p:cNvSpPr/>
          <p:nvPr/>
        </p:nvSpPr>
        <p:spPr>
          <a:xfrm>
            <a:off x="1071538" y="4714884"/>
            <a:ext cx="1500198" cy="1857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28596" y="4366447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6) </a:t>
            </a:r>
            <a:r>
              <a:rPr lang="zh-CN" altLang="en-US" sz="1200" dirty="0" smtClean="0"/>
              <a:t>点数购买页面</a:t>
            </a:r>
            <a:endParaRPr lang="zh-CN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142976" y="5795207"/>
            <a:ext cx="13573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3</a:t>
            </a:r>
            <a:r>
              <a:rPr lang="zh-CN" altLang="en-US" sz="1200" dirty="0" smtClean="0"/>
              <a:t>种点数套餐选择</a:t>
            </a:r>
            <a:endParaRPr lang="en-US" altLang="zh-CN" sz="1200" dirty="0" smtClean="0"/>
          </a:p>
          <a:p>
            <a:endParaRPr lang="en-US" altLang="zh-CN" sz="1200" dirty="0" smtClean="0"/>
          </a:p>
          <a:p>
            <a:endParaRPr lang="zh-CN" altLang="en-US" sz="1200" dirty="0"/>
          </a:p>
        </p:txBody>
      </p:sp>
      <p:sp>
        <p:nvSpPr>
          <p:cNvPr id="16" name="矩形 15"/>
          <p:cNvSpPr/>
          <p:nvPr/>
        </p:nvSpPr>
        <p:spPr>
          <a:xfrm>
            <a:off x="1142976" y="4857760"/>
            <a:ext cx="1357322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/>
              <a:t>Post a </a:t>
            </a:r>
            <a:r>
              <a:rPr lang="en-US" altLang="zh-CN" sz="1000" dirty="0" err="1" smtClean="0"/>
              <a:t>facebook</a:t>
            </a:r>
            <a:r>
              <a:rPr lang="en-US" altLang="zh-CN" sz="1000" dirty="0" smtClean="0"/>
              <a:t> to gain 1 credit</a:t>
            </a:r>
            <a:endParaRPr lang="zh-CN" altLang="en-US" sz="1000" dirty="0"/>
          </a:p>
        </p:txBody>
      </p:sp>
      <p:sp>
        <p:nvSpPr>
          <p:cNvPr id="17" name="圆角矩形标注 16"/>
          <p:cNvSpPr/>
          <p:nvPr/>
        </p:nvSpPr>
        <p:spPr>
          <a:xfrm>
            <a:off x="0" y="4714884"/>
            <a:ext cx="928662" cy="2143116"/>
          </a:xfrm>
          <a:prstGeom prst="wedgeRoundRectCallout">
            <a:avLst>
              <a:gd name="adj1" fmla="val 79268"/>
              <a:gd name="adj2" fmla="val -3201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/>
                </a:solidFill>
              </a:rPr>
              <a:t>内含即时功能，需距离上一次</a:t>
            </a:r>
            <a:r>
              <a:rPr lang="en-US" altLang="zh-CN" sz="1000" dirty="0" smtClean="0">
                <a:solidFill>
                  <a:schemeClr val="tx1"/>
                </a:solidFill>
              </a:rPr>
              <a:t>post</a:t>
            </a:r>
            <a:r>
              <a:rPr lang="zh-CN" altLang="en-US" sz="1000" dirty="0" smtClean="0">
                <a:solidFill>
                  <a:schemeClr val="tx1"/>
                </a:solidFill>
              </a:rPr>
              <a:t>至少</a:t>
            </a:r>
            <a:r>
              <a:rPr lang="en-US" altLang="zh-CN" sz="1000" dirty="0" smtClean="0">
                <a:solidFill>
                  <a:schemeClr val="tx1"/>
                </a:solidFill>
              </a:rPr>
              <a:t>168</a:t>
            </a:r>
            <a:r>
              <a:rPr lang="zh-CN" altLang="en-US" sz="1000" dirty="0" smtClean="0">
                <a:solidFill>
                  <a:schemeClr val="tx1"/>
                </a:solidFill>
              </a:rPr>
              <a:t>小时，否则该按钮显示灰色，且按钮上提示距下次时间。邀请朋友随时加入都可以加点数</a:t>
            </a:r>
            <a:endParaRPr lang="en-US" altLang="zh-CN" sz="1000" dirty="0" smtClean="0">
              <a:solidFill>
                <a:schemeClr val="tx1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2500298" y="6000768"/>
            <a:ext cx="357190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000364" y="5506066"/>
            <a:ext cx="1714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要求输入密码信息进行</a:t>
            </a:r>
            <a:r>
              <a:rPr lang="en-US" altLang="zh-CN" dirty="0" smtClean="0"/>
              <a:t>in-app purchase</a:t>
            </a:r>
            <a:endParaRPr lang="zh-CN" altLang="en-US" dirty="0"/>
          </a:p>
        </p:txBody>
      </p:sp>
      <p:sp>
        <p:nvSpPr>
          <p:cNvPr id="20" name="右箭头 19"/>
          <p:cNvSpPr/>
          <p:nvPr/>
        </p:nvSpPr>
        <p:spPr>
          <a:xfrm>
            <a:off x="4786314" y="5715016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357818" y="4786322"/>
            <a:ext cx="1500198" cy="1857388"/>
            <a:chOff x="500034" y="571480"/>
            <a:chExt cx="1500198" cy="1857388"/>
          </a:xfrm>
        </p:grpSpPr>
        <p:sp>
          <p:nvSpPr>
            <p:cNvPr id="22" name="矩形 21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Ride2gather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26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5357818" y="5072074"/>
            <a:ext cx="15001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告知购买成功或免费获得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点，显示</a:t>
            </a:r>
            <a:r>
              <a:rPr lang="en-US" altLang="zh-CN" sz="1600" dirty="0" smtClean="0"/>
              <a:t>credit balance</a:t>
            </a:r>
            <a:endParaRPr lang="zh-CN" altLang="en-US" sz="1600" dirty="0"/>
          </a:p>
        </p:txBody>
      </p:sp>
      <p:sp>
        <p:nvSpPr>
          <p:cNvPr id="31" name="矩形 30"/>
          <p:cNvSpPr/>
          <p:nvPr/>
        </p:nvSpPr>
        <p:spPr>
          <a:xfrm>
            <a:off x="5357818" y="6143644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Start Saving More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6858016" y="6215082"/>
            <a:ext cx="428628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358082" y="606006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回到主页面</a:t>
            </a:r>
            <a:endParaRPr lang="zh-CN" altLang="en-US" dirty="0"/>
          </a:p>
        </p:txBody>
      </p:sp>
      <p:sp>
        <p:nvSpPr>
          <p:cNvPr id="35" name="矩形 34"/>
          <p:cNvSpPr/>
          <p:nvPr/>
        </p:nvSpPr>
        <p:spPr>
          <a:xfrm>
            <a:off x="571472" y="428604"/>
            <a:ext cx="1500198" cy="1857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上弧形箭头 43"/>
          <p:cNvSpPr/>
          <p:nvPr/>
        </p:nvSpPr>
        <p:spPr>
          <a:xfrm>
            <a:off x="2500298" y="4500570"/>
            <a:ext cx="2928958" cy="71438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1472" y="500042"/>
            <a:ext cx="15001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Return to Main</a:t>
            </a:r>
            <a:endParaRPr lang="en-US" altLang="zh-CN" sz="1000" dirty="0" smtClean="0"/>
          </a:p>
          <a:p>
            <a:r>
              <a:rPr lang="en-US" altLang="zh-CN" sz="1000" dirty="0" smtClean="0"/>
              <a:t>Profile</a:t>
            </a:r>
          </a:p>
          <a:p>
            <a:r>
              <a:rPr lang="en-US" altLang="zh-CN" sz="1000" dirty="0" smtClean="0"/>
              <a:t>Credits</a:t>
            </a:r>
          </a:p>
          <a:p>
            <a:r>
              <a:rPr lang="en-US" altLang="zh-CN" sz="1000" dirty="0" smtClean="0">
                <a:solidFill>
                  <a:srgbClr val="FF0000"/>
                </a:solidFill>
              </a:rPr>
              <a:t>Tell a friend (SMS -</a:t>
            </a:r>
            <a:r>
              <a:rPr lang="en-US" altLang="zh-CN" sz="1000" b="1" dirty="0" err="1" smtClean="0">
                <a:solidFill>
                  <a:srgbClr val="FF0000"/>
                </a:solidFill>
              </a:rPr>
              <a:t>Lyft</a:t>
            </a:r>
            <a:r>
              <a:rPr lang="en-US" altLang="zh-CN" sz="1000" b="1" dirty="0" smtClean="0">
                <a:solidFill>
                  <a:srgbClr val="FF0000"/>
                </a:solidFill>
              </a:rPr>
              <a:t>)</a:t>
            </a:r>
            <a:endParaRPr lang="en-US" altLang="zh-CN" sz="1000" dirty="0" smtClean="0">
              <a:solidFill>
                <a:srgbClr val="FF0000"/>
              </a:solidFill>
            </a:endParaRPr>
          </a:p>
          <a:p>
            <a:r>
              <a:rPr lang="en-US" altLang="zh-CN" sz="1000" dirty="0" smtClean="0"/>
              <a:t>Sharing Criteria</a:t>
            </a:r>
          </a:p>
          <a:p>
            <a:r>
              <a:rPr lang="en-US" altLang="zh-CN" sz="1000" dirty="0" smtClean="0">
                <a:solidFill>
                  <a:srgbClr val="FF0000"/>
                </a:solidFill>
              </a:rPr>
              <a:t>History and </a:t>
            </a:r>
            <a:r>
              <a:rPr lang="en-US" altLang="zh-CN" sz="1000" dirty="0" smtClean="0">
                <a:solidFill>
                  <a:srgbClr val="FF0000"/>
                </a:solidFill>
              </a:rPr>
              <a:t>Rating</a:t>
            </a:r>
          </a:p>
          <a:p>
            <a:r>
              <a:rPr lang="en-US" altLang="zh-CN" sz="1000" dirty="0" smtClean="0">
                <a:solidFill>
                  <a:srgbClr val="FF0000"/>
                </a:solidFill>
              </a:rPr>
              <a:t>Messages(2)</a:t>
            </a:r>
            <a:endParaRPr lang="en-US" altLang="zh-CN" sz="1000" dirty="0" smtClean="0">
              <a:solidFill>
                <a:srgbClr val="FF0000"/>
              </a:solidFill>
            </a:endParaRPr>
          </a:p>
          <a:p>
            <a:r>
              <a:rPr lang="en-US" altLang="zh-CN" sz="1000" dirty="0" smtClean="0">
                <a:solidFill>
                  <a:srgbClr val="FF0000"/>
                </a:solidFill>
              </a:rPr>
              <a:t>Help</a:t>
            </a:r>
          </a:p>
          <a:p>
            <a:endParaRPr lang="en-US" altLang="zh-CN" sz="1000" dirty="0" smtClean="0"/>
          </a:p>
          <a:p>
            <a:r>
              <a:rPr lang="zh-CN" altLang="en-US" sz="1000" dirty="0" smtClean="0">
                <a:solidFill>
                  <a:srgbClr val="FF0000"/>
                </a:solidFill>
              </a:rPr>
              <a:t>联系方式，网站等信息</a:t>
            </a:r>
            <a:endParaRPr lang="en-US" altLang="zh-CN" sz="1000" dirty="0" smtClean="0">
              <a:solidFill>
                <a:srgbClr val="FF0000"/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214546" y="428604"/>
            <a:ext cx="1500198" cy="1857388"/>
            <a:chOff x="500034" y="571480"/>
            <a:chExt cx="1500198" cy="1857388"/>
          </a:xfrm>
        </p:grpSpPr>
        <p:sp>
          <p:nvSpPr>
            <p:cNvPr id="47" name="矩形 4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Profile </a:t>
              </a:r>
              <a:r>
                <a:rPr lang="en-US" altLang="zh-CN" sz="1000" b="1" dirty="0" smtClean="0">
                  <a:solidFill>
                    <a:srgbClr val="FF0000"/>
                  </a:solidFill>
                </a:rPr>
                <a:t>(</a:t>
              </a:r>
              <a:r>
                <a:rPr lang="en-US" altLang="zh-CN" sz="1000" b="1" dirty="0" err="1" smtClean="0">
                  <a:solidFill>
                    <a:srgbClr val="FF0000"/>
                  </a:solidFill>
                </a:rPr>
                <a:t>Lyft</a:t>
              </a:r>
              <a:r>
                <a:rPr lang="en-US" altLang="zh-CN" sz="1000" b="1" dirty="0" smtClean="0">
                  <a:solidFill>
                    <a:srgbClr val="FF0000"/>
                  </a:solidFill>
                </a:rPr>
                <a:t>)</a:t>
              </a:r>
              <a:endParaRPr lang="zh-CN" altLang="en-US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2357422" y="785794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邮箱手机更新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500694" y="428604"/>
            <a:ext cx="1500198" cy="1857388"/>
            <a:chOff x="500034" y="571480"/>
            <a:chExt cx="1500198" cy="1857388"/>
          </a:xfrm>
        </p:grpSpPr>
        <p:sp>
          <p:nvSpPr>
            <p:cNvPr id="53" name="矩形 52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Credits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5643570" y="714356"/>
            <a:ext cx="1143008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You have xxx Credits.</a:t>
            </a:r>
          </a:p>
          <a:p>
            <a:r>
              <a:rPr lang="en-US" altLang="zh-CN" sz="1200" dirty="0" smtClean="0"/>
              <a:t>You have saved more than </a:t>
            </a:r>
            <a:r>
              <a:rPr lang="en-US" altLang="zh-CN" sz="1200" dirty="0" err="1" smtClean="0"/>
              <a:t>S$x</a:t>
            </a:r>
            <a:r>
              <a:rPr lang="en-US" altLang="zh-CN" sz="1200" dirty="0" smtClean="0"/>
              <a:t>.</a:t>
            </a:r>
          </a:p>
          <a:p>
            <a:endParaRPr lang="en-US" altLang="zh-CN" sz="1200" dirty="0" smtClean="0"/>
          </a:p>
          <a:p>
            <a:r>
              <a:rPr lang="en-US" altLang="zh-CN" sz="1050" dirty="0" smtClean="0"/>
              <a:t>Buy more credits</a:t>
            </a:r>
            <a:endParaRPr lang="zh-CN" altLang="en-US" sz="1050" dirty="0"/>
          </a:p>
        </p:txBody>
      </p:sp>
      <p:cxnSp>
        <p:nvCxnSpPr>
          <p:cNvPr id="59" name="直接箭头连接符 58"/>
          <p:cNvCxnSpPr/>
          <p:nvPr/>
        </p:nvCxnSpPr>
        <p:spPr>
          <a:xfrm rot="10800000" flipV="1">
            <a:off x="1821638" y="2000240"/>
            <a:ext cx="4107685" cy="2714644"/>
          </a:xfrm>
          <a:prstGeom prst="straightConnector1">
            <a:avLst/>
          </a:prstGeom>
          <a:ln w="539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组合 64"/>
          <p:cNvGrpSpPr/>
          <p:nvPr/>
        </p:nvGrpSpPr>
        <p:grpSpPr>
          <a:xfrm>
            <a:off x="642910" y="2428868"/>
            <a:ext cx="1500198" cy="1857388"/>
            <a:chOff x="500034" y="571480"/>
            <a:chExt cx="1500198" cy="1857388"/>
          </a:xfrm>
        </p:grpSpPr>
        <p:sp>
          <p:nvSpPr>
            <p:cNvPr id="66" name="矩形 65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History and Rating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78" name="矩形 77"/>
          <p:cNvSpPr/>
          <p:nvPr/>
        </p:nvSpPr>
        <p:spPr>
          <a:xfrm>
            <a:off x="5715008" y="1643050"/>
            <a:ext cx="1071570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79" name="TextBox 78"/>
          <p:cNvSpPr txBox="1"/>
          <p:nvPr/>
        </p:nvSpPr>
        <p:spPr>
          <a:xfrm>
            <a:off x="642910" y="2714620"/>
            <a:ext cx="15001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显示成功拼车历史，格式为：</a:t>
            </a:r>
            <a:endParaRPr lang="en-US" altLang="zh-CN" sz="1100" dirty="0" smtClean="0"/>
          </a:p>
          <a:p>
            <a:r>
              <a:rPr lang="zh-CN" altLang="en-US" sz="1100" dirty="0" smtClean="0"/>
              <a:t>时间，起始目的地，大约节省费用及总计，按最近的开始排序</a:t>
            </a:r>
            <a:endParaRPr lang="zh-CN" altLang="en-US" sz="1100" dirty="0"/>
          </a:p>
        </p:txBody>
      </p:sp>
      <p:sp>
        <p:nvSpPr>
          <p:cNvPr id="91" name="TextBox 90"/>
          <p:cNvSpPr txBox="1"/>
          <p:nvPr/>
        </p:nvSpPr>
        <p:spPr>
          <a:xfrm>
            <a:off x="6929454" y="2428868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如果用户余额等于低于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，进入该页面后自动</a:t>
            </a:r>
            <a:r>
              <a:rPr lang="en-US" altLang="zh-CN" sz="1200" dirty="0" smtClean="0"/>
              <a:t>popup</a:t>
            </a:r>
            <a:r>
              <a:rPr lang="zh-CN" altLang="en-US" sz="1200" dirty="0" smtClean="0"/>
              <a:t>提示</a:t>
            </a:r>
            <a:endParaRPr lang="en-US" altLang="zh-CN" sz="1200" dirty="0" smtClean="0"/>
          </a:p>
        </p:txBody>
      </p:sp>
      <p:sp>
        <p:nvSpPr>
          <p:cNvPr id="92" name="TextBox 91"/>
          <p:cNvSpPr txBox="1"/>
          <p:nvPr/>
        </p:nvSpPr>
        <p:spPr>
          <a:xfrm>
            <a:off x="7072330" y="3143248"/>
            <a:ext cx="1571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Your credit balance is </a:t>
            </a:r>
            <a:r>
              <a:rPr lang="en-US" altLang="zh-CN" sz="1200" dirty="0" smtClean="0"/>
              <a:t>low</a:t>
            </a:r>
            <a:r>
              <a:rPr lang="en-US" altLang="zh-CN" sz="1200" dirty="0" smtClean="0"/>
              <a:t>. </a:t>
            </a:r>
            <a:r>
              <a:rPr lang="en-US" altLang="zh-CN" sz="1200" dirty="0" smtClean="0"/>
              <a:t>Would you like to </a:t>
            </a:r>
            <a:r>
              <a:rPr lang="en-US" altLang="zh-CN" sz="1200" dirty="0" smtClean="0"/>
              <a:t>buy</a:t>
            </a:r>
            <a:r>
              <a:rPr lang="en-US" altLang="zh-CN" sz="1200" dirty="0" smtClean="0"/>
              <a:t> </a:t>
            </a:r>
            <a:r>
              <a:rPr lang="en-US" altLang="zh-CN" sz="1200" dirty="0" smtClean="0"/>
              <a:t>more credits and </a:t>
            </a:r>
            <a:r>
              <a:rPr lang="en-US" altLang="zh-CN" sz="1200" dirty="0" smtClean="0"/>
              <a:t>continue enjoying </a:t>
            </a:r>
            <a:r>
              <a:rPr lang="en-US" altLang="zh-CN" sz="1200" dirty="0" smtClean="0"/>
              <a:t>more </a:t>
            </a:r>
            <a:r>
              <a:rPr lang="en-US" altLang="zh-CN" sz="1200" dirty="0" smtClean="0"/>
              <a:t>savings?</a:t>
            </a:r>
            <a:endParaRPr lang="zh-CN" altLang="en-US" sz="1200" dirty="0"/>
          </a:p>
        </p:txBody>
      </p:sp>
      <p:cxnSp>
        <p:nvCxnSpPr>
          <p:cNvPr id="94" name="直接箭头连接符 93"/>
          <p:cNvCxnSpPr/>
          <p:nvPr/>
        </p:nvCxnSpPr>
        <p:spPr>
          <a:xfrm rot="10800000" flipV="1">
            <a:off x="1928794" y="4357694"/>
            <a:ext cx="5286414" cy="357190"/>
          </a:xfrm>
          <a:prstGeom prst="straightConnector1">
            <a:avLst/>
          </a:prstGeom>
          <a:ln w="5397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右弧形箭头 96"/>
          <p:cNvSpPr/>
          <p:nvPr/>
        </p:nvSpPr>
        <p:spPr>
          <a:xfrm>
            <a:off x="8501090" y="4357694"/>
            <a:ext cx="357190" cy="642942"/>
          </a:xfrm>
          <a:prstGeom prst="curved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143900" y="5000636"/>
            <a:ext cx="10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回到</a:t>
            </a:r>
            <a:r>
              <a:rPr lang="en-US" altLang="zh-CN" sz="1200" dirty="0" smtClean="0">
                <a:solidFill>
                  <a:srgbClr val="FF0000"/>
                </a:solidFill>
              </a:rPr>
              <a:t>Credits</a:t>
            </a:r>
            <a:r>
              <a:rPr lang="zh-CN" altLang="en-US" sz="1200" dirty="0" smtClean="0">
                <a:solidFill>
                  <a:srgbClr val="FF0000"/>
                </a:solidFill>
              </a:rPr>
              <a:t>页面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2357422" y="2428868"/>
            <a:ext cx="1500198" cy="1857388"/>
            <a:chOff x="500034" y="571480"/>
            <a:chExt cx="1500198" cy="1857388"/>
          </a:xfrm>
        </p:grpSpPr>
        <p:sp>
          <p:nvSpPr>
            <p:cNvPr id="105" name="矩形 10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Tell a Friend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2357422" y="2714620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用户从手机通信录中查找号码，然后已平台短信形式发送给对方，具体短信内容后期提供</a:t>
            </a:r>
            <a:endParaRPr lang="zh-CN" altLang="en-US" sz="1200" dirty="0"/>
          </a:p>
        </p:txBody>
      </p:sp>
      <p:sp>
        <p:nvSpPr>
          <p:cNvPr id="110" name="矩形 109"/>
          <p:cNvSpPr/>
          <p:nvPr/>
        </p:nvSpPr>
        <p:spPr>
          <a:xfrm>
            <a:off x="2357422" y="3786190"/>
            <a:ext cx="1500198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Send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1" name="右箭头 110"/>
          <p:cNvSpPr/>
          <p:nvPr/>
        </p:nvSpPr>
        <p:spPr>
          <a:xfrm>
            <a:off x="3714744" y="3857628"/>
            <a:ext cx="428628" cy="7143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4143372" y="3714752"/>
            <a:ext cx="11430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>
                <a:solidFill>
                  <a:srgbClr val="FF0000"/>
                </a:solidFill>
              </a:rPr>
              <a:t>popup</a:t>
            </a:r>
            <a:r>
              <a:rPr lang="zh-CN" altLang="en-US" sz="1100" dirty="0" smtClean="0">
                <a:solidFill>
                  <a:srgbClr val="FF0000"/>
                </a:solidFill>
              </a:rPr>
              <a:t>告知发送成功，自动回到</a:t>
            </a:r>
            <a:r>
              <a:rPr lang="en-US" altLang="zh-CN" sz="1100" dirty="0" smtClean="0">
                <a:solidFill>
                  <a:srgbClr val="FF0000"/>
                </a:solidFill>
              </a:rPr>
              <a:t>more </a:t>
            </a:r>
            <a:r>
              <a:rPr lang="zh-CN" altLang="en-US" sz="1100" dirty="0" smtClean="0">
                <a:solidFill>
                  <a:srgbClr val="FF0000"/>
                </a:solidFill>
              </a:rPr>
              <a:t>页面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42976" y="5286388"/>
            <a:ext cx="135732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solidFill>
                  <a:srgbClr val="FF0000"/>
                </a:solidFill>
              </a:rPr>
              <a:t>Invite a friend to join (</a:t>
            </a:r>
            <a:r>
              <a:rPr lang="en-US" altLang="zh-CN" sz="1050" dirty="0" err="1" smtClean="0">
                <a:solidFill>
                  <a:srgbClr val="FF0000"/>
                </a:solidFill>
              </a:rPr>
              <a:t>facebook</a:t>
            </a:r>
            <a:r>
              <a:rPr lang="en-US" altLang="zh-CN" sz="1050" dirty="0" smtClean="0">
                <a:solidFill>
                  <a:srgbClr val="FF0000"/>
                </a:solidFill>
              </a:rPr>
              <a:t>) + 2 credits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3857620" y="428604"/>
            <a:ext cx="1500198" cy="1857388"/>
            <a:chOff x="571472" y="2643182"/>
            <a:chExt cx="1500198" cy="1857388"/>
          </a:xfrm>
        </p:grpSpPr>
        <p:sp>
          <p:nvSpPr>
            <p:cNvPr id="99" name="矩形 9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Sharing Criteria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71472" y="2928934"/>
              <a:ext cx="150019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 smtClean="0"/>
                <a:t>Share with</a:t>
              </a:r>
            </a:p>
            <a:p>
              <a:r>
                <a:rPr lang="en-US" altLang="zh-CN" sz="700" dirty="0" smtClean="0"/>
                <a:t>Individual</a:t>
              </a:r>
            </a:p>
            <a:p>
              <a:r>
                <a:rPr lang="en-US" altLang="zh-CN" sz="700" dirty="0" smtClean="0"/>
                <a:t>Same gender            Both</a:t>
              </a:r>
            </a:p>
            <a:p>
              <a:endParaRPr lang="en-US" altLang="zh-CN" sz="700" dirty="0" smtClean="0"/>
            </a:p>
            <a:p>
              <a:r>
                <a:rPr lang="en-US" altLang="zh-CN" sz="700" dirty="0" smtClean="0"/>
                <a:t>Group of people      Yes/No</a:t>
              </a:r>
            </a:p>
            <a:p>
              <a:r>
                <a:rPr lang="en-US" altLang="zh-CN" sz="700" dirty="0" smtClean="0"/>
                <a:t>Same gender           Mixed</a:t>
              </a:r>
            </a:p>
            <a:p>
              <a:r>
                <a:rPr lang="en-US" altLang="zh-CN" sz="700" dirty="0" smtClean="0"/>
                <a:t>Does not matter </a:t>
              </a:r>
            </a:p>
            <a:p>
              <a:endParaRPr lang="en-US" altLang="zh-CN" sz="700" dirty="0" smtClean="0"/>
            </a:p>
            <a:p>
              <a:r>
                <a:rPr lang="en-US" altLang="zh-CN" sz="700" dirty="0" smtClean="0"/>
                <a:t>Delay less than           </a:t>
              </a:r>
              <a:r>
                <a:rPr lang="en-US" altLang="zh-CN" sz="700" dirty="0" err="1" smtClean="0"/>
                <a:t>mins</a:t>
              </a:r>
              <a:r>
                <a:rPr lang="en-US" altLang="zh-CN" sz="700" dirty="0" smtClean="0"/>
                <a:t> </a:t>
              </a:r>
              <a:endParaRPr lang="zh-CN" altLang="en-US" sz="700" dirty="0"/>
            </a:p>
          </p:txBody>
        </p:sp>
      </p:grpSp>
      <p:sp>
        <p:nvSpPr>
          <p:cNvPr id="114" name="矩形 113"/>
          <p:cNvSpPr/>
          <p:nvPr/>
        </p:nvSpPr>
        <p:spPr>
          <a:xfrm>
            <a:off x="3857620" y="1785926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Save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107" name="组合 18"/>
          <p:cNvGrpSpPr/>
          <p:nvPr/>
        </p:nvGrpSpPr>
        <p:grpSpPr>
          <a:xfrm flipH="1" flipV="1">
            <a:off x="2285984" y="500042"/>
            <a:ext cx="142877" cy="141279"/>
            <a:chOff x="2786050" y="1071546"/>
            <a:chExt cx="142876" cy="144464"/>
          </a:xfrm>
        </p:grpSpPr>
        <p:cxnSp>
          <p:nvCxnSpPr>
            <p:cNvPr id="108" name="直接连接符 107"/>
            <p:cNvCxnSpPr/>
            <p:nvPr/>
          </p:nvCxnSpPr>
          <p:spPr>
            <a:xfrm>
              <a:off x="2786050" y="1142984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2786050" y="1214422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>
              <a:off x="2786050" y="1071546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组合 18"/>
          <p:cNvGrpSpPr/>
          <p:nvPr/>
        </p:nvGrpSpPr>
        <p:grpSpPr>
          <a:xfrm flipH="1" flipV="1">
            <a:off x="3929058" y="501639"/>
            <a:ext cx="142877" cy="141279"/>
            <a:chOff x="2786050" y="1071546"/>
            <a:chExt cx="142876" cy="144464"/>
          </a:xfrm>
        </p:grpSpPr>
        <p:cxnSp>
          <p:nvCxnSpPr>
            <p:cNvPr id="117" name="直接连接符 116"/>
            <p:cNvCxnSpPr/>
            <p:nvPr/>
          </p:nvCxnSpPr>
          <p:spPr>
            <a:xfrm>
              <a:off x="2786050" y="1142984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>
              <a:off x="2786050" y="1214422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2786050" y="1071546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8"/>
          <p:cNvGrpSpPr/>
          <p:nvPr/>
        </p:nvGrpSpPr>
        <p:grpSpPr>
          <a:xfrm flipH="1" flipV="1">
            <a:off x="5572131" y="500042"/>
            <a:ext cx="142877" cy="141279"/>
            <a:chOff x="2786050" y="1071546"/>
            <a:chExt cx="142876" cy="144464"/>
          </a:xfrm>
        </p:grpSpPr>
        <p:cxnSp>
          <p:nvCxnSpPr>
            <p:cNvPr id="121" name="直接连接符 120"/>
            <p:cNvCxnSpPr/>
            <p:nvPr/>
          </p:nvCxnSpPr>
          <p:spPr>
            <a:xfrm>
              <a:off x="2786050" y="1142984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2786050" y="1214422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>
              <a:off x="2786050" y="1071546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组合 18"/>
          <p:cNvGrpSpPr/>
          <p:nvPr/>
        </p:nvGrpSpPr>
        <p:grpSpPr>
          <a:xfrm flipH="1" flipV="1">
            <a:off x="714348" y="2501903"/>
            <a:ext cx="142877" cy="141279"/>
            <a:chOff x="2786050" y="1071546"/>
            <a:chExt cx="142876" cy="144464"/>
          </a:xfrm>
        </p:grpSpPr>
        <p:cxnSp>
          <p:nvCxnSpPr>
            <p:cNvPr id="125" name="直接连接符 124"/>
            <p:cNvCxnSpPr/>
            <p:nvPr/>
          </p:nvCxnSpPr>
          <p:spPr>
            <a:xfrm>
              <a:off x="2786050" y="1142984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>
              <a:off x="2786050" y="1214422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2786050" y="1071546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组合 18"/>
          <p:cNvGrpSpPr/>
          <p:nvPr/>
        </p:nvGrpSpPr>
        <p:grpSpPr>
          <a:xfrm flipH="1" flipV="1">
            <a:off x="2438384" y="2501903"/>
            <a:ext cx="142877" cy="141279"/>
            <a:chOff x="2786050" y="1071546"/>
            <a:chExt cx="142876" cy="144464"/>
          </a:xfrm>
        </p:grpSpPr>
        <p:cxnSp>
          <p:nvCxnSpPr>
            <p:cNvPr id="129" name="直接连接符 128"/>
            <p:cNvCxnSpPr/>
            <p:nvPr/>
          </p:nvCxnSpPr>
          <p:spPr>
            <a:xfrm>
              <a:off x="2786050" y="1142984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2786050" y="1214422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2786050" y="1071546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矩形 135"/>
          <p:cNvSpPr/>
          <p:nvPr/>
        </p:nvSpPr>
        <p:spPr>
          <a:xfrm>
            <a:off x="1857356" y="428604"/>
            <a:ext cx="214314" cy="1857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7" name="组合 18"/>
          <p:cNvGrpSpPr/>
          <p:nvPr/>
        </p:nvGrpSpPr>
        <p:grpSpPr>
          <a:xfrm flipH="1" flipV="1">
            <a:off x="1857356" y="500042"/>
            <a:ext cx="142877" cy="141279"/>
            <a:chOff x="2786050" y="1071546"/>
            <a:chExt cx="142876" cy="144464"/>
          </a:xfrm>
        </p:grpSpPr>
        <p:cxnSp>
          <p:nvCxnSpPr>
            <p:cNvPr id="138" name="直接连接符 137"/>
            <p:cNvCxnSpPr/>
            <p:nvPr/>
          </p:nvCxnSpPr>
          <p:spPr>
            <a:xfrm>
              <a:off x="2786050" y="1142984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>
              <a:off x="2786050" y="1214422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>
              <a:off x="2786050" y="1071546"/>
              <a:ext cx="142876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矩形 141"/>
          <p:cNvSpPr/>
          <p:nvPr/>
        </p:nvSpPr>
        <p:spPr>
          <a:xfrm>
            <a:off x="7215206" y="4214818"/>
            <a:ext cx="57150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Yes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7786710" y="4214818"/>
            <a:ext cx="785818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Not Now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5357818" y="2500306"/>
            <a:ext cx="1500198" cy="1857388"/>
            <a:chOff x="500034" y="571480"/>
            <a:chExt cx="1500198" cy="1857388"/>
          </a:xfrm>
        </p:grpSpPr>
        <p:sp>
          <p:nvSpPr>
            <p:cNvPr id="145" name="矩形 14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 14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Meter Reading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147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48" name="直接连接符 147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1" name="TextBox 150"/>
          <p:cNvSpPr txBox="1"/>
          <p:nvPr/>
        </p:nvSpPr>
        <p:spPr>
          <a:xfrm>
            <a:off x="5357818" y="2786058"/>
            <a:ext cx="15001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Help </a:t>
            </a:r>
            <a:r>
              <a:rPr lang="zh-CN" altLang="en-US" dirty="0" smtClean="0"/>
              <a:t>一栏：教用户如何正确读咪表的图片</a:t>
            </a:r>
            <a:endParaRPr lang="zh-CN" altLang="en-US" dirty="0"/>
          </a:p>
        </p:txBody>
      </p:sp>
      <p:cxnSp>
        <p:nvCxnSpPr>
          <p:cNvPr id="134" name="形状 133"/>
          <p:cNvCxnSpPr>
            <a:stCxn id="53" idx="3"/>
            <a:endCxn id="91" idx="0"/>
          </p:cNvCxnSpPr>
          <p:nvPr/>
        </p:nvCxnSpPr>
        <p:spPr>
          <a:xfrm>
            <a:off x="7000892" y="1357298"/>
            <a:ext cx="857256" cy="1071570"/>
          </a:xfrm>
          <a:prstGeom prst="bentConnector2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1151</Words>
  <PresentationFormat>全屏显示(4:3)</PresentationFormat>
  <Paragraphs>168</Paragraphs>
  <Slides>4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幻灯片 1</vt:lpstr>
      <vt:lpstr>幻灯片 2</vt:lpstr>
      <vt:lpstr>幻灯片 3</vt:lpstr>
      <vt:lpstr>幻灯片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LC</cp:lastModifiedBy>
  <cp:revision>176</cp:revision>
  <dcterms:modified xsi:type="dcterms:W3CDTF">2013-08-11T02:15:54Z</dcterms:modified>
</cp:coreProperties>
</file>