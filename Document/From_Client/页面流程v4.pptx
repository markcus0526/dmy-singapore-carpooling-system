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9" r:id="rId4"/>
    <p:sldId id="260" r:id="rId5"/>
    <p:sldId id="258" r:id="rId6"/>
  </p:sldIdLst>
  <p:sldSz cx="9144000" cy="6858000" type="screen4x3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showOutlineIcons="0">
    <p:restoredLeft sz="15441" autoAdjust="0"/>
    <p:restoredTop sz="94660"/>
  </p:normalViewPr>
  <p:slideViewPr>
    <p:cSldViewPr>
      <p:cViewPr varScale="1">
        <p:scale>
          <a:sx n="63" d="100"/>
          <a:sy n="63" d="100"/>
        </p:scale>
        <p:origin x="-1518" y="-10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5" Type="http://schemas.openxmlformats.org/officeDocument/2006/relationships/slide" Target="slides/slide4.xml"/><Relationship Id="rId10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zh-CN" altLang="en-US" smtClean="0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</a:p>
          <a:p>
            <a:pPr lvl="1"/>
            <a:r>
              <a:rPr lang="zh-CN" altLang="en-US" smtClean="0"/>
              <a:t>第二级</a:t>
            </a:r>
          </a:p>
          <a:p>
            <a:pPr lvl="2"/>
            <a:r>
              <a:rPr lang="zh-CN" altLang="en-US" smtClean="0"/>
              <a:t>第三级</a:t>
            </a:r>
          </a:p>
          <a:p>
            <a:pPr lvl="3"/>
            <a:r>
              <a:rPr lang="zh-CN" altLang="en-US" smtClean="0"/>
              <a:t>第四级</a:t>
            </a:r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30820CF-B880-4189-942D-D702A7CBA730}" type="datetimeFigureOut">
              <a:rPr lang="zh-CN" altLang="en-US" smtClean="0"/>
              <a:pPr/>
              <a:t>2013-8-9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913308-F349-4B6D-A68A-DD1791B4A57B}" type="slidenum">
              <a:rPr lang="zh-CN" altLang="en-US" smtClean="0"/>
              <a:pPr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hyperlink" Target="http://www.worldtaximeter.com/singapore" TargetMode="Externa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571472" y="642918"/>
            <a:ext cx="1428760" cy="1571636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428596" y="71414"/>
            <a:ext cx="8358246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b="1" dirty="0" smtClean="0">
                <a:solidFill>
                  <a:srgbClr val="FF0000"/>
                </a:solidFill>
              </a:rPr>
              <a:t>参考</a:t>
            </a:r>
            <a:r>
              <a:rPr lang="en-US" altLang="zh-CN" sz="1200" b="1" dirty="0" err="1" smtClean="0">
                <a:solidFill>
                  <a:srgbClr val="FF0000"/>
                </a:solidFill>
              </a:rPr>
              <a:t>Lyft</a:t>
            </a:r>
            <a:endParaRPr lang="en-US" altLang="zh-CN" sz="1200" b="1" dirty="0" smtClean="0">
              <a:solidFill>
                <a:srgbClr val="FF0000"/>
              </a:solidFill>
            </a:endParaRPr>
          </a:p>
          <a:p>
            <a:r>
              <a:rPr lang="en-US" altLang="zh-CN" sz="1200" dirty="0" smtClean="0"/>
              <a:t>1) </a:t>
            </a:r>
            <a:r>
              <a:rPr lang="zh-CN" altLang="en-US" sz="1200" dirty="0" smtClean="0"/>
              <a:t>开启页面（每次开启显示，除非用户已加入某队列，则打开直接显示配对页面）</a:t>
            </a:r>
            <a:endParaRPr lang="zh-CN" altLang="en-US" sz="1200" dirty="0"/>
          </a:p>
        </p:txBody>
      </p:sp>
      <p:sp>
        <p:nvSpPr>
          <p:cNvPr id="7" name="TextBox 6"/>
          <p:cNvSpPr txBox="1"/>
          <p:nvPr/>
        </p:nvSpPr>
        <p:spPr>
          <a:xfrm>
            <a:off x="1357290" y="1580365"/>
            <a:ext cx="5715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Logo</a:t>
            </a:r>
            <a:endParaRPr lang="zh-CN" altLang="en-US" sz="1200" dirty="0"/>
          </a:p>
        </p:txBody>
      </p:sp>
      <p:sp>
        <p:nvSpPr>
          <p:cNvPr id="8" name="TextBox 7"/>
          <p:cNvSpPr txBox="1"/>
          <p:nvPr/>
        </p:nvSpPr>
        <p:spPr>
          <a:xfrm>
            <a:off x="500034" y="2285992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2) </a:t>
            </a:r>
            <a:r>
              <a:rPr lang="zh-CN" altLang="en-US" sz="1200" dirty="0" smtClean="0"/>
              <a:t>注册及配对设置（用户未绑定手机注册，开启页面后显示，</a:t>
            </a:r>
            <a:r>
              <a:rPr lang="zh-CN" altLang="en-US" sz="1200" dirty="0" smtClean="0">
                <a:solidFill>
                  <a:srgbClr val="FF0000"/>
                </a:solidFill>
              </a:rPr>
              <a:t>注册前提供使用演示，其中包括设置部分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grpSp>
        <p:nvGrpSpPr>
          <p:cNvPr id="14" name="组合 13"/>
          <p:cNvGrpSpPr/>
          <p:nvPr/>
        </p:nvGrpSpPr>
        <p:grpSpPr>
          <a:xfrm>
            <a:off x="2143108" y="2714620"/>
            <a:ext cx="1500198" cy="1857388"/>
            <a:chOff x="571472" y="2643182"/>
            <a:chExt cx="1500198" cy="1857388"/>
          </a:xfrm>
        </p:grpSpPr>
        <p:sp>
          <p:nvSpPr>
            <p:cNvPr id="9" name="矩形 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" name="矩形 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TextBox 10"/>
            <p:cNvSpPr txBox="1"/>
            <p:nvPr/>
          </p:nvSpPr>
          <p:spPr>
            <a:xfrm>
              <a:off x="1643042" y="2643182"/>
              <a:ext cx="42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Next</a:t>
              </a:r>
              <a:endParaRPr lang="zh-CN" altLang="en-US" sz="1000" dirty="0"/>
            </a:p>
          </p:txBody>
        </p:sp>
        <p:sp>
          <p:nvSpPr>
            <p:cNvPr id="12" name="TextBox 11"/>
            <p:cNvSpPr txBox="1"/>
            <p:nvPr/>
          </p:nvSpPr>
          <p:spPr>
            <a:xfrm>
              <a:off x="571472" y="2928934"/>
              <a:ext cx="1500198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Please enter your mobile number for registration</a:t>
              </a:r>
            </a:p>
            <a:p>
              <a:endParaRPr lang="en-US" altLang="zh-CN" sz="1000" dirty="0" smtClean="0"/>
            </a:p>
            <a:p>
              <a:r>
                <a:rPr lang="en-US" altLang="zh-CN" sz="1100" dirty="0" smtClean="0"/>
                <a:t>+65  </a:t>
              </a:r>
              <a:endParaRPr lang="zh-CN" altLang="en-US" sz="1100" dirty="0"/>
            </a:p>
          </p:txBody>
        </p:sp>
        <p:sp>
          <p:nvSpPr>
            <p:cNvPr id="13" name="矩形 12"/>
            <p:cNvSpPr/>
            <p:nvPr/>
          </p:nvSpPr>
          <p:spPr>
            <a:xfrm>
              <a:off x="1000100" y="3429000"/>
              <a:ext cx="857256" cy="1428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15" name="组合 14"/>
          <p:cNvGrpSpPr/>
          <p:nvPr/>
        </p:nvGrpSpPr>
        <p:grpSpPr>
          <a:xfrm>
            <a:off x="4000496" y="2714620"/>
            <a:ext cx="1643074" cy="1857388"/>
            <a:chOff x="571472" y="2643182"/>
            <a:chExt cx="1643074" cy="1857388"/>
          </a:xfrm>
        </p:grpSpPr>
        <p:sp>
          <p:nvSpPr>
            <p:cNvPr id="16" name="矩形 15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7" name="矩形 16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8" name="TextBox 17"/>
            <p:cNvSpPr txBox="1"/>
            <p:nvPr/>
          </p:nvSpPr>
          <p:spPr>
            <a:xfrm>
              <a:off x="1643042" y="2643182"/>
              <a:ext cx="5715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Verify</a:t>
              </a:r>
              <a:endParaRPr lang="zh-CN" altLang="en-US" sz="1000" dirty="0"/>
            </a:p>
          </p:txBody>
        </p:sp>
        <p:sp>
          <p:nvSpPr>
            <p:cNvPr id="19" name="TextBox 18"/>
            <p:cNvSpPr txBox="1"/>
            <p:nvPr/>
          </p:nvSpPr>
          <p:spPr>
            <a:xfrm>
              <a:off x="571472" y="2928934"/>
              <a:ext cx="1500198" cy="72327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Please enter the verification code</a:t>
              </a:r>
            </a:p>
            <a:p>
              <a:endParaRPr lang="en-US" altLang="zh-CN" sz="1000" dirty="0" smtClean="0"/>
            </a:p>
            <a:p>
              <a:endParaRPr lang="zh-CN" altLang="en-US" sz="1100" dirty="0"/>
            </a:p>
          </p:txBody>
        </p:sp>
        <p:sp>
          <p:nvSpPr>
            <p:cNvPr id="20" name="矩形 19"/>
            <p:cNvSpPr/>
            <p:nvPr/>
          </p:nvSpPr>
          <p:spPr>
            <a:xfrm>
              <a:off x="857224" y="3429000"/>
              <a:ext cx="857256" cy="1428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grpSp>
        <p:nvGrpSpPr>
          <p:cNvPr id="21" name="组合 20"/>
          <p:cNvGrpSpPr/>
          <p:nvPr/>
        </p:nvGrpSpPr>
        <p:grpSpPr>
          <a:xfrm>
            <a:off x="5715008" y="2714620"/>
            <a:ext cx="1500198" cy="1857388"/>
            <a:chOff x="571472" y="2643182"/>
            <a:chExt cx="1500198" cy="1857388"/>
          </a:xfrm>
        </p:grpSpPr>
        <p:sp>
          <p:nvSpPr>
            <p:cNvPr id="22" name="矩形 21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24" name="TextBox 23"/>
            <p:cNvSpPr txBox="1"/>
            <p:nvPr/>
          </p:nvSpPr>
          <p:spPr>
            <a:xfrm>
              <a:off x="1643042" y="2643182"/>
              <a:ext cx="42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Next</a:t>
              </a:r>
              <a:endParaRPr lang="zh-CN" altLang="en-US" sz="1000" dirty="0"/>
            </a:p>
          </p:txBody>
        </p:sp>
        <p:sp>
          <p:nvSpPr>
            <p:cNvPr id="25" name="TextBox 24"/>
            <p:cNvSpPr txBox="1"/>
            <p:nvPr/>
          </p:nvSpPr>
          <p:spPr>
            <a:xfrm>
              <a:off x="571472" y="2928934"/>
              <a:ext cx="1500198" cy="1523494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600" dirty="0" smtClean="0"/>
                <a:t>Verified!</a:t>
              </a:r>
            </a:p>
            <a:p>
              <a:r>
                <a:rPr lang="en-US" altLang="zh-CN" sz="1100" dirty="0" smtClean="0"/>
                <a:t>Please enter your information</a:t>
              </a:r>
            </a:p>
            <a:p>
              <a:endParaRPr lang="en-US" altLang="zh-CN" sz="1100" dirty="0" smtClean="0"/>
            </a:p>
            <a:p>
              <a:r>
                <a:rPr lang="en-US" altLang="zh-CN" sz="1100" dirty="0" smtClean="0"/>
                <a:t>Username</a:t>
              </a:r>
            </a:p>
            <a:p>
              <a:r>
                <a:rPr lang="en-US" altLang="zh-CN" sz="1100" dirty="0" smtClean="0"/>
                <a:t>Gender</a:t>
              </a:r>
              <a:endParaRPr lang="en-US" altLang="zh-CN" sz="1100" dirty="0" smtClean="0"/>
            </a:p>
            <a:p>
              <a:r>
                <a:rPr lang="en-US" altLang="zh-CN" sz="1100" dirty="0" smtClean="0"/>
                <a:t>Year of Birth</a:t>
              </a:r>
            </a:p>
            <a:p>
              <a:endParaRPr lang="zh-CN" altLang="en-US" sz="1100" dirty="0"/>
            </a:p>
          </p:txBody>
        </p:sp>
        <p:sp>
          <p:nvSpPr>
            <p:cNvPr id="26" name="矩形 25"/>
            <p:cNvSpPr/>
            <p:nvPr/>
          </p:nvSpPr>
          <p:spPr>
            <a:xfrm>
              <a:off x="1357290" y="3714752"/>
              <a:ext cx="642942" cy="142876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</p:grpSp>
      <p:sp>
        <p:nvSpPr>
          <p:cNvPr id="27" name="矩形 26"/>
          <p:cNvSpPr/>
          <p:nvPr/>
        </p:nvSpPr>
        <p:spPr>
          <a:xfrm>
            <a:off x="6500826" y="4000504"/>
            <a:ext cx="642942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8" name="矩形 27"/>
          <p:cNvSpPr/>
          <p:nvPr/>
        </p:nvSpPr>
        <p:spPr>
          <a:xfrm>
            <a:off x="6572264" y="4214818"/>
            <a:ext cx="642942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9" name="组合 28"/>
          <p:cNvGrpSpPr/>
          <p:nvPr/>
        </p:nvGrpSpPr>
        <p:grpSpPr>
          <a:xfrm>
            <a:off x="7429520" y="2714620"/>
            <a:ext cx="1500198" cy="1857388"/>
            <a:chOff x="571472" y="2643182"/>
            <a:chExt cx="1500198" cy="1857388"/>
          </a:xfrm>
        </p:grpSpPr>
        <p:sp>
          <p:nvSpPr>
            <p:cNvPr id="30" name="矩形 29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1" name="矩形 30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2" name="TextBox 31"/>
            <p:cNvSpPr txBox="1"/>
            <p:nvPr/>
          </p:nvSpPr>
          <p:spPr>
            <a:xfrm>
              <a:off x="1643042" y="2643182"/>
              <a:ext cx="428628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Skip</a:t>
              </a:r>
              <a:endParaRPr lang="zh-CN" altLang="en-US" sz="1000" dirty="0"/>
            </a:p>
          </p:txBody>
        </p:sp>
        <p:sp>
          <p:nvSpPr>
            <p:cNvPr id="33" name="TextBox 32"/>
            <p:cNvSpPr txBox="1"/>
            <p:nvPr/>
          </p:nvSpPr>
          <p:spPr>
            <a:xfrm>
              <a:off x="571472" y="2928934"/>
              <a:ext cx="1500198" cy="147732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Upload profile photo</a:t>
              </a:r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endParaRPr lang="en-US" altLang="zh-CN" sz="1000" dirty="0" smtClean="0"/>
            </a:p>
            <a:p>
              <a:r>
                <a:rPr lang="en-US" altLang="zh-CN" sz="1000" dirty="0" smtClean="0"/>
                <a:t>  Choose              Upload</a:t>
              </a:r>
            </a:p>
            <a:p>
              <a:r>
                <a:rPr lang="en-US" altLang="zh-CN" sz="1000" dirty="0" smtClean="0"/>
                <a:t>Take a photo              </a:t>
              </a:r>
            </a:p>
          </p:txBody>
        </p:sp>
        <p:sp>
          <p:nvSpPr>
            <p:cNvPr id="34" name="矩形 33"/>
            <p:cNvSpPr/>
            <p:nvPr/>
          </p:nvSpPr>
          <p:spPr>
            <a:xfrm>
              <a:off x="857224" y="3286124"/>
              <a:ext cx="857256" cy="571504"/>
            </a:xfrm>
            <a:prstGeom prst="rect">
              <a:avLst/>
            </a:prstGeom>
            <a:solidFill>
              <a:schemeClr val="bg1">
                <a:lumMod val="65000"/>
              </a:schemeClr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dirty="0" smtClean="0"/>
                <a:t>+</a:t>
              </a:r>
              <a:endParaRPr lang="zh-CN" altLang="en-US" dirty="0"/>
            </a:p>
          </p:txBody>
        </p:sp>
      </p:grpSp>
      <p:grpSp>
        <p:nvGrpSpPr>
          <p:cNvPr id="35" name="组合 34"/>
          <p:cNvGrpSpPr/>
          <p:nvPr/>
        </p:nvGrpSpPr>
        <p:grpSpPr>
          <a:xfrm>
            <a:off x="2143108" y="4714884"/>
            <a:ext cx="1500198" cy="1857388"/>
            <a:chOff x="571472" y="2643182"/>
            <a:chExt cx="1500198" cy="1857388"/>
          </a:xfrm>
        </p:grpSpPr>
        <p:sp>
          <p:nvSpPr>
            <p:cNvPr id="36" name="矩形 35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9" name="TextBox 38"/>
            <p:cNvSpPr txBox="1"/>
            <p:nvPr/>
          </p:nvSpPr>
          <p:spPr>
            <a:xfrm>
              <a:off x="571472" y="2714620"/>
              <a:ext cx="1500198" cy="1323439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en-US" altLang="zh-CN" sz="1000" dirty="0" smtClean="0"/>
                <a:t>Important Notice</a:t>
              </a:r>
            </a:p>
            <a:p>
              <a:pPr algn="ctr"/>
              <a:r>
                <a:rPr lang="en-US" altLang="zh-CN" sz="1000" dirty="0" smtClean="0"/>
                <a:t>……………………….</a:t>
              </a:r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r>
                <a:rPr lang="en-US" altLang="zh-CN" sz="1000" dirty="0" smtClean="0"/>
                <a:t>………………………</a:t>
              </a:r>
            </a:p>
          </p:txBody>
        </p:sp>
      </p:grpSp>
      <p:grpSp>
        <p:nvGrpSpPr>
          <p:cNvPr id="48" name="组合 47"/>
          <p:cNvGrpSpPr/>
          <p:nvPr/>
        </p:nvGrpSpPr>
        <p:grpSpPr>
          <a:xfrm>
            <a:off x="4071934" y="4786322"/>
            <a:ext cx="1500198" cy="1857388"/>
            <a:chOff x="571472" y="2643182"/>
            <a:chExt cx="1500198" cy="1857388"/>
          </a:xfrm>
        </p:grpSpPr>
        <p:sp>
          <p:nvSpPr>
            <p:cNvPr id="49" name="矩形 4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0" name="矩形 4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Congratulations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2" name="TextBox 51"/>
            <p:cNvSpPr txBox="1"/>
            <p:nvPr/>
          </p:nvSpPr>
          <p:spPr>
            <a:xfrm>
              <a:off x="571472" y="2928934"/>
              <a:ext cx="1500198" cy="1415772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endParaRPr lang="en-US" altLang="zh-CN" sz="1000" dirty="0" smtClean="0"/>
            </a:p>
            <a:p>
              <a:r>
                <a:rPr lang="en-US" altLang="zh-CN" sz="1000" dirty="0" err="1" smtClean="0"/>
                <a:t>Xxxx</a:t>
              </a:r>
              <a:r>
                <a:rPr lang="en-US" altLang="zh-CN" sz="1000" dirty="0" smtClean="0"/>
                <a:t>, Welcome!</a:t>
              </a:r>
            </a:p>
            <a:p>
              <a:r>
                <a:rPr lang="en-US" altLang="zh-CN" sz="1100" dirty="0" smtClean="0"/>
                <a:t>…….</a:t>
              </a:r>
            </a:p>
            <a:p>
              <a:endParaRPr lang="en-US" altLang="zh-CN" sz="1100" dirty="0" smtClean="0"/>
            </a:p>
            <a:p>
              <a:r>
                <a:rPr lang="en-US" altLang="zh-CN" sz="1100" dirty="0" smtClean="0"/>
                <a:t>5 free credits have been given to you</a:t>
              </a:r>
            </a:p>
            <a:p>
              <a:endParaRPr lang="en-US" altLang="zh-CN" sz="1100" dirty="0" smtClean="0"/>
            </a:p>
            <a:p>
              <a:r>
                <a:rPr lang="en-US" altLang="zh-CN" sz="1100" dirty="0" smtClean="0"/>
                <a:t>  </a:t>
              </a:r>
              <a:endParaRPr lang="zh-CN" altLang="en-US" sz="1100" dirty="0"/>
            </a:p>
          </p:txBody>
        </p:sp>
      </p:grpSp>
      <p:sp>
        <p:nvSpPr>
          <p:cNvPr id="54" name="矩形 53"/>
          <p:cNvSpPr/>
          <p:nvPr/>
        </p:nvSpPr>
        <p:spPr>
          <a:xfrm>
            <a:off x="4214810" y="6286520"/>
            <a:ext cx="1214446" cy="2857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Start</a:t>
            </a:r>
            <a:endParaRPr lang="zh-CN" altLang="en-US" sz="1400" dirty="0"/>
          </a:p>
        </p:txBody>
      </p:sp>
      <p:sp>
        <p:nvSpPr>
          <p:cNvPr id="59" name="TextBox 58"/>
          <p:cNvSpPr txBox="1"/>
          <p:nvPr/>
        </p:nvSpPr>
        <p:spPr>
          <a:xfrm>
            <a:off x="2571736" y="571480"/>
            <a:ext cx="6286544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>
                <a:solidFill>
                  <a:srgbClr val="FF0000"/>
                </a:solidFill>
              </a:rPr>
              <a:t>名称为：</a:t>
            </a:r>
            <a:r>
              <a:rPr lang="en-US" altLang="zh-CN" sz="1600" dirty="0" smtClean="0">
                <a:solidFill>
                  <a:srgbClr val="FF0000"/>
                </a:solidFill>
              </a:rPr>
              <a:t>[</a:t>
            </a:r>
            <a:r>
              <a:rPr lang="en-US" altLang="zh-CN" sz="1600" dirty="0" smtClean="0">
                <a:solidFill>
                  <a:srgbClr val="FF00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ride2gather</a:t>
            </a:r>
            <a:r>
              <a:rPr lang="en-US" altLang="zh-CN" sz="1600" dirty="0" smtClean="0">
                <a:solidFill>
                  <a:srgbClr val="FF0000"/>
                </a:solidFill>
              </a:rPr>
              <a:t>]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en-US" altLang="zh-CN" sz="1600" dirty="0" smtClean="0">
                <a:solidFill>
                  <a:srgbClr val="FF0000"/>
                </a:solidFill>
              </a:rPr>
              <a:t>Logo</a:t>
            </a:r>
            <a:r>
              <a:rPr lang="zh-CN" altLang="en-US" sz="1600" dirty="0" smtClean="0">
                <a:solidFill>
                  <a:srgbClr val="FF0000"/>
                </a:solidFill>
              </a:rPr>
              <a:t>以英文单词为主体进行美工，简洁大方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zh-CN" altLang="en-US" sz="1600" dirty="0" smtClean="0">
                <a:solidFill>
                  <a:srgbClr val="FF0000"/>
                </a:solidFill>
              </a:rPr>
              <a:t>如果有设计是把出租车简笔画加入到单词中就更好了。</a:t>
            </a:r>
            <a:endParaRPr lang="en-US" altLang="zh-CN" sz="1600" dirty="0" smtClean="0">
              <a:solidFill>
                <a:srgbClr val="FF0000"/>
              </a:solidFill>
            </a:endParaRPr>
          </a:p>
          <a:p>
            <a:r>
              <a:rPr lang="zh-CN" altLang="en-US" sz="1600" dirty="0" smtClean="0">
                <a:solidFill>
                  <a:srgbClr val="FF0000"/>
                </a:solidFill>
              </a:rPr>
              <a:t>整体</a:t>
            </a:r>
            <a:r>
              <a:rPr lang="zh-CN" altLang="en-US" sz="1600" dirty="0" smtClean="0">
                <a:solidFill>
                  <a:srgbClr val="FF0000"/>
                </a:solidFill>
              </a:rPr>
              <a:t>色调要求大气，主背景色调选择白色、浅灰、或黑色。其他颜色根据背景色搭配。</a:t>
            </a:r>
            <a:endParaRPr lang="zh-CN" altLang="en-US" sz="1600" dirty="0">
              <a:solidFill>
                <a:srgbClr val="FF0000"/>
              </a:solidFill>
            </a:endParaRPr>
          </a:p>
        </p:txBody>
      </p:sp>
      <p:sp>
        <p:nvSpPr>
          <p:cNvPr id="60" name="TextBox 59"/>
          <p:cNvSpPr txBox="1"/>
          <p:nvPr/>
        </p:nvSpPr>
        <p:spPr>
          <a:xfrm>
            <a:off x="4000496" y="3714752"/>
            <a:ext cx="1500198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>
                <a:solidFill>
                  <a:srgbClr val="FF0000"/>
                </a:solidFill>
              </a:rPr>
              <a:t>如果验证码错误，则停留在该页面：</a:t>
            </a:r>
            <a:endParaRPr lang="en-US" altLang="zh-CN" sz="1000" dirty="0" smtClean="0">
              <a:solidFill>
                <a:srgbClr val="FF0000"/>
              </a:solidFill>
            </a:endParaRPr>
          </a:p>
          <a:p>
            <a:r>
              <a:rPr lang="en-US" altLang="zh-CN" sz="1000" dirty="0" smtClean="0">
                <a:solidFill>
                  <a:srgbClr val="FF0000"/>
                </a:solidFill>
              </a:rPr>
              <a:t>Wrong Verification Code. Please enter again.</a:t>
            </a:r>
            <a:endParaRPr lang="zh-CN" altLang="en-US" sz="1000" dirty="0">
              <a:solidFill>
                <a:srgbClr val="FF0000"/>
              </a:solidFill>
            </a:endParaRPr>
          </a:p>
        </p:txBody>
      </p:sp>
      <p:grpSp>
        <p:nvGrpSpPr>
          <p:cNvPr id="61" name="组合 60"/>
          <p:cNvGrpSpPr/>
          <p:nvPr/>
        </p:nvGrpSpPr>
        <p:grpSpPr>
          <a:xfrm>
            <a:off x="285720" y="2643182"/>
            <a:ext cx="1500198" cy="1857388"/>
            <a:chOff x="571472" y="2643182"/>
            <a:chExt cx="1500198" cy="1857388"/>
          </a:xfrm>
        </p:grpSpPr>
        <p:sp>
          <p:nvSpPr>
            <p:cNvPr id="62" name="矩形 61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5" name="TextBox 64"/>
            <p:cNvSpPr txBox="1"/>
            <p:nvPr/>
          </p:nvSpPr>
          <p:spPr>
            <a:xfrm>
              <a:off x="571472" y="3191532"/>
              <a:ext cx="1500198" cy="523220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txBody>
            <a:bodyPr wrap="square" rtlCol="0">
              <a:spAutoFit/>
            </a:bodyPr>
            <a:lstStyle/>
            <a:p>
              <a:r>
                <a:rPr lang="en-US" altLang="zh-CN" sz="1400" dirty="0" err="1" smtClean="0"/>
                <a:t>facebook</a:t>
              </a:r>
              <a:r>
                <a:rPr lang="zh-CN" altLang="en-US" sz="1400" dirty="0" smtClean="0"/>
                <a:t>帐号登录</a:t>
              </a:r>
              <a:endParaRPr lang="en-US" altLang="zh-CN" sz="1400" dirty="0" smtClean="0"/>
            </a:p>
          </p:txBody>
        </p:sp>
      </p:grpSp>
      <p:cxnSp>
        <p:nvCxnSpPr>
          <p:cNvPr id="56" name="直接连接符 55"/>
          <p:cNvCxnSpPr/>
          <p:nvPr/>
        </p:nvCxnSpPr>
        <p:spPr>
          <a:xfrm rot="5400000">
            <a:off x="7340223" y="2946793"/>
            <a:ext cx="1821669" cy="150019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66" name="直接连接符 65"/>
          <p:cNvCxnSpPr/>
          <p:nvPr/>
        </p:nvCxnSpPr>
        <p:spPr>
          <a:xfrm rot="16200000" flipH="1">
            <a:off x="7250925" y="2964653"/>
            <a:ext cx="2071702" cy="157163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7" name="TextBox 66"/>
          <p:cNvSpPr txBox="1"/>
          <p:nvPr/>
        </p:nvSpPr>
        <p:spPr>
          <a:xfrm>
            <a:off x="7572396" y="4643446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err="1" smtClean="0">
                <a:solidFill>
                  <a:srgbClr val="FF0000"/>
                </a:solidFill>
              </a:rPr>
              <a:t>Facebook</a:t>
            </a:r>
            <a:r>
              <a:rPr lang="zh-CN" altLang="en-US" sz="1200" dirty="0" smtClean="0">
                <a:solidFill>
                  <a:srgbClr val="FF0000"/>
                </a:solidFill>
              </a:rPr>
              <a:t>头像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grpSp>
        <p:nvGrpSpPr>
          <p:cNvPr id="68" name="组合 67"/>
          <p:cNvGrpSpPr/>
          <p:nvPr/>
        </p:nvGrpSpPr>
        <p:grpSpPr>
          <a:xfrm>
            <a:off x="285720" y="4714884"/>
            <a:ext cx="1571636" cy="1857388"/>
            <a:chOff x="571472" y="2643182"/>
            <a:chExt cx="1571636" cy="1857388"/>
          </a:xfrm>
        </p:grpSpPr>
        <p:sp>
          <p:nvSpPr>
            <p:cNvPr id="69" name="矩形 6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Create An Account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TextBox 70"/>
            <p:cNvSpPr txBox="1"/>
            <p:nvPr/>
          </p:nvSpPr>
          <p:spPr>
            <a:xfrm>
              <a:off x="1571604" y="2643182"/>
              <a:ext cx="571504" cy="246221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1000" dirty="0" smtClean="0"/>
                <a:t>Next</a:t>
              </a:r>
              <a:endParaRPr lang="zh-CN" altLang="en-US" sz="1000" dirty="0"/>
            </a:p>
          </p:txBody>
        </p:sp>
        <p:sp>
          <p:nvSpPr>
            <p:cNvPr id="72" name="TextBox 71"/>
            <p:cNvSpPr txBox="1"/>
            <p:nvPr/>
          </p:nvSpPr>
          <p:spPr>
            <a:xfrm>
              <a:off x="571472" y="2928934"/>
              <a:ext cx="1500198" cy="707886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algn="ctr"/>
              <a:r>
                <a:rPr lang="zh-CN" altLang="en-US" sz="1000" dirty="0" smtClean="0"/>
                <a:t>信用卡信息填写</a:t>
              </a:r>
              <a:endParaRPr lang="en-US" altLang="zh-CN" sz="1000" dirty="0" smtClean="0"/>
            </a:p>
            <a:p>
              <a:pPr algn="ctr"/>
              <a:endParaRPr lang="en-US" altLang="zh-CN" sz="1000" dirty="0" smtClean="0"/>
            </a:p>
            <a:p>
              <a:pPr algn="ctr"/>
              <a:r>
                <a:rPr lang="zh-CN" altLang="en-US" sz="1000" dirty="0" smtClean="0"/>
                <a:t>即时验证是否是有效的号码</a:t>
              </a:r>
              <a:endParaRPr lang="en-US" altLang="zh-CN" sz="1000" dirty="0" smtClean="0"/>
            </a:p>
          </p:txBody>
        </p:sp>
      </p:grpSp>
      <p:sp>
        <p:nvSpPr>
          <p:cNvPr id="73" name="圆角矩形 72"/>
          <p:cNvSpPr/>
          <p:nvPr/>
        </p:nvSpPr>
        <p:spPr>
          <a:xfrm>
            <a:off x="0" y="4572032"/>
            <a:ext cx="2000232" cy="2214554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78" name="直接连接符 77"/>
          <p:cNvCxnSpPr/>
          <p:nvPr/>
        </p:nvCxnSpPr>
        <p:spPr>
          <a:xfrm rot="5400000">
            <a:off x="124985" y="4804181"/>
            <a:ext cx="1821669" cy="150019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79" name="直接连接符 78"/>
          <p:cNvCxnSpPr/>
          <p:nvPr/>
        </p:nvCxnSpPr>
        <p:spPr>
          <a:xfrm rot="16200000" flipH="1">
            <a:off x="35687" y="4822041"/>
            <a:ext cx="2071702" cy="157163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80" name="圆角矩形 79"/>
          <p:cNvSpPr/>
          <p:nvPr/>
        </p:nvSpPr>
        <p:spPr>
          <a:xfrm>
            <a:off x="1928794" y="2571744"/>
            <a:ext cx="5429288" cy="2071678"/>
          </a:xfrm>
          <a:prstGeom prst="roundRect">
            <a:avLst/>
          </a:prstGeom>
          <a:noFill/>
          <a:ln>
            <a:solidFill>
              <a:srgbClr val="FF0000"/>
            </a:solidFill>
            <a:prstDash val="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2" name="矩形 81"/>
          <p:cNvSpPr/>
          <p:nvPr/>
        </p:nvSpPr>
        <p:spPr>
          <a:xfrm>
            <a:off x="2285984" y="6215082"/>
            <a:ext cx="1214446" cy="285752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400" dirty="0" smtClean="0"/>
              <a:t>I Understand</a:t>
            </a:r>
            <a:endParaRPr lang="zh-CN" altLang="en-US" sz="1400" dirty="0"/>
          </a:p>
        </p:txBody>
      </p:sp>
      <p:sp>
        <p:nvSpPr>
          <p:cNvPr id="83" name="右箭头 82"/>
          <p:cNvSpPr/>
          <p:nvPr/>
        </p:nvSpPr>
        <p:spPr>
          <a:xfrm>
            <a:off x="5715008" y="5572140"/>
            <a:ext cx="785818" cy="285752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84" name="TextBox 83"/>
          <p:cNvSpPr txBox="1"/>
          <p:nvPr/>
        </p:nvSpPr>
        <p:spPr>
          <a:xfrm>
            <a:off x="6500826" y="5500702"/>
            <a:ext cx="178595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过程演示</a:t>
            </a:r>
            <a:endParaRPr lang="zh-CN" altLang="en-US" dirty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14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3) </a:t>
            </a:r>
            <a:r>
              <a:rPr lang="zh-CN" altLang="en-US" sz="1200" dirty="0" smtClean="0"/>
              <a:t>主页面（用户已注册，开启页面后显示，如果用户已加入队列，则直接显示配对页面）</a:t>
            </a:r>
            <a:endParaRPr lang="zh-CN" altLang="en-US" sz="1200" dirty="0"/>
          </a:p>
        </p:txBody>
      </p:sp>
      <p:grpSp>
        <p:nvGrpSpPr>
          <p:cNvPr id="20" name="组合 19"/>
          <p:cNvGrpSpPr/>
          <p:nvPr/>
        </p:nvGrpSpPr>
        <p:grpSpPr>
          <a:xfrm>
            <a:off x="1643042" y="357166"/>
            <a:ext cx="1500198" cy="1857388"/>
            <a:chOff x="500034" y="571480"/>
            <a:chExt cx="1500198" cy="1857388"/>
          </a:xfrm>
        </p:grpSpPr>
        <p:sp>
          <p:nvSpPr>
            <p:cNvPr id="6" name="矩形 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" name="矩形 10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Join a Taxi Stand Q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9" name="组合 18"/>
            <p:cNvGrpSpPr/>
            <p:nvPr/>
          </p:nvGrpSpPr>
          <p:grpSpPr>
            <a:xfrm flipH="1" flipV="1">
              <a:off x="571472" y="642918"/>
              <a:ext cx="142877" cy="141288"/>
              <a:chOff x="2786050" y="1071546"/>
              <a:chExt cx="142876" cy="144464"/>
            </a:xfrm>
          </p:grpSpPr>
          <p:cxnSp>
            <p:nvCxnSpPr>
              <p:cNvPr id="16" name="直接连接符 15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7" name="直接连接符 16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8" name="直接连接符 1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1" name="TextBox 20"/>
          <p:cNvSpPr txBox="1"/>
          <p:nvPr/>
        </p:nvSpPr>
        <p:spPr>
          <a:xfrm>
            <a:off x="1643042" y="642918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    MAP</a:t>
            </a:r>
            <a:r>
              <a:rPr lang="zh-CN" altLang="en-US" sz="1200" dirty="0" smtClean="0"/>
              <a:t>，如果该部分也被计入每日</a:t>
            </a:r>
            <a:r>
              <a:rPr lang="en-US" altLang="zh-CN" sz="1200" dirty="0" smtClean="0"/>
              <a:t>25000</a:t>
            </a:r>
            <a:r>
              <a:rPr lang="zh-CN" altLang="en-US" sz="1200" dirty="0" smtClean="0"/>
              <a:t>次谷歌</a:t>
            </a:r>
            <a:r>
              <a:rPr lang="en-US" altLang="zh-CN" sz="1200" dirty="0" smtClean="0"/>
              <a:t>map</a:t>
            </a:r>
            <a:r>
              <a:rPr lang="zh-CN" altLang="en-US" sz="1200" dirty="0" smtClean="0"/>
              <a:t>读取则不要显示，考虑其他方案</a:t>
            </a:r>
            <a:endParaRPr lang="zh-CN" altLang="en-US" sz="1200" dirty="0"/>
          </a:p>
        </p:txBody>
      </p:sp>
      <p:sp>
        <p:nvSpPr>
          <p:cNvPr id="22" name="圆角矩形标注 21"/>
          <p:cNvSpPr/>
          <p:nvPr/>
        </p:nvSpPr>
        <p:spPr>
          <a:xfrm>
            <a:off x="357158" y="428604"/>
            <a:ext cx="1143008" cy="857256"/>
          </a:xfrm>
          <a:prstGeom prst="wedgeRoundRectCallout">
            <a:avLst>
              <a:gd name="adj1" fmla="val 71700"/>
              <a:gd name="adj2" fmla="val -4203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此处为更多选项，</a:t>
            </a:r>
            <a:r>
              <a:rPr lang="en-US" altLang="zh-CN" sz="1200" dirty="0" smtClean="0">
                <a:solidFill>
                  <a:schemeClr val="tx1"/>
                </a:solidFill>
              </a:rPr>
              <a:t>My profile, My credit</a:t>
            </a:r>
            <a:r>
              <a:rPr lang="zh-CN" altLang="en-US" sz="1200" dirty="0" smtClean="0">
                <a:solidFill>
                  <a:schemeClr val="tx1"/>
                </a:solidFill>
              </a:rPr>
              <a:t>等等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23" name="圆角矩形标注 22"/>
          <p:cNvSpPr/>
          <p:nvPr/>
        </p:nvSpPr>
        <p:spPr>
          <a:xfrm>
            <a:off x="3428992" y="500042"/>
            <a:ext cx="2571768" cy="857256"/>
          </a:xfrm>
          <a:prstGeom prst="wedgeRoundRectCallout">
            <a:avLst>
              <a:gd name="adj1" fmla="val -82809"/>
              <a:gd name="adj2" fmla="val -52699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如果用户信用点数等于或低于</a:t>
            </a:r>
            <a:r>
              <a:rPr lang="en-US" altLang="zh-CN" sz="1200" dirty="0" smtClean="0">
                <a:solidFill>
                  <a:schemeClr val="tx1"/>
                </a:solidFill>
              </a:rPr>
              <a:t>2</a:t>
            </a:r>
            <a:r>
              <a:rPr lang="zh-CN" altLang="en-US" sz="1200" dirty="0" smtClean="0">
                <a:solidFill>
                  <a:schemeClr val="tx1"/>
                </a:solidFill>
              </a:rPr>
              <a:t>点，则显示滚动提示：“</a:t>
            </a:r>
            <a:r>
              <a:rPr lang="en-US" altLang="zh-CN" sz="1200" dirty="0" smtClean="0">
                <a:solidFill>
                  <a:schemeClr val="tx1"/>
                </a:solidFill>
              </a:rPr>
              <a:t>Your credit balance is low, purchase credit now!” </a:t>
            </a:r>
            <a:r>
              <a:rPr lang="zh-CN" altLang="en-US" sz="1200" dirty="0" smtClean="0">
                <a:solidFill>
                  <a:schemeClr val="tx1"/>
                </a:solidFill>
              </a:rPr>
              <a:t>点击直接进入点数购买页面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24" name="组合 23"/>
          <p:cNvGrpSpPr/>
          <p:nvPr/>
        </p:nvGrpSpPr>
        <p:grpSpPr>
          <a:xfrm>
            <a:off x="357158" y="2357430"/>
            <a:ext cx="1500198" cy="1857388"/>
            <a:chOff x="500034" y="571480"/>
            <a:chExt cx="1500198" cy="1857388"/>
          </a:xfrm>
        </p:grpSpPr>
        <p:sp>
          <p:nvSpPr>
            <p:cNvPr id="25" name="矩形 2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6" name="矩形 2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9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30" name="直接连接符 29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1" name="直接连接符 30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2" name="直接连接符 31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3" name="TextBox 32"/>
          <p:cNvSpPr txBox="1"/>
          <p:nvPr/>
        </p:nvSpPr>
        <p:spPr>
          <a:xfrm>
            <a:off x="357158" y="2643182"/>
            <a:ext cx="15001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 smtClean="0"/>
              <a:t>Current taxi stand location</a:t>
            </a:r>
          </a:p>
          <a:p>
            <a:r>
              <a:rPr lang="en-US" altLang="zh-CN" sz="900" dirty="0" smtClean="0"/>
              <a:t>                           Change</a:t>
            </a:r>
          </a:p>
          <a:p>
            <a:r>
              <a:rPr lang="en-US" altLang="zh-CN" sz="900" dirty="0" smtClean="0"/>
              <a:t>How many of you?</a:t>
            </a:r>
          </a:p>
          <a:p>
            <a:r>
              <a:rPr lang="en-US" altLang="zh-CN" sz="900" dirty="0" smtClean="0"/>
              <a:t>(</a:t>
            </a:r>
            <a:r>
              <a:rPr lang="zh-CN" altLang="en-US" sz="700" dirty="0" smtClean="0"/>
              <a:t>如果是大于</a:t>
            </a:r>
            <a:r>
              <a:rPr lang="en-US" altLang="zh-CN" sz="700" dirty="0" smtClean="0"/>
              <a:t>2</a:t>
            </a:r>
            <a:r>
              <a:rPr lang="zh-CN" altLang="en-US" sz="700" dirty="0" smtClean="0"/>
              <a:t>个人，选择性别）</a:t>
            </a:r>
            <a:endParaRPr lang="en-US" altLang="zh-CN" sz="900" dirty="0" smtClean="0"/>
          </a:p>
          <a:p>
            <a:r>
              <a:rPr lang="en-US" altLang="zh-CN" sz="900" dirty="0" smtClean="0"/>
              <a:t>Destination</a:t>
            </a:r>
          </a:p>
          <a:p>
            <a:r>
              <a:rPr lang="en-US" altLang="zh-CN" sz="900" dirty="0" smtClean="0"/>
              <a:t>Color</a:t>
            </a:r>
            <a:r>
              <a:rPr lang="zh-CN" altLang="en-US" sz="900" dirty="0" smtClean="0"/>
              <a:t> </a:t>
            </a:r>
            <a:r>
              <a:rPr lang="en-US" altLang="zh-CN" sz="900" dirty="0" smtClean="0"/>
              <a:t>of the top</a:t>
            </a:r>
          </a:p>
          <a:p>
            <a:r>
              <a:rPr lang="en-US" altLang="zh-CN" sz="900" dirty="0" smtClean="0"/>
              <a:t>Other features   </a:t>
            </a:r>
          </a:p>
        </p:txBody>
      </p:sp>
      <p:sp>
        <p:nvSpPr>
          <p:cNvPr id="34" name="矩形 33"/>
          <p:cNvSpPr/>
          <p:nvPr/>
        </p:nvSpPr>
        <p:spPr>
          <a:xfrm>
            <a:off x="500034" y="2857496"/>
            <a:ext cx="642942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5" name="矩形 34"/>
          <p:cNvSpPr/>
          <p:nvPr/>
        </p:nvSpPr>
        <p:spPr>
          <a:xfrm>
            <a:off x="1428728" y="3000372"/>
            <a:ext cx="357190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6" name="矩形 35"/>
          <p:cNvSpPr/>
          <p:nvPr/>
        </p:nvSpPr>
        <p:spPr>
          <a:xfrm>
            <a:off x="1214414" y="3214686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/>
          <p:cNvSpPr/>
          <p:nvPr/>
        </p:nvSpPr>
        <p:spPr>
          <a:xfrm>
            <a:off x="1285852" y="3357562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/>
          <p:cNvSpPr/>
          <p:nvPr/>
        </p:nvSpPr>
        <p:spPr>
          <a:xfrm>
            <a:off x="1285852" y="3500438"/>
            <a:ext cx="500066" cy="142876"/>
          </a:xfrm>
          <a:prstGeom prst="rect">
            <a:avLst/>
          </a:prstGeom>
          <a:solidFill>
            <a:schemeClr val="bg1">
              <a:lumMod val="6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39" name="组合 38"/>
          <p:cNvGrpSpPr/>
          <p:nvPr/>
        </p:nvGrpSpPr>
        <p:grpSpPr>
          <a:xfrm>
            <a:off x="5929322" y="2357430"/>
            <a:ext cx="1500198" cy="1857388"/>
            <a:chOff x="500034" y="571480"/>
            <a:chExt cx="1500198" cy="1857388"/>
          </a:xfrm>
        </p:grpSpPr>
        <p:sp>
          <p:nvSpPr>
            <p:cNvPr id="40" name="矩形 3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1" name="矩形 4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4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/>
          <p:cNvSpPr txBox="1"/>
          <p:nvPr/>
        </p:nvSpPr>
        <p:spPr>
          <a:xfrm>
            <a:off x="6072198" y="2714620"/>
            <a:ext cx="121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前面输入信息总结</a:t>
            </a:r>
            <a:endParaRPr lang="zh-CN" altLang="en-US" dirty="0"/>
          </a:p>
        </p:txBody>
      </p:sp>
      <p:sp>
        <p:nvSpPr>
          <p:cNvPr id="48" name="矩形 47"/>
          <p:cNvSpPr/>
          <p:nvPr/>
        </p:nvSpPr>
        <p:spPr>
          <a:xfrm>
            <a:off x="5929322" y="3714752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Confirm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49" name="组合 48"/>
          <p:cNvGrpSpPr/>
          <p:nvPr/>
        </p:nvGrpSpPr>
        <p:grpSpPr>
          <a:xfrm>
            <a:off x="7572396" y="2357430"/>
            <a:ext cx="1500198" cy="1857388"/>
            <a:chOff x="500034" y="571480"/>
            <a:chExt cx="1500198" cy="1857388"/>
          </a:xfrm>
        </p:grpSpPr>
        <p:sp>
          <p:nvSpPr>
            <p:cNvPr id="50" name="矩形 4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1" name="矩形 5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5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54" name="直接连接符 5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5" name="直接连接符 5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56" name="直接连接符 5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57" name="TextBox 56"/>
          <p:cNvSpPr txBox="1"/>
          <p:nvPr/>
        </p:nvSpPr>
        <p:spPr>
          <a:xfrm>
            <a:off x="7786710" y="2857496"/>
            <a:ext cx="100013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告知已经排入队列，停顿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秒自动淡化进入配对页面</a:t>
            </a:r>
            <a:endParaRPr lang="zh-CN" altLang="en-US" sz="1200" dirty="0"/>
          </a:p>
        </p:txBody>
      </p:sp>
      <p:sp>
        <p:nvSpPr>
          <p:cNvPr id="58" name="TextBox 57"/>
          <p:cNvSpPr txBox="1"/>
          <p:nvPr/>
        </p:nvSpPr>
        <p:spPr>
          <a:xfrm>
            <a:off x="428596" y="4286256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4) </a:t>
            </a:r>
            <a:r>
              <a:rPr lang="zh-CN" altLang="en-US" sz="1200" dirty="0" smtClean="0"/>
              <a:t>配对页面（如果用户已加入队列，则直接显示配对页面）   </a:t>
            </a:r>
            <a:r>
              <a:rPr lang="en-US" altLang="zh-CN" sz="1200" dirty="0" smtClean="0"/>
              <a:t>Confirm</a:t>
            </a:r>
            <a:r>
              <a:rPr lang="zh-CN" altLang="en-US" sz="1200" dirty="0" smtClean="0"/>
              <a:t>页面</a:t>
            </a:r>
            <a:endParaRPr lang="zh-CN" altLang="en-US" sz="1200" dirty="0"/>
          </a:p>
        </p:txBody>
      </p:sp>
      <p:grpSp>
        <p:nvGrpSpPr>
          <p:cNvPr id="59" name="组合 58"/>
          <p:cNvGrpSpPr/>
          <p:nvPr/>
        </p:nvGrpSpPr>
        <p:grpSpPr>
          <a:xfrm>
            <a:off x="1000100" y="4643446"/>
            <a:ext cx="1500198" cy="1857388"/>
            <a:chOff x="500034" y="571480"/>
            <a:chExt cx="1500198" cy="1857388"/>
          </a:xfrm>
        </p:grpSpPr>
        <p:sp>
          <p:nvSpPr>
            <p:cNvPr id="60" name="矩形 5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61" name="矩形 6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6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64" name="直接连接符 6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5" name="直接连接符 6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66" name="直接连接符 6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67" name="矩形 66"/>
          <p:cNvSpPr/>
          <p:nvPr/>
        </p:nvSpPr>
        <p:spPr>
          <a:xfrm>
            <a:off x="1000100" y="600076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I have left the Q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68" name="圆角矩形标注 67"/>
          <p:cNvSpPr/>
          <p:nvPr/>
        </p:nvSpPr>
        <p:spPr>
          <a:xfrm>
            <a:off x="-32" y="4857760"/>
            <a:ext cx="857256" cy="1000132"/>
          </a:xfrm>
          <a:prstGeom prst="wedgeRoundRectCallout">
            <a:avLst>
              <a:gd name="adj1" fmla="val 97833"/>
              <a:gd name="adj2" fmla="val 48532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50" dirty="0" smtClean="0">
                <a:solidFill>
                  <a:schemeClr val="tx1"/>
                </a:solidFill>
              </a:rPr>
              <a:t>如果没有找到配对：</a:t>
            </a:r>
            <a:r>
              <a:rPr lang="en-US" altLang="zh-CN" sz="1050" dirty="0" smtClean="0">
                <a:solidFill>
                  <a:schemeClr val="tx1"/>
                </a:solidFill>
              </a:rPr>
              <a:t>No match found yet, please be patient.</a:t>
            </a:r>
            <a:endParaRPr lang="zh-CN" altLang="en-US" sz="1050" dirty="0">
              <a:solidFill>
                <a:schemeClr val="tx1"/>
              </a:solidFill>
            </a:endParaRPr>
          </a:p>
        </p:txBody>
      </p:sp>
      <p:sp>
        <p:nvSpPr>
          <p:cNvPr id="69" name="TextBox 68"/>
          <p:cNvSpPr txBox="1"/>
          <p:nvPr/>
        </p:nvSpPr>
        <p:spPr>
          <a:xfrm>
            <a:off x="1071538" y="5000636"/>
            <a:ext cx="1357322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Match found:</a:t>
            </a:r>
          </a:p>
          <a:p>
            <a:r>
              <a:rPr lang="zh-CN" altLang="en-US" sz="1000" dirty="0" smtClean="0"/>
              <a:t>对方的基本信息显示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en-US" altLang="zh-CN" sz="1000" dirty="0" smtClean="0"/>
          </a:p>
          <a:p>
            <a:r>
              <a:rPr lang="zh-CN" altLang="en-US" sz="1000" dirty="0" smtClean="0"/>
              <a:t>。。。。。</a:t>
            </a:r>
            <a:endParaRPr lang="en-US" altLang="zh-CN" sz="1000" dirty="0" smtClean="0"/>
          </a:p>
          <a:p>
            <a:r>
              <a:rPr lang="en-US" altLang="zh-CN" sz="1000" dirty="0" smtClean="0"/>
              <a:t>Rating</a:t>
            </a:r>
            <a:endParaRPr lang="zh-CN" altLang="en-US" sz="1000" dirty="0"/>
          </a:p>
        </p:txBody>
      </p:sp>
      <p:sp>
        <p:nvSpPr>
          <p:cNvPr id="70" name="矩形 69"/>
          <p:cNvSpPr/>
          <p:nvPr/>
        </p:nvSpPr>
        <p:spPr>
          <a:xfrm>
            <a:off x="1714480" y="5429264"/>
            <a:ext cx="714380" cy="357190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View Route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71" name="组合 70"/>
          <p:cNvGrpSpPr/>
          <p:nvPr/>
        </p:nvGrpSpPr>
        <p:grpSpPr>
          <a:xfrm>
            <a:off x="2643174" y="4643446"/>
            <a:ext cx="1500198" cy="1857388"/>
            <a:chOff x="500034" y="571480"/>
            <a:chExt cx="1500198" cy="1857388"/>
          </a:xfrm>
        </p:grpSpPr>
        <p:sp>
          <p:nvSpPr>
            <p:cNvPr id="72" name="矩形 71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3" name="矩形 72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75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76" name="直接连接符 75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7" name="直接连接符 76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78" name="直接连接符 77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80" name="TextBox 79"/>
          <p:cNvSpPr txBox="1"/>
          <p:nvPr/>
        </p:nvSpPr>
        <p:spPr>
          <a:xfrm>
            <a:off x="2714612" y="4929198"/>
            <a:ext cx="1357322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路线图，大概节省费用。如果该用户第二个下车，告知大概延误时间（分钟）</a:t>
            </a:r>
            <a:endParaRPr lang="zh-CN" altLang="en-US" sz="1200" dirty="0"/>
          </a:p>
        </p:txBody>
      </p:sp>
      <p:sp>
        <p:nvSpPr>
          <p:cNvPr id="81" name="矩形 80"/>
          <p:cNvSpPr/>
          <p:nvPr/>
        </p:nvSpPr>
        <p:spPr>
          <a:xfrm>
            <a:off x="2643174" y="6072206"/>
            <a:ext cx="857256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Agree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82" name="矩形 81"/>
          <p:cNvSpPr/>
          <p:nvPr/>
        </p:nvSpPr>
        <p:spPr>
          <a:xfrm>
            <a:off x="3500430" y="6072206"/>
            <a:ext cx="642942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Reject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84" name="组合 83"/>
          <p:cNvGrpSpPr/>
          <p:nvPr/>
        </p:nvGrpSpPr>
        <p:grpSpPr>
          <a:xfrm>
            <a:off x="6000760" y="4643446"/>
            <a:ext cx="1500198" cy="1857388"/>
            <a:chOff x="500034" y="571480"/>
            <a:chExt cx="1500198" cy="1857388"/>
          </a:xfrm>
        </p:grpSpPr>
        <p:sp>
          <p:nvSpPr>
            <p:cNvPr id="85" name="矩形 8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6" name="矩形 8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8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89" name="直接连接符 8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0" name="直接连接符 8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91" name="直接连接符 9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92" name="TextBox 91"/>
          <p:cNvSpPr txBox="1"/>
          <p:nvPr/>
        </p:nvSpPr>
        <p:spPr>
          <a:xfrm>
            <a:off x="6072198" y="4902655"/>
            <a:ext cx="1428760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前端用户：显示：</a:t>
            </a:r>
            <a:r>
              <a:rPr lang="en-US" altLang="zh-CN" sz="1000" dirty="0" smtClean="0"/>
              <a:t>Waiting for the other party to accept</a:t>
            </a:r>
            <a:r>
              <a:rPr lang="zh-CN" altLang="en-US" sz="1000" dirty="0" smtClean="0"/>
              <a:t>，同时推送</a:t>
            </a:r>
            <a:r>
              <a:rPr lang="zh-CN" altLang="en-US" sz="1000" dirty="0" smtClean="0">
                <a:solidFill>
                  <a:srgbClr val="FF0000"/>
                </a:solidFill>
              </a:rPr>
              <a:t>配对页面一</a:t>
            </a:r>
            <a:r>
              <a:rPr lang="zh-CN" altLang="en-US" sz="1000" dirty="0" smtClean="0"/>
              <a:t>给后端用户</a:t>
            </a:r>
            <a:r>
              <a:rPr lang="en-US" altLang="zh-CN" sz="1000" dirty="0" smtClean="0"/>
              <a:t>; </a:t>
            </a:r>
            <a:r>
              <a:rPr lang="zh-CN" altLang="en-US" sz="1000" dirty="0" smtClean="0"/>
              <a:t>后端用户：显示成功配对，提供按钮查看更多对方信息。</a:t>
            </a:r>
            <a:endParaRPr lang="zh-CN" altLang="en-US" sz="1000" dirty="0"/>
          </a:p>
        </p:txBody>
      </p:sp>
      <p:sp>
        <p:nvSpPr>
          <p:cNvPr id="93" name="矩形 92"/>
          <p:cNvSpPr/>
          <p:nvPr/>
        </p:nvSpPr>
        <p:spPr>
          <a:xfrm>
            <a:off x="6000760" y="6072206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More about the other party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grpSp>
        <p:nvGrpSpPr>
          <p:cNvPr id="94" name="组合 93"/>
          <p:cNvGrpSpPr/>
          <p:nvPr/>
        </p:nvGrpSpPr>
        <p:grpSpPr>
          <a:xfrm>
            <a:off x="7572396" y="4643446"/>
            <a:ext cx="1500198" cy="1857388"/>
            <a:chOff x="500034" y="571480"/>
            <a:chExt cx="1500198" cy="1857388"/>
          </a:xfrm>
        </p:grpSpPr>
        <p:sp>
          <p:nvSpPr>
            <p:cNvPr id="95" name="矩形 9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96" name="矩形 9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9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99" name="直接连接符 9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0" name="直接连接符 9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01" name="直接连接符 10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02" name="矩形 101"/>
          <p:cNvSpPr/>
          <p:nvPr/>
        </p:nvSpPr>
        <p:spPr>
          <a:xfrm>
            <a:off x="7572396" y="6072206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I am the next to board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03" name="TextBox 102"/>
          <p:cNvSpPr txBox="1"/>
          <p:nvPr/>
        </p:nvSpPr>
        <p:spPr>
          <a:xfrm>
            <a:off x="7572396" y="4929198"/>
            <a:ext cx="1428760" cy="86177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000" dirty="0" smtClean="0"/>
              <a:t>对方详细信息</a:t>
            </a:r>
            <a:endParaRPr lang="en-US" altLang="zh-CN" sz="1000" dirty="0" smtClean="0"/>
          </a:p>
          <a:p>
            <a:r>
              <a:rPr lang="zh-CN" altLang="en-US" sz="1000" dirty="0" smtClean="0"/>
              <a:t>并系统分配配对编号</a:t>
            </a:r>
            <a:endParaRPr lang="en-US" altLang="zh-CN" sz="1000" dirty="0" smtClean="0"/>
          </a:p>
          <a:p>
            <a:endParaRPr lang="en-US" altLang="zh-CN" sz="1000" dirty="0" smtClean="0"/>
          </a:p>
          <a:p>
            <a:r>
              <a:rPr lang="zh-CN" altLang="en-US" sz="1000" dirty="0" smtClean="0"/>
              <a:t>前端用户给予以下按钮提示</a:t>
            </a:r>
            <a:endParaRPr lang="zh-CN" altLang="en-US" sz="1000" dirty="0"/>
          </a:p>
        </p:txBody>
      </p:sp>
      <p:grpSp>
        <p:nvGrpSpPr>
          <p:cNvPr id="116" name="组合 115"/>
          <p:cNvGrpSpPr/>
          <p:nvPr/>
        </p:nvGrpSpPr>
        <p:grpSpPr>
          <a:xfrm>
            <a:off x="6929454" y="428604"/>
            <a:ext cx="1500198" cy="1857388"/>
            <a:chOff x="500034" y="571480"/>
            <a:chExt cx="1500198" cy="1857388"/>
          </a:xfrm>
        </p:grpSpPr>
        <p:sp>
          <p:nvSpPr>
            <p:cNvPr id="117" name="矩形 11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18" name="矩形 11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19" name="矩形 118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Purchase Credit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120" name="矩形 119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21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22" name="直接连接符 121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3" name="直接连接符 122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4" name="直接连接符 123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25" name="右箭头 124"/>
          <p:cNvSpPr/>
          <p:nvPr/>
        </p:nvSpPr>
        <p:spPr>
          <a:xfrm>
            <a:off x="3571868" y="1571612"/>
            <a:ext cx="2857520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26" name="TextBox 125"/>
          <p:cNvSpPr txBox="1"/>
          <p:nvPr/>
        </p:nvSpPr>
        <p:spPr>
          <a:xfrm>
            <a:off x="7072330" y="785794"/>
            <a:ext cx="1214446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如果用户信用点为</a:t>
            </a:r>
            <a:r>
              <a:rPr lang="en-US" altLang="zh-CN" sz="1200" dirty="0" smtClean="0"/>
              <a:t>0</a:t>
            </a:r>
            <a:r>
              <a:rPr lang="zh-CN" altLang="en-US" sz="1200" dirty="0" smtClean="0"/>
              <a:t>，则显示该页面：</a:t>
            </a:r>
            <a:r>
              <a:rPr lang="en-US" altLang="zh-CN" sz="1200" dirty="0" smtClean="0"/>
              <a:t>Oops, you credit balance is 0</a:t>
            </a:r>
            <a:endParaRPr lang="zh-CN" altLang="en-US" sz="1200" dirty="0"/>
          </a:p>
        </p:txBody>
      </p:sp>
      <p:grpSp>
        <p:nvGrpSpPr>
          <p:cNvPr id="104" name="组合 103"/>
          <p:cNvGrpSpPr/>
          <p:nvPr/>
        </p:nvGrpSpPr>
        <p:grpSpPr>
          <a:xfrm>
            <a:off x="4429124" y="4643446"/>
            <a:ext cx="1500198" cy="1857388"/>
            <a:chOff x="500034" y="571480"/>
            <a:chExt cx="1500198" cy="1857388"/>
          </a:xfrm>
        </p:grpSpPr>
        <p:sp>
          <p:nvSpPr>
            <p:cNvPr id="105" name="矩形 10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10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09" name="直接连接符 10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0" name="直接连接符 10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11" name="直接连接符 11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12" name="右箭头 111"/>
          <p:cNvSpPr/>
          <p:nvPr/>
        </p:nvSpPr>
        <p:spPr>
          <a:xfrm>
            <a:off x="4143372" y="5429264"/>
            <a:ext cx="357190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3" name="矩形 112"/>
          <p:cNvSpPr/>
          <p:nvPr/>
        </p:nvSpPr>
        <p:spPr>
          <a:xfrm>
            <a:off x="4429124" y="6000768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Confirm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5" name="TextBox 114"/>
          <p:cNvSpPr txBox="1"/>
          <p:nvPr/>
        </p:nvSpPr>
        <p:spPr>
          <a:xfrm>
            <a:off x="4429124" y="4929198"/>
            <a:ext cx="1357322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用户</a:t>
            </a:r>
            <a:r>
              <a:rPr lang="en-US" altLang="zh-CN" sz="1400" dirty="0" smtClean="0"/>
              <a:t>confirm</a:t>
            </a:r>
            <a:r>
              <a:rPr lang="zh-CN" altLang="en-US" sz="1400" dirty="0" smtClean="0"/>
              <a:t>选择</a:t>
            </a:r>
            <a:r>
              <a:rPr lang="en-US" altLang="zh-CN" sz="1400" dirty="0" smtClean="0"/>
              <a:t>-accept, reject, left Q</a:t>
            </a:r>
            <a:endParaRPr lang="zh-CN" altLang="en-US" sz="1400" dirty="0"/>
          </a:p>
        </p:txBody>
      </p:sp>
      <p:sp>
        <p:nvSpPr>
          <p:cNvPr id="128" name="下弧形箭头 127"/>
          <p:cNvSpPr/>
          <p:nvPr/>
        </p:nvSpPr>
        <p:spPr>
          <a:xfrm>
            <a:off x="2357422" y="6143644"/>
            <a:ext cx="2500330" cy="714356"/>
          </a:xfrm>
          <a:prstGeom prst="curvedUpArrow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130" name="TextBox 129"/>
          <p:cNvSpPr txBox="1"/>
          <p:nvPr/>
        </p:nvSpPr>
        <p:spPr>
          <a:xfrm>
            <a:off x="1214414" y="6572272"/>
            <a:ext cx="12144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（配对页面一）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sp>
        <p:nvSpPr>
          <p:cNvPr id="127" name="下弧形箭头 126"/>
          <p:cNvSpPr/>
          <p:nvPr/>
        </p:nvSpPr>
        <p:spPr>
          <a:xfrm>
            <a:off x="1714480" y="3786190"/>
            <a:ext cx="4500594" cy="500066"/>
          </a:xfrm>
          <a:prstGeom prst="curvedUp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grpSp>
        <p:nvGrpSpPr>
          <p:cNvPr id="129" name="组合 128"/>
          <p:cNvGrpSpPr/>
          <p:nvPr/>
        </p:nvGrpSpPr>
        <p:grpSpPr>
          <a:xfrm>
            <a:off x="2357422" y="2357430"/>
            <a:ext cx="1500198" cy="1857388"/>
            <a:chOff x="500034" y="571480"/>
            <a:chExt cx="1500198" cy="1857388"/>
          </a:xfrm>
        </p:grpSpPr>
        <p:sp>
          <p:nvSpPr>
            <p:cNvPr id="131" name="矩形 130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32" name="矩形 131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134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35" name="直接连接符 134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6" name="直接连接符 135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7" name="直接连接符 136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38" name="右箭头 137"/>
          <p:cNvSpPr/>
          <p:nvPr/>
        </p:nvSpPr>
        <p:spPr>
          <a:xfrm>
            <a:off x="1643042" y="2857496"/>
            <a:ext cx="714380" cy="142876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9" name="TextBox 138"/>
          <p:cNvSpPr txBox="1"/>
          <p:nvPr/>
        </p:nvSpPr>
        <p:spPr>
          <a:xfrm>
            <a:off x="1714480" y="2571744"/>
            <a:ext cx="714380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>
                <a:solidFill>
                  <a:srgbClr val="FF0000"/>
                </a:solidFill>
              </a:rPr>
              <a:t>“Change”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140" name="矩形 139"/>
          <p:cNvSpPr/>
          <p:nvPr/>
        </p:nvSpPr>
        <p:spPr>
          <a:xfrm>
            <a:off x="2357422" y="2643182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输入框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1" name="TextBox 140"/>
          <p:cNvSpPr txBox="1"/>
          <p:nvPr/>
        </p:nvSpPr>
        <p:spPr>
          <a:xfrm>
            <a:off x="2357422" y="2928934"/>
            <a:ext cx="150019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即时提示输入匹配出租车站列表，用户点击即为选择退回上一界面</a:t>
            </a:r>
            <a:endParaRPr lang="zh-CN" altLang="en-US" sz="1200" dirty="0"/>
          </a:p>
        </p:txBody>
      </p:sp>
      <p:sp>
        <p:nvSpPr>
          <p:cNvPr id="142" name="矩形 141"/>
          <p:cNvSpPr/>
          <p:nvPr/>
        </p:nvSpPr>
        <p:spPr>
          <a:xfrm>
            <a:off x="357158" y="3714752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Join the Q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43" name="矩形 142"/>
          <p:cNvSpPr/>
          <p:nvPr/>
        </p:nvSpPr>
        <p:spPr>
          <a:xfrm>
            <a:off x="2357422" y="3714752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Can’t find? Report a new taxi stand?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grpSp>
        <p:nvGrpSpPr>
          <p:cNvPr id="144" name="组合 143"/>
          <p:cNvGrpSpPr/>
          <p:nvPr/>
        </p:nvGrpSpPr>
        <p:grpSpPr>
          <a:xfrm>
            <a:off x="4214810" y="2357430"/>
            <a:ext cx="1500198" cy="1857388"/>
            <a:chOff x="500034" y="571480"/>
            <a:chExt cx="1500198" cy="1857388"/>
          </a:xfrm>
        </p:grpSpPr>
        <p:sp>
          <p:nvSpPr>
            <p:cNvPr id="145" name="矩形 14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46" name="矩形 14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148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49" name="直接连接符 148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0" name="直接连接符 149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51" name="直接连接符 150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52" name="右箭头 151"/>
          <p:cNvSpPr/>
          <p:nvPr/>
        </p:nvSpPr>
        <p:spPr>
          <a:xfrm>
            <a:off x="3857620" y="3786190"/>
            <a:ext cx="428628" cy="7143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53" name="TextBox 152"/>
          <p:cNvSpPr txBox="1"/>
          <p:nvPr/>
        </p:nvSpPr>
        <p:spPr>
          <a:xfrm>
            <a:off x="4214810" y="2631040"/>
            <a:ext cx="1500198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100" dirty="0" smtClean="0"/>
              <a:t>Thank you! We have recorded the new taxi stand and will add in after verifying.</a:t>
            </a:r>
            <a:endParaRPr lang="zh-CN" altLang="en-US" sz="1100" dirty="0"/>
          </a:p>
        </p:txBody>
      </p:sp>
      <p:sp>
        <p:nvSpPr>
          <p:cNvPr id="162" name="矩形 161"/>
          <p:cNvSpPr/>
          <p:nvPr/>
        </p:nvSpPr>
        <p:spPr>
          <a:xfrm>
            <a:off x="4214810" y="3714752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>
                <a:solidFill>
                  <a:schemeClr val="tx1"/>
                </a:solidFill>
              </a:rPr>
              <a:t>Thank you!</a:t>
            </a:r>
            <a:endParaRPr lang="zh-CN" altLang="en-US" sz="1000" dirty="0">
              <a:solidFill>
                <a:schemeClr val="tx1"/>
              </a:solidFill>
            </a:endParaRPr>
          </a:p>
        </p:txBody>
      </p:sp>
      <p:sp>
        <p:nvSpPr>
          <p:cNvPr id="163" name="下箭头标注 162"/>
          <p:cNvSpPr/>
          <p:nvPr/>
        </p:nvSpPr>
        <p:spPr>
          <a:xfrm>
            <a:off x="5000628" y="1785926"/>
            <a:ext cx="1143008" cy="2071702"/>
          </a:xfrm>
          <a:prstGeom prst="downArrowCallout">
            <a:avLst>
              <a:gd name="adj1" fmla="val 5606"/>
              <a:gd name="adj2" fmla="val 25000"/>
              <a:gd name="adj3" fmla="val 25000"/>
              <a:gd name="adj4" fmla="val 19940"/>
            </a:avLst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200" dirty="0" smtClean="0">
                <a:solidFill>
                  <a:schemeClr val="tx1"/>
                </a:solidFill>
              </a:rPr>
              <a:t>回到主页面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下箭头 3"/>
          <p:cNvSpPr/>
          <p:nvPr/>
        </p:nvSpPr>
        <p:spPr>
          <a:xfrm>
            <a:off x="285720" y="214290"/>
            <a:ext cx="285752" cy="428628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5" name="TextBox 4"/>
          <p:cNvSpPr txBox="1"/>
          <p:nvPr/>
        </p:nvSpPr>
        <p:spPr>
          <a:xfrm>
            <a:off x="642910" y="142852"/>
            <a:ext cx="8072494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配对成功显示对方详细信息页面，“</a:t>
            </a:r>
            <a:r>
              <a:rPr lang="en-US" altLang="zh-CN" sz="1400" dirty="0" smtClean="0"/>
              <a:t>I am the next</a:t>
            </a:r>
            <a:r>
              <a:rPr lang="zh-CN" altLang="en-US" sz="1400" dirty="0" smtClean="0"/>
              <a:t>”按下后显示路线及付费方式（先下车和后下车用户显示内容不同）</a:t>
            </a:r>
            <a:endParaRPr lang="zh-CN" altLang="en-US" sz="1400" dirty="0"/>
          </a:p>
        </p:txBody>
      </p:sp>
      <p:grpSp>
        <p:nvGrpSpPr>
          <p:cNvPr id="6" name="组合 5"/>
          <p:cNvGrpSpPr/>
          <p:nvPr/>
        </p:nvGrpSpPr>
        <p:grpSpPr>
          <a:xfrm>
            <a:off x="285720" y="857232"/>
            <a:ext cx="1500198" cy="1857388"/>
            <a:chOff x="500034" y="571480"/>
            <a:chExt cx="1500198" cy="1857388"/>
          </a:xfrm>
        </p:grpSpPr>
        <p:sp>
          <p:nvSpPr>
            <p:cNvPr id="7" name="矩形 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" name="矩形 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10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矩形 13"/>
          <p:cNvSpPr/>
          <p:nvPr/>
        </p:nvSpPr>
        <p:spPr>
          <a:xfrm>
            <a:off x="285720" y="2285992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Agree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285720" y="1142984"/>
            <a:ext cx="1500198" cy="116955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000" dirty="0" smtClean="0"/>
              <a:t>Welcome Aboard!</a:t>
            </a:r>
          </a:p>
          <a:p>
            <a:r>
              <a:rPr lang="en-US" altLang="zh-CN" sz="1000" dirty="0" smtClean="0"/>
              <a:t>We will reach your destination first. At the time of lighting, please pay xxx half of the amount on the taxi meter (roughly </a:t>
            </a:r>
            <a:r>
              <a:rPr lang="en-US" altLang="zh-CN" sz="1000" dirty="0" err="1" smtClean="0"/>
              <a:t>S$xxx</a:t>
            </a:r>
            <a:r>
              <a:rPr lang="en-US" altLang="zh-CN" sz="1000" dirty="0" smtClean="0"/>
              <a:t>).</a:t>
            </a:r>
            <a:endParaRPr lang="zh-CN" altLang="en-US" sz="1000" dirty="0"/>
          </a:p>
        </p:txBody>
      </p:sp>
      <p:grpSp>
        <p:nvGrpSpPr>
          <p:cNvPr id="16" name="组合 15"/>
          <p:cNvGrpSpPr/>
          <p:nvPr/>
        </p:nvGrpSpPr>
        <p:grpSpPr>
          <a:xfrm>
            <a:off x="2000232" y="857232"/>
            <a:ext cx="1500198" cy="1857388"/>
            <a:chOff x="500034" y="571480"/>
            <a:chExt cx="1500198" cy="1857388"/>
          </a:xfrm>
        </p:grpSpPr>
        <p:sp>
          <p:nvSpPr>
            <p:cNvPr id="17" name="矩形 1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8" name="矩形 1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0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21" name="直接连接符 20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2" name="直接连接符 21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3" name="直接连接符 22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24" name="矩形 23"/>
          <p:cNvSpPr/>
          <p:nvPr/>
        </p:nvSpPr>
        <p:spPr>
          <a:xfrm>
            <a:off x="2000232" y="2285992"/>
            <a:ext cx="1500198" cy="2143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900" dirty="0" smtClean="0">
                <a:solidFill>
                  <a:schemeClr val="tx1"/>
                </a:solidFill>
              </a:rPr>
              <a:t>Agree</a:t>
            </a:r>
            <a:endParaRPr lang="zh-CN" altLang="en-US" sz="900" dirty="0">
              <a:solidFill>
                <a:schemeClr val="tx1"/>
              </a:solidFill>
            </a:endParaRPr>
          </a:p>
        </p:txBody>
      </p:sp>
      <p:sp>
        <p:nvSpPr>
          <p:cNvPr id="25" name="TextBox 24"/>
          <p:cNvSpPr txBox="1"/>
          <p:nvPr/>
        </p:nvSpPr>
        <p:spPr>
          <a:xfrm>
            <a:off x="2000232" y="1142984"/>
            <a:ext cx="15001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800" dirty="0" smtClean="0"/>
              <a:t>Welcome Aboard!</a:t>
            </a:r>
          </a:p>
          <a:p>
            <a:r>
              <a:rPr lang="en-US" altLang="zh-CN" sz="800" dirty="0" smtClean="0"/>
              <a:t>We will drop off xxx first and continue driving towards your destination. Please collect half of the amount on the taxi meter from xxx when he </a:t>
            </a:r>
            <a:r>
              <a:rPr lang="en-US" altLang="zh-CN" sz="800" dirty="0" err="1" smtClean="0"/>
              <a:t>alghts</a:t>
            </a:r>
            <a:r>
              <a:rPr lang="en-US" altLang="zh-CN" sz="800" dirty="0" smtClean="0"/>
              <a:t> (roughly </a:t>
            </a:r>
            <a:r>
              <a:rPr lang="en-US" altLang="zh-CN" sz="800" dirty="0" err="1" smtClean="0"/>
              <a:t>S$xxx</a:t>
            </a:r>
            <a:r>
              <a:rPr lang="en-US" altLang="zh-CN" sz="800" dirty="0" smtClean="0"/>
              <a:t>) and </a:t>
            </a:r>
            <a:r>
              <a:rPr lang="en-US" altLang="zh-CN" sz="800" dirty="0" err="1" smtClean="0"/>
              <a:t>paythe</a:t>
            </a:r>
            <a:r>
              <a:rPr lang="en-US" altLang="zh-CN" sz="800" dirty="0" smtClean="0"/>
              <a:t> driver the final fare.</a:t>
            </a:r>
            <a:endParaRPr lang="zh-CN" altLang="en-US" sz="800" dirty="0"/>
          </a:p>
        </p:txBody>
      </p:sp>
      <p:sp>
        <p:nvSpPr>
          <p:cNvPr id="26" name="右箭头 25"/>
          <p:cNvSpPr/>
          <p:nvPr/>
        </p:nvSpPr>
        <p:spPr>
          <a:xfrm>
            <a:off x="3500430" y="1571612"/>
            <a:ext cx="785818" cy="142876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TextBox 26"/>
          <p:cNvSpPr txBox="1"/>
          <p:nvPr/>
        </p:nvSpPr>
        <p:spPr>
          <a:xfrm>
            <a:off x="3500430" y="1142984"/>
            <a:ext cx="107157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点击 </a:t>
            </a:r>
            <a:r>
              <a:rPr lang="en-US" altLang="zh-CN" sz="1200" dirty="0" smtClean="0"/>
              <a:t>OK</a:t>
            </a:r>
            <a:endParaRPr lang="zh-CN" altLang="en-US" sz="1200" dirty="0"/>
          </a:p>
        </p:txBody>
      </p:sp>
      <p:sp>
        <p:nvSpPr>
          <p:cNvPr id="28" name="TextBox 27"/>
          <p:cNvSpPr txBox="1"/>
          <p:nvPr/>
        </p:nvSpPr>
        <p:spPr>
          <a:xfrm>
            <a:off x="4357686" y="1214422"/>
            <a:ext cx="1143008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400" dirty="0" smtClean="0"/>
              <a:t>出现“</a:t>
            </a:r>
            <a:r>
              <a:rPr lang="en-US" altLang="zh-CN" sz="1400" dirty="0" smtClean="0"/>
              <a:t>Enjoy the Ride”</a:t>
            </a:r>
            <a:r>
              <a:rPr lang="zh-CN" altLang="en-US" sz="1400" dirty="0" smtClean="0"/>
              <a:t>，</a:t>
            </a:r>
            <a:r>
              <a:rPr lang="en-US" altLang="zh-CN" sz="1400" dirty="0" smtClean="0"/>
              <a:t>3</a:t>
            </a:r>
            <a:r>
              <a:rPr lang="zh-CN" altLang="en-US" sz="1400" dirty="0" smtClean="0"/>
              <a:t>秒后淡化回到主界面</a:t>
            </a:r>
            <a:endParaRPr lang="zh-CN" altLang="en-US" sz="1400" dirty="0"/>
          </a:p>
        </p:txBody>
      </p:sp>
      <p:sp>
        <p:nvSpPr>
          <p:cNvPr id="29" name="矩形 28"/>
          <p:cNvSpPr/>
          <p:nvPr/>
        </p:nvSpPr>
        <p:spPr>
          <a:xfrm>
            <a:off x="214282" y="2857496"/>
            <a:ext cx="8715436" cy="3786214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 anchorCtr="0"/>
          <a:lstStyle/>
          <a:p>
            <a:r>
              <a:rPr lang="zh-CN" altLang="en-US" sz="1200" dirty="0" smtClean="0">
                <a:solidFill>
                  <a:schemeClr val="tx1"/>
                </a:solidFill>
              </a:rPr>
              <a:t>总费用为咪表 </a:t>
            </a:r>
            <a:r>
              <a:rPr lang="en-US" altLang="zh-CN" sz="1200" dirty="0" smtClean="0">
                <a:solidFill>
                  <a:schemeClr val="tx1"/>
                </a:solidFill>
              </a:rPr>
              <a:t>+</a:t>
            </a:r>
            <a:r>
              <a:rPr lang="zh-CN" altLang="en-US" sz="1200" dirty="0" smtClean="0">
                <a:solidFill>
                  <a:schemeClr val="tx1"/>
                </a:solidFill>
              </a:rPr>
              <a:t>所有附加费</a:t>
            </a:r>
            <a:r>
              <a:rPr lang="en-US" altLang="zh-CN" sz="1200" dirty="0" smtClean="0">
                <a:solidFill>
                  <a:schemeClr val="tx1"/>
                </a:solidFill>
              </a:rPr>
              <a:t>+ERP</a:t>
            </a:r>
            <a:r>
              <a:rPr lang="zh-CN" altLang="en-US" sz="1200" dirty="0" smtClean="0">
                <a:solidFill>
                  <a:schemeClr val="tx1"/>
                </a:solidFill>
              </a:rPr>
              <a:t>附加费   </a:t>
            </a:r>
            <a:r>
              <a:rPr lang="en-US" sz="1200" dirty="0" smtClean="0">
                <a:hlinkClick r:id="rId2"/>
              </a:rPr>
              <a:t>http://www.worldtaximeter.com/singapore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新加坡出租车计费标准：</a:t>
            </a:r>
            <a:r>
              <a:rPr lang="zh-CN" altLang="en-US" sz="1200" dirty="0" smtClean="0">
                <a:solidFill>
                  <a:srgbClr val="FF0000"/>
                </a:solidFill>
              </a:rPr>
              <a:t>（红色标注的计费时不用考虑）</a:t>
            </a:r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一公里以内起步费：</a:t>
            </a:r>
            <a:r>
              <a:rPr lang="en-US" altLang="zh-CN" sz="1200" dirty="0" smtClean="0">
                <a:solidFill>
                  <a:schemeClr val="tx1"/>
                </a:solidFill>
              </a:rPr>
              <a:t>S$3.00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一公里以上十公里以内，每</a:t>
            </a:r>
            <a:r>
              <a:rPr lang="en-US" altLang="zh-CN" sz="1200" dirty="0" smtClean="0">
                <a:solidFill>
                  <a:schemeClr val="tx1"/>
                </a:solidFill>
              </a:rPr>
              <a:t>400</a:t>
            </a:r>
            <a:r>
              <a:rPr lang="zh-CN" altLang="en-US" sz="1200" dirty="0" smtClean="0">
                <a:solidFill>
                  <a:schemeClr val="tx1"/>
                </a:solidFill>
              </a:rPr>
              <a:t>米：</a:t>
            </a:r>
            <a:r>
              <a:rPr lang="en-US" altLang="zh-CN" sz="1200" dirty="0" smtClean="0">
                <a:solidFill>
                  <a:schemeClr val="tx1"/>
                </a:solidFill>
              </a:rPr>
              <a:t>S$0.22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十公里以上每</a:t>
            </a:r>
            <a:r>
              <a:rPr lang="en-US" altLang="zh-CN" sz="1200" dirty="0" smtClean="0">
                <a:solidFill>
                  <a:schemeClr val="tx1"/>
                </a:solidFill>
              </a:rPr>
              <a:t>350</a:t>
            </a:r>
            <a:r>
              <a:rPr lang="zh-CN" altLang="en-US" sz="1200" dirty="0" smtClean="0">
                <a:solidFill>
                  <a:schemeClr val="tx1"/>
                </a:solidFill>
              </a:rPr>
              <a:t>米：</a:t>
            </a:r>
            <a:r>
              <a:rPr lang="en-US" altLang="zh-CN" sz="1200" dirty="0" smtClean="0">
                <a:solidFill>
                  <a:schemeClr val="tx1"/>
                </a:solidFill>
              </a:rPr>
              <a:t>S$0.22</a:t>
            </a:r>
          </a:p>
          <a:p>
            <a:r>
              <a:rPr lang="zh-CN" altLang="en-US" sz="1200" dirty="0" smtClean="0">
                <a:solidFill>
                  <a:srgbClr val="FF0000"/>
                </a:solidFill>
              </a:rPr>
              <a:t>每</a:t>
            </a:r>
            <a:r>
              <a:rPr lang="en-US" altLang="zh-CN" sz="1200" dirty="0" smtClean="0">
                <a:solidFill>
                  <a:srgbClr val="FF0000"/>
                </a:solidFill>
              </a:rPr>
              <a:t>45</a:t>
            </a:r>
            <a:r>
              <a:rPr lang="zh-CN" altLang="en-US" sz="1200" dirty="0" smtClean="0">
                <a:solidFill>
                  <a:srgbClr val="FF0000"/>
                </a:solidFill>
              </a:rPr>
              <a:t>秒等待：</a:t>
            </a:r>
            <a:r>
              <a:rPr lang="en-US" altLang="zh-CN" sz="1200" dirty="0" smtClean="0">
                <a:solidFill>
                  <a:srgbClr val="FF0000"/>
                </a:solidFill>
              </a:rPr>
              <a:t>S$0.22</a:t>
            </a:r>
          </a:p>
          <a:p>
            <a:endParaRPr lang="en-US" altLang="zh-CN" sz="1200" dirty="0" smtClean="0">
              <a:solidFill>
                <a:srgbClr val="FF0000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高峰期及夜间额外附加费</a:t>
            </a:r>
            <a:r>
              <a:rPr lang="zh-CN" altLang="en-US" sz="1200" dirty="0" smtClean="0">
                <a:solidFill>
                  <a:schemeClr val="tx1"/>
                </a:solidFill>
                <a:sym typeface="Wingdings" pitchFamily="2" charset="2"/>
              </a:rPr>
              <a:t>： （以上车时间为准，我们考虑从按下“</a:t>
            </a:r>
            <a:r>
              <a:rPr lang="en-US" altLang="zh-CN" sz="1200" dirty="0" smtClean="0">
                <a:solidFill>
                  <a:schemeClr val="tx1"/>
                </a:solidFill>
                <a:sym typeface="Wingdings" pitchFamily="2" charset="2"/>
              </a:rPr>
              <a:t>I am the next</a:t>
            </a:r>
            <a:r>
              <a:rPr lang="zh-CN" altLang="en-US" sz="1200" dirty="0" smtClean="0">
                <a:solidFill>
                  <a:schemeClr val="tx1"/>
                </a:solidFill>
                <a:sym typeface="Wingdings" pitchFamily="2" charset="2"/>
              </a:rPr>
              <a:t>”算）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周一到周五，上午</a:t>
            </a:r>
            <a:r>
              <a:rPr lang="en-US" altLang="zh-CN" sz="1200" dirty="0" smtClean="0">
                <a:solidFill>
                  <a:schemeClr val="tx1"/>
                </a:solidFill>
              </a:rPr>
              <a:t>6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30</a:t>
            </a:r>
            <a:r>
              <a:rPr lang="zh-CN" altLang="en-US" sz="1200" dirty="0" smtClean="0">
                <a:solidFill>
                  <a:schemeClr val="tx1"/>
                </a:solidFill>
              </a:rPr>
              <a:t>到</a:t>
            </a:r>
            <a:r>
              <a:rPr lang="en-US" altLang="zh-CN" sz="1200" dirty="0" smtClean="0">
                <a:solidFill>
                  <a:schemeClr val="tx1"/>
                </a:solidFill>
              </a:rPr>
              <a:t>9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30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25%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每天晚上</a:t>
            </a:r>
            <a:r>
              <a:rPr lang="en-US" altLang="zh-CN" sz="1200" dirty="0" smtClean="0">
                <a:solidFill>
                  <a:schemeClr val="tx1"/>
                </a:solidFill>
              </a:rPr>
              <a:t>6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00</a:t>
            </a:r>
            <a:r>
              <a:rPr lang="zh-CN" altLang="en-US" sz="1200" dirty="0" smtClean="0">
                <a:solidFill>
                  <a:schemeClr val="tx1"/>
                </a:solidFill>
              </a:rPr>
              <a:t>到</a:t>
            </a:r>
            <a:r>
              <a:rPr lang="en-US" altLang="zh-CN" sz="1200" dirty="0" smtClean="0">
                <a:solidFill>
                  <a:schemeClr val="tx1"/>
                </a:solidFill>
              </a:rPr>
              <a:t>12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00</a:t>
            </a:r>
            <a:r>
              <a:rPr lang="zh-CN" altLang="en-US" sz="1200" dirty="0" smtClean="0">
                <a:solidFill>
                  <a:schemeClr val="tx1"/>
                </a:solidFill>
              </a:rPr>
              <a:t>（凌晨）：</a:t>
            </a:r>
            <a:r>
              <a:rPr lang="en-US" altLang="zh-CN" sz="1200" dirty="0" smtClean="0">
                <a:solidFill>
                  <a:schemeClr val="tx1"/>
                </a:solidFill>
              </a:rPr>
              <a:t>25%</a:t>
            </a: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每天晚上</a:t>
            </a:r>
            <a:r>
              <a:rPr lang="en-US" altLang="zh-CN" sz="1200" dirty="0" smtClean="0">
                <a:solidFill>
                  <a:schemeClr val="tx1"/>
                </a:solidFill>
              </a:rPr>
              <a:t>12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00</a:t>
            </a:r>
            <a:r>
              <a:rPr lang="zh-CN" altLang="en-US" sz="1200" dirty="0" smtClean="0">
                <a:solidFill>
                  <a:schemeClr val="tx1"/>
                </a:solidFill>
              </a:rPr>
              <a:t>（凌成）到第二天早上</a:t>
            </a:r>
            <a:r>
              <a:rPr lang="en-US" altLang="zh-CN" sz="1200" dirty="0" smtClean="0">
                <a:solidFill>
                  <a:schemeClr val="tx1"/>
                </a:solidFill>
              </a:rPr>
              <a:t>5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59</a:t>
            </a:r>
            <a:r>
              <a:rPr lang="zh-CN" altLang="en-US" sz="1200" dirty="0" smtClean="0">
                <a:solidFill>
                  <a:schemeClr val="tx1"/>
                </a:solidFill>
              </a:rPr>
              <a:t>：</a:t>
            </a:r>
            <a:r>
              <a:rPr lang="en-US" altLang="zh-CN" sz="1200" dirty="0" smtClean="0">
                <a:solidFill>
                  <a:schemeClr val="tx1"/>
                </a:solidFill>
              </a:rPr>
              <a:t>50%</a:t>
            </a:r>
          </a:p>
          <a:p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特别地点附加费：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</a:rPr>
              <a:t>1. </a:t>
            </a:r>
          </a:p>
          <a:p>
            <a:endParaRPr lang="en-US" altLang="zh-CN" sz="1200" dirty="0" smtClean="0">
              <a:solidFill>
                <a:schemeClr val="tx1"/>
              </a:solidFill>
            </a:endParaRPr>
          </a:p>
          <a:p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zh-CN" altLang="en-US" sz="1200" dirty="0" smtClean="0">
                <a:solidFill>
                  <a:schemeClr val="tx1"/>
                </a:solidFill>
              </a:rPr>
              <a:t>市区附加费：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endParaRPr lang="en-US" altLang="zh-CN" sz="1200" dirty="0" smtClean="0">
              <a:solidFill>
                <a:schemeClr val="tx1"/>
              </a:solidFill>
            </a:endParaRPr>
          </a:p>
          <a:p>
            <a:endParaRPr lang="en-US" altLang="zh-CN" sz="1200" dirty="0" smtClean="0">
              <a:solidFill>
                <a:schemeClr val="tx1"/>
              </a:solidFill>
            </a:endParaRPr>
          </a:p>
          <a:p>
            <a:r>
              <a:rPr lang="en-US" altLang="zh-CN" sz="1200" dirty="0" smtClean="0">
                <a:solidFill>
                  <a:schemeClr val="tx1"/>
                </a:solidFill>
              </a:rPr>
              <a:t>ERP</a:t>
            </a:r>
            <a:r>
              <a:rPr lang="zh-CN" altLang="en-US" sz="1200" dirty="0" smtClean="0">
                <a:solidFill>
                  <a:schemeClr val="tx1"/>
                </a:solidFill>
              </a:rPr>
              <a:t>附加费：</a:t>
            </a:r>
            <a:endParaRPr lang="en-US" altLang="zh-CN" sz="1200" dirty="0" smtClean="0">
              <a:solidFill>
                <a:schemeClr val="tx1"/>
              </a:solidFill>
            </a:endParaRPr>
          </a:p>
          <a:p>
            <a:endParaRPr lang="zh-CN" altLang="en-US" sz="1200" dirty="0">
              <a:solidFill>
                <a:schemeClr val="tx1"/>
              </a:solidFill>
            </a:endParaRPr>
          </a:p>
        </p:txBody>
      </p:sp>
      <p:grpSp>
        <p:nvGrpSpPr>
          <p:cNvPr id="30" name="组合 29"/>
          <p:cNvGrpSpPr/>
          <p:nvPr/>
        </p:nvGrpSpPr>
        <p:grpSpPr>
          <a:xfrm>
            <a:off x="5643570" y="857232"/>
            <a:ext cx="1500198" cy="1857388"/>
            <a:chOff x="500034" y="571480"/>
            <a:chExt cx="1500198" cy="1857388"/>
          </a:xfrm>
        </p:grpSpPr>
        <p:sp>
          <p:nvSpPr>
            <p:cNvPr id="31" name="矩形 30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2" name="矩形 31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34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35" name="直接连接符 34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6" name="直接连接符 35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37" name="直接连接符 36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8" name="TextBox 37"/>
          <p:cNvSpPr txBox="1"/>
          <p:nvPr/>
        </p:nvSpPr>
        <p:spPr>
          <a:xfrm>
            <a:off x="5643570" y="1142984"/>
            <a:ext cx="1500198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教用户如何正确读咪表的图片</a:t>
            </a:r>
            <a:endParaRPr lang="zh-CN" altLang="en-US" dirty="0"/>
          </a:p>
        </p:txBody>
      </p:sp>
      <p:grpSp>
        <p:nvGrpSpPr>
          <p:cNvPr id="39" name="组合 38"/>
          <p:cNvGrpSpPr/>
          <p:nvPr/>
        </p:nvGrpSpPr>
        <p:grpSpPr>
          <a:xfrm>
            <a:off x="7358082" y="857232"/>
            <a:ext cx="1500198" cy="1857388"/>
            <a:chOff x="500034" y="571480"/>
            <a:chExt cx="1500198" cy="1857388"/>
          </a:xfrm>
        </p:grpSpPr>
        <p:sp>
          <p:nvSpPr>
            <p:cNvPr id="40" name="矩形 39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>
                <a:solidFill>
                  <a:srgbClr val="FF0000"/>
                </a:solidFill>
              </a:endParaRPr>
            </a:p>
          </p:txBody>
        </p:sp>
        <p:sp>
          <p:nvSpPr>
            <p:cNvPr id="41" name="矩形 40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rgbClr val="FF0000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rgbClr val="FF0000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rgbClr val="FF0000"/>
                  </a:solidFill>
                </a:rPr>
                <a:t>  </a:t>
              </a:r>
              <a:endParaRPr lang="zh-CN" altLang="en-US" sz="1000" dirty="0">
                <a:solidFill>
                  <a:srgbClr val="FF0000"/>
                </a:solidFill>
              </a:endParaRPr>
            </a:p>
          </p:txBody>
        </p:sp>
        <p:grpSp>
          <p:nvGrpSpPr>
            <p:cNvPr id="43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44" name="直接连接符 43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5" name="直接连接符 44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46" name="直接连接符 45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rgbClr val="FF0000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47" name="TextBox 46"/>
          <p:cNvSpPr txBox="1"/>
          <p:nvPr/>
        </p:nvSpPr>
        <p:spPr>
          <a:xfrm>
            <a:off x="7358082" y="1142984"/>
            <a:ext cx="142876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dirty="0" smtClean="0">
                <a:solidFill>
                  <a:srgbClr val="FF0000"/>
                </a:solidFill>
              </a:rPr>
              <a:t>Rate the other person</a:t>
            </a:r>
            <a:endParaRPr lang="zh-CN" altLang="en-US" dirty="0">
              <a:solidFill>
                <a:srgbClr val="FF0000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5" name="Picture 1" descr="C:\Documents and Settings\LC\Application Data\Tencent\Users\1695506955\QQ\WinTemp\RichOle\9M(6(X[%W%%Z51)EBUE7UG5.jpg"/>
          <p:cNvPicPr>
            <a:picLocks noChangeAspect="1" noChangeArrowheads="1"/>
          </p:cNvPicPr>
          <p:nvPr/>
        </p:nvPicPr>
        <p:blipFill>
          <a:blip r:embed="rId2"/>
          <a:srcRect/>
          <a:stretch>
            <a:fillRect/>
          </a:stretch>
        </p:blipFill>
        <p:spPr bwMode="auto">
          <a:xfrm>
            <a:off x="3857620" y="2714620"/>
            <a:ext cx="5095875" cy="3905250"/>
          </a:xfrm>
          <a:prstGeom prst="rect">
            <a:avLst/>
          </a:prstGeom>
          <a:noFill/>
        </p:spPr>
      </p:pic>
      <p:pic>
        <p:nvPicPr>
          <p:cNvPr id="1026" name="Picture 2" descr="C:\Documents and Settings\LC\Application Data\Tencent\Users\1695506955\QQ\WinTemp\RichOle\P}Z[A3O7GX4IP_16CH6(MH2.jpg"/>
          <p:cNvPicPr>
            <a:picLocks noChangeAspect="1" noChangeArrowheads="1"/>
          </p:cNvPicPr>
          <p:nvPr/>
        </p:nvPicPr>
        <p:blipFill>
          <a:blip r:embed="rId3"/>
          <a:srcRect/>
          <a:stretch>
            <a:fillRect/>
          </a:stretch>
        </p:blipFill>
        <p:spPr bwMode="auto">
          <a:xfrm>
            <a:off x="0" y="0"/>
            <a:ext cx="4248150" cy="3933825"/>
          </a:xfrm>
          <a:prstGeom prst="rect">
            <a:avLst/>
          </a:prstGeom>
          <a:noFill/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428596" y="71414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5) </a:t>
            </a:r>
            <a:r>
              <a:rPr lang="zh-CN" altLang="en-US" sz="1200" dirty="0" smtClean="0"/>
              <a:t>更多选项页面（点击主页面左上角三横线，页面向右移动，露出更多选项页面</a:t>
            </a:r>
            <a:r>
              <a:rPr lang="zh-CN" altLang="en-US" sz="1200" dirty="0" smtClean="0"/>
              <a:t>，</a:t>
            </a:r>
            <a:r>
              <a:rPr lang="zh-CN" altLang="en-US" sz="1200" b="1" dirty="0" smtClean="0">
                <a:solidFill>
                  <a:srgbClr val="FF0000"/>
                </a:solidFill>
              </a:rPr>
              <a:t>页面设计参考</a:t>
            </a:r>
            <a:r>
              <a:rPr lang="en-US" altLang="zh-CN" sz="1200" b="1" dirty="0" err="1" smtClean="0">
                <a:solidFill>
                  <a:srgbClr val="FF0000"/>
                </a:solidFill>
              </a:rPr>
              <a:t>Lyft</a:t>
            </a:r>
            <a:r>
              <a:rPr lang="zh-CN" altLang="en-US" sz="1200" dirty="0" smtClean="0"/>
              <a:t>）</a:t>
            </a:r>
            <a:endParaRPr lang="zh-CN" altLang="en-US" sz="1200" dirty="0"/>
          </a:p>
        </p:txBody>
      </p:sp>
      <p:grpSp>
        <p:nvGrpSpPr>
          <p:cNvPr id="5" name="组合 4"/>
          <p:cNvGrpSpPr/>
          <p:nvPr/>
        </p:nvGrpSpPr>
        <p:grpSpPr>
          <a:xfrm>
            <a:off x="1071538" y="4714884"/>
            <a:ext cx="1500198" cy="1857388"/>
            <a:chOff x="500034" y="571480"/>
            <a:chExt cx="1500198" cy="1857388"/>
          </a:xfrm>
        </p:grpSpPr>
        <p:sp>
          <p:nvSpPr>
            <p:cNvPr id="6" name="矩形 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" name="矩形 6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" name="矩形 7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Purchase Credit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" name="矩形 8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grpSp>
          <p:nvGrpSpPr>
            <p:cNvPr id="10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11" name="直接连接符 10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2" name="直接连接符 11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13" name="直接连接符 12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14" name="TextBox 13"/>
          <p:cNvSpPr txBox="1"/>
          <p:nvPr/>
        </p:nvSpPr>
        <p:spPr>
          <a:xfrm>
            <a:off x="428596" y="4366447"/>
            <a:ext cx="8358246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6) </a:t>
            </a:r>
            <a:r>
              <a:rPr lang="zh-CN" altLang="en-US" sz="1200" dirty="0" smtClean="0"/>
              <a:t>点数购买页面</a:t>
            </a:r>
            <a:endParaRPr lang="zh-CN" altLang="en-US" sz="1200" dirty="0"/>
          </a:p>
        </p:txBody>
      </p:sp>
      <p:sp>
        <p:nvSpPr>
          <p:cNvPr id="15" name="TextBox 14"/>
          <p:cNvSpPr txBox="1"/>
          <p:nvPr/>
        </p:nvSpPr>
        <p:spPr>
          <a:xfrm>
            <a:off x="1142976" y="5795207"/>
            <a:ext cx="1357322" cy="276999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3</a:t>
            </a:r>
            <a:r>
              <a:rPr lang="zh-CN" altLang="en-US" sz="1200" dirty="0" smtClean="0"/>
              <a:t>种点数套餐选择</a:t>
            </a:r>
            <a:endParaRPr lang="zh-CN" altLang="en-US" sz="1200" dirty="0"/>
          </a:p>
        </p:txBody>
      </p:sp>
      <p:sp>
        <p:nvSpPr>
          <p:cNvPr id="16" name="矩形 15"/>
          <p:cNvSpPr/>
          <p:nvPr/>
        </p:nvSpPr>
        <p:spPr>
          <a:xfrm>
            <a:off x="1142976" y="5000636"/>
            <a:ext cx="1357322" cy="285752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000" dirty="0" smtClean="0"/>
              <a:t>Post a </a:t>
            </a:r>
            <a:r>
              <a:rPr lang="en-US" altLang="zh-CN" sz="1000" dirty="0" err="1" smtClean="0"/>
              <a:t>facebook</a:t>
            </a:r>
            <a:r>
              <a:rPr lang="en-US" altLang="zh-CN" sz="1000" dirty="0" smtClean="0"/>
              <a:t> to gain 1 credit</a:t>
            </a:r>
            <a:endParaRPr lang="zh-CN" altLang="en-US" sz="1000" dirty="0"/>
          </a:p>
        </p:txBody>
      </p:sp>
      <p:sp>
        <p:nvSpPr>
          <p:cNvPr id="17" name="圆角矩形标注 16"/>
          <p:cNvSpPr/>
          <p:nvPr/>
        </p:nvSpPr>
        <p:spPr>
          <a:xfrm>
            <a:off x="0" y="4714884"/>
            <a:ext cx="928662" cy="2143116"/>
          </a:xfrm>
          <a:prstGeom prst="wedgeRoundRectCallout">
            <a:avLst>
              <a:gd name="adj1" fmla="val 79268"/>
              <a:gd name="adj2" fmla="val -32013"/>
              <a:gd name="adj3" fmla="val 16667"/>
            </a:avLst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zh-CN" altLang="en-US" sz="1000" dirty="0" smtClean="0">
                <a:solidFill>
                  <a:schemeClr val="tx1"/>
                </a:solidFill>
              </a:rPr>
              <a:t>内含即时功能，需距离上一次</a:t>
            </a:r>
            <a:r>
              <a:rPr lang="en-US" altLang="zh-CN" sz="1000" dirty="0" smtClean="0">
                <a:solidFill>
                  <a:schemeClr val="tx1"/>
                </a:solidFill>
              </a:rPr>
              <a:t>post</a:t>
            </a:r>
            <a:r>
              <a:rPr lang="zh-CN" altLang="en-US" sz="1000" dirty="0" smtClean="0">
                <a:solidFill>
                  <a:schemeClr val="tx1"/>
                </a:solidFill>
              </a:rPr>
              <a:t>至少</a:t>
            </a:r>
            <a:r>
              <a:rPr lang="en-US" altLang="zh-CN" sz="1000" dirty="0" smtClean="0">
                <a:solidFill>
                  <a:schemeClr val="tx1"/>
                </a:solidFill>
              </a:rPr>
              <a:t>168</a:t>
            </a:r>
            <a:r>
              <a:rPr lang="zh-CN" altLang="en-US" sz="1000" dirty="0" smtClean="0">
                <a:solidFill>
                  <a:schemeClr val="tx1"/>
                </a:solidFill>
              </a:rPr>
              <a:t>小时，否则该按钮显示灰色，且按钮上提示距下次</a:t>
            </a:r>
            <a:r>
              <a:rPr lang="zh-CN" altLang="en-US" sz="1000" dirty="0" smtClean="0">
                <a:solidFill>
                  <a:schemeClr val="tx1"/>
                </a:solidFill>
              </a:rPr>
              <a:t>时间</a:t>
            </a:r>
            <a:r>
              <a:rPr lang="zh-CN" altLang="en-US" sz="1000" dirty="0" smtClean="0">
                <a:solidFill>
                  <a:schemeClr val="tx1"/>
                </a:solidFill>
              </a:rPr>
              <a:t>。邀请朋友随时加入都可以加点数</a:t>
            </a:r>
            <a:endParaRPr lang="en-US" altLang="zh-CN" sz="1000" dirty="0" smtClean="0">
              <a:solidFill>
                <a:schemeClr val="tx1"/>
              </a:solidFill>
            </a:endParaRPr>
          </a:p>
        </p:txBody>
      </p:sp>
      <p:sp>
        <p:nvSpPr>
          <p:cNvPr id="18" name="右箭头 17"/>
          <p:cNvSpPr/>
          <p:nvPr/>
        </p:nvSpPr>
        <p:spPr>
          <a:xfrm>
            <a:off x="2643174" y="5643578"/>
            <a:ext cx="357190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TextBox 18"/>
          <p:cNvSpPr txBox="1"/>
          <p:nvPr/>
        </p:nvSpPr>
        <p:spPr>
          <a:xfrm>
            <a:off x="3071802" y="5291752"/>
            <a:ext cx="1714512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要求输入密码信息进行</a:t>
            </a:r>
            <a:r>
              <a:rPr lang="en-US" altLang="zh-CN" dirty="0" smtClean="0"/>
              <a:t>in-app purchase</a:t>
            </a:r>
            <a:endParaRPr lang="zh-CN" altLang="en-US" dirty="0"/>
          </a:p>
        </p:txBody>
      </p:sp>
      <p:sp>
        <p:nvSpPr>
          <p:cNvPr id="20" name="右箭头 19"/>
          <p:cNvSpPr/>
          <p:nvPr/>
        </p:nvSpPr>
        <p:spPr>
          <a:xfrm>
            <a:off x="4786314" y="5715016"/>
            <a:ext cx="428628" cy="214314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21" name="组合 20"/>
          <p:cNvGrpSpPr/>
          <p:nvPr/>
        </p:nvGrpSpPr>
        <p:grpSpPr>
          <a:xfrm>
            <a:off x="5357818" y="4786322"/>
            <a:ext cx="1500198" cy="1857388"/>
            <a:chOff x="500034" y="571480"/>
            <a:chExt cx="1500198" cy="1857388"/>
          </a:xfrm>
        </p:grpSpPr>
        <p:sp>
          <p:nvSpPr>
            <p:cNvPr id="22" name="矩形 21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23" name="矩形 22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r>
                <a:rPr lang="en-US" altLang="zh-CN" sz="1000" dirty="0" smtClean="0">
                  <a:solidFill>
                    <a:schemeClr val="tx1"/>
                  </a:solidFill>
                </a:rPr>
                <a:t>       </a:t>
              </a:r>
              <a:r>
                <a:rPr lang="en-US" altLang="zh-CN" sz="1000" dirty="0" err="1" smtClean="0">
                  <a:solidFill>
                    <a:schemeClr val="tx1"/>
                  </a:solidFill>
                </a:rPr>
                <a:t>CabShare</a:t>
              </a:r>
              <a:r>
                <a:rPr lang="en-US" altLang="zh-CN" sz="1000" dirty="0" smtClean="0">
                  <a:solidFill>
                    <a:schemeClr val="tx1"/>
                  </a:solidFill>
                </a:rPr>
                <a:t>  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grpSp>
          <p:nvGrpSpPr>
            <p:cNvPr id="26" name="组合 18"/>
            <p:cNvGrpSpPr/>
            <p:nvPr/>
          </p:nvGrpSpPr>
          <p:grpSpPr>
            <a:xfrm flipH="1" flipV="1">
              <a:off x="571472" y="642994"/>
              <a:ext cx="142877" cy="141279"/>
              <a:chOff x="2786050" y="1071546"/>
              <a:chExt cx="142876" cy="144464"/>
            </a:xfrm>
          </p:grpSpPr>
          <p:cxnSp>
            <p:nvCxnSpPr>
              <p:cNvPr id="27" name="直接连接符 26"/>
              <p:cNvCxnSpPr/>
              <p:nvPr/>
            </p:nvCxnSpPr>
            <p:spPr>
              <a:xfrm>
                <a:off x="2786050" y="1142984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8" name="直接连接符 27"/>
              <p:cNvCxnSpPr/>
              <p:nvPr/>
            </p:nvCxnSpPr>
            <p:spPr>
              <a:xfrm>
                <a:off x="2786050" y="1214422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  <p:cxnSp>
            <p:nvCxnSpPr>
              <p:cNvPr id="29" name="直接连接符 28"/>
              <p:cNvCxnSpPr/>
              <p:nvPr/>
            </p:nvCxnSpPr>
            <p:spPr>
              <a:xfrm>
                <a:off x="2786050" y="1071546"/>
                <a:ext cx="142876" cy="1588"/>
              </a:xfrm>
              <a:prstGeom prst="line">
                <a:avLst/>
              </a:prstGeom>
              <a:ln>
                <a:solidFill>
                  <a:schemeClr val="tx1"/>
                </a:solidFill>
              </a:ln>
            </p:spPr>
            <p:style>
              <a:lnRef idx="1">
                <a:schemeClr val="accent1"/>
              </a:lnRef>
              <a:fillRef idx="0">
                <a:schemeClr val="accent1"/>
              </a:fillRef>
              <a:effectRef idx="0">
                <a:schemeClr val="accent1"/>
              </a:effectRef>
              <a:fontRef idx="minor">
                <a:schemeClr val="tx1"/>
              </a:fontRef>
            </p:style>
          </p:cxnSp>
        </p:grpSp>
      </p:grpSp>
      <p:sp>
        <p:nvSpPr>
          <p:cNvPr id="30" name="TextBox 29"/>
          <p:cNvSpPr txBox="1"/>
          <p:nvPr/>
        </p:nvSpPr>
        <p:spPr>
          <a:xfrm>
            <a:off x="5357818" y="5072074"/>
            <a:ext cx="1500198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600" dirty="0" smtClean="0"/>
              <a:t>告知购买成功或免费获得</a:t>
            </a:r>
            <a:r>
              <a:rPr lang="en-US" altLang="zh-CN" sz="1600" dirty="0" smtClean="0"/>
              <a:t>1</a:t>
            </a:r>
            <a:r>
              <a:rPr lang="zh-CN" altLang="en-US" sz="1600" dirty="0" smtClean="0"/>
              <a:t>点，显示</a:t>
            </a:r>
            <a:r>
              <a:rPr lang="en-US" altLang="zh-CN" sz="1600" dirty="0" smtClean="0"/>
              <a:t>credit balance</a:t>
            </a:r>
            <a:endParaRPr lang="zh-CN" altLang="en-US" sz="1600" dirty="0"/>
          </a:p>
        </p:txBody>
      </p:sp>
      <p:sp>
        <p:nvSpPr>
          <p:cNvPr id="31" name="矩形 30"/>
          <p:cNvSpPr/>
          <p:nvPr/>
        </p:nvSpPr>
        <p:spPr>
          <a:xfrm>
            <a:off x="5357818" y="6143644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Start Saving More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32" name="右箭头 31"/>
          <p:cNvSpPr/>
          <p:nvPr/>
        </p:nvSpPr>
        <p:spPr>
          <a:xfrm>
            <a:off x="6858016" y="6215082"/>
            <a:ext cx="428628" cy="71438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3" name="TextBox 32"/>
          <p:cNvSpPr txBox="1"/>
          <p:nvPr/>
        </p:nvSpPr>
        <p:spPr>
          <a:xfrm>
            <a:off x="7358082" y="6060064"/>
            <a:ext cx="142876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回到主页面</a:t>
            </a:r>
            <a:endParaRPr lang="zh-CN" altLang="en-US" dirty="0"/>
          </a:p>
        </p:txBody>
      </p:sp>
      <p:grpSp>
        <p:nvGrpSpPr>
          <p:cNvPr id="34" name="组合 33"/>
          <p:cNvGrpSpPr/>
          <p:nvPr/>
        </p:nvGrpSpPr>
        <p:grpSpPr>
          <a:xfrm>
            <a:off x="571472" y="428604"/>
            <a:ext cx="1500198" cy="1857388"/>
            <a:chOff x="500034" y="571480"/>
            <a:chExt cx="1500198" cy="1857388"/>
          </a:xfrm>
        </p:grpSpPr>
        <p:sp>
          <p:nvSpPr>
            <p:cNvPr id="35" name="矩形 3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36" name="矩形 3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More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37" name="矩形 36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Return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44" name="上弧形箭头 43"/>
          <p:cNvSpPr/>
          <p:nvPr/>
        </p:nvSpPr>
        <p:spPr>
          <a:xfrm>
            <a:off x="2428860" y="4643446"/>
            <a:ext cx="3071834" cy="571504"/>
          </a:xfrm>
          <a:prstGeom prst="curved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45" name="TextBox 44"/>
          <p:cNvSpPr txBox="1"/>
          <p:nvPr/>
        </p:nvSpPr>
        <p:spPr>
          <a:xfrm>
            <a:off x="571472" y="714356"/>
            <a:ext cx="1500198" cy="10618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900" dirty="0" smtClean="0"/>
              <a:t>Profile</a:t>
            </a:r>
          </a:p>
          <a:p>
            <a:r>
              <a:rPr lang="en-US" altLang="zh-CN" sz="900" dirty="0" smtClean="0"/>
              <a:t>Credit Balance</a:t>
            </a: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Share the love  (SMS -</a:t>
            </a:r>
            <a:r>
              <a:rPr lang="en-US" altLang="zh-CN" sz="900" b="1" dirty="0" err="1" smtClean="0">
                <a:solidFill>
                  <a:srgbClr val="FF0000"/>
                </a:solidFill>
              </a:rPr>
              <a:t>Lyft</a:t>
            </a:r>
            <a:r>
              <a:rPr lang="en-US" altLang="zh-CN" sz="900" b="1" dirty="0" smtClean="0">
                <a:solidFill>
                  <a:srgbClr val="FF0000"/>
                </a:solidFill>
              </a:rPr>
              <a:t>)</a:t>
            </a:r>
            <a:endParaRPr lang="en-US" altLang="zh-CN" sz="900" dirty="0" smtClean="0">
              <a:solidFill>
                <a:srgbClr val="FF0000"/>
              </a:solidFill>
            </a:endParaRPr>
          </a:p>
          <a:p>
            <a:r>
              <a:rPr lang="en-US" altLang="zh-CN" sz="900" dirty="0" smtClean="0"/>
              <a:t>Sharing Criteria</a:t>
            </a:r>
          </a:p>
          <a:p>
            <a:r>
              <a:rPr lang="en-US" altLang="zh-CN" sz="900" dirty="0" smtClean="0">
                <a:solidFill>
                  <a:srgbClr val="FF0000"/>
                </a:solidFill>
              </a:rPr>
              <a:t>Sharing  History</a:t>
            </a:r>
          </a:p>
          <a:p>
            <a:endParaRPr lang="en-US" altLang="zh-CN" sz="900" dirty="0" smtClean="0"/>
          </a:p>
          <a:p>
            <a:r>
              <a:rPr lang="zh-CN" altLang="en-US" sz="900" dirty="0" smtClean="0">
                <a:solidFill>
                  <a:srgbClr val="FF0000"/>
                </a:solidFill>
              </a:rPr>
              <a:t>联系方式，网站等信息</a:t>
            </a:r>
            <a:endParaRPr lang="en-US" altLang="zh-CN" sz="900" dirty="0" smtClean="0">
              <a:solidFill>
                <a:srgbClr val="FF0000"/>
              </a:solidFill>
            </a:endParaRPr>
          </a:p>
        </p:txBody>
      </p:sp>
      <p:grpSp>
        <p:nvGrpSpPr>
          <p:cNvPr id="46" name="组合 45"/>
          <p:cNvGrpSpPr/>
          <p:nvPr/>
        </p:nvGrpSpPr>
        <p:grpSpPr>
          <a:xfrm>
            <a:off x="2214546" y="428604"/>
            <a:ext cx="1500198" cy="1857388"/>
            <a:chOff x="500034" y="571480"/>
            <a:chExt cx="1500198" cy="1857388"/>
          </a:xfrm>
        </p:grpSpPr>
        <p:sp>
          <p:nvSpPr>
            <p:cNvPr id="47" name="矩形 4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48" name="矩形 4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Profile </a:t>
              </a:r>
              <a:r>
                <a:rPr lang="en-US" altLang="zh-CN" sz="1000" b="1" dirty="0" smtClean="0">
                  <a:solidFill>
                    <a:srgbClr val="FF0000"/>
                  </a:solidFill>
                </a:rPr>
                <a:t>(</a:t>
              </a:r>
              <a:r>
                <a:rPr lang="en-US" altLang="zh-CN" sz="1000" b="1" dirty="0" err="1" smtClean="0">
                  <a:solidFill>
                    <a:srgbClr val="FF0000"/>
                  </a:solidFill>
                </a:rPr>
                <a:t>Lyft</a:t>
              </a:r>
              <a:r>
                <a:rPr lang="en-US" altLang="zh-CN" sz="1000" b="1" dirty="0" smtClean="0">
                  <a:solidFill>
                    <a:srgbClr val="FF0000"/>
                  </a:solidFill>
                </a:rPr>
                <a:t>)</a:t>
              </a:r>
              <a:endParaRPr lang="zh-CN" altLang="en-US" sz="1000" b="1" dirty="0">
                <a:solidFill>
                  <a:srgbClr val="FF0000"/>
                </a:solidFill>
              </a:endParaRPr>
            </a:p>
          </p:txBody>
        </p:sp>
        <p:sp>
          <p:nvSpPr>
            <p:cNvPr id="49" name="矩形 48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Save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1" name="TextBox 50"/>
          <p:cNvSpPr txBox="1"/>
          <p:nvPr/>
        </p:nvSpPr>
        <p:spPr>
          <a:xfrm>
            <a:off x="2357422" y="785794"/>
            <a:ext cx="1214446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个人信息更新，</a:t>
            </a:r>
            <a:r>
              <a:rPr lang="zh-CN" altLang="en-US" sz="1200" dirty="0" smtClean="0">
                <a:solidFill>
                  <a:srgbClr val="FF0000"/>
                </a:solidFill>
              </a:rPr>
              <a:t>其中包括绑定</a:t>
            </a:r>
            <a:r>
              <a:rPr lang="en-US" altLang="zh-CN" sz="1200" dirty="0" err="1" smtClean="0">
                <a:solidFill>
                  <a:srgbClr val="FF0000"/>
                </a:solidFill>
              </a:rPr>
              <a:t>facebook</a:t>
            </a:r>
            <a:r>
              <a:rPr lang="en-US" altLang="zh-CN" sz="1200" dirty="0" smtClean="0">
                <a:solidFill>
                  <a:srgbClr val="FF0000"/>
                </a:solidFill>
              </a:rPr>
              <a:t> </a:t>
            </a:r>
            <a:r>
              <a:rPr lang="zh-CN" altLang="en-US" sz="1200" dirty="0" smtClean="0">
                <a:solidFill>
                  <a:srgbClr val="FF0000"/>
                </a:solidFill>
              </a:rPr>
              <a:t>帐号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grpSp>
        <p:nvGrpSpPr>
          <p:cNvPr id="52" name="组合 51"/>
          <p:cNvGrpSpPr/>
          <p:nvPr/>
        </p:nvGrpSpPr>
        <p:grpSpPr>
          <a:xfrm>
            <a:off x="5500694" y="428604"/>
            <a:ext cx="1500198" cy="1857388"/>
            <a:chOff x="500034" y="571480"/>
            <a:chExt cx="1500198" cy="1857388"/>
          </a:xfrm>
        </p:grpSpPr>
        <p:sp>
          <p:nvSpPr>
            <p:cNvPr id="53" name="矩形 52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54" name="矩形 53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Credit Balance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55" name="矩形 54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56" name="矩形 55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57" name="TextBox 56"/>
          <p:cNvSpPr txBox="1"/>
          <p:nvPr/>
        </p:nvSpPr>
        <p:spPr>
          <a:xfrm>
            <a:off x="5643570" y="714356"/>
            <a:ext cx="114300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altLang="zh-CN" sz="1200" dirty="0" smtClean="0"/>
          </a:p>
          <a:p>
            <a:r>
              <a:rPr lang="en-US" altLang="zh-CN" sz="1200" dirty="0" smtClean="0"/>
              <a:t>You have xxx Credits.</a:t>
            </a:r>
          </a:p>
          <a:p>
            <a:endParaRPr lang="en-US" altLang="zh-CN" sz="1200" dirty="0" smtClean="0"/>
          </a:p>
          <a:p>
            <a:r>
              <a:rPr lang="en-US" altLang="zh-CN" sz="1200" dirty="0" smtClean="0"/>
              <a:t>Purchase credit</a:t>
            </a:r>
            <a:endParaRPr lang="zh-CN" altLang="en-US" sz="1200" dirty="0"/>
          </a:p>
        </p:txBody>
      </p:sp>
      <p:cxnSp>
        <p:nvCxnSpPr>
          <p:cNvPr id="59" name="直接箭头连接符 58"/>
          <p:cNvCxnSpPr>
            <a:endCxn id="7" idx="0"/>
          </p:cNvCxnSpPr>
          <p:nvPr/>
        </p:nvCxnSpPr>
        <p:spPr>
          <a:xfrm rot="10800000" flipV="1">
            <a:off x="1821638" y="1714488"/>
            <a:ext cx="4179123" cy="3000396"/>
          </a:xfrm>
          <a:prstGeom prst="straightConnector1">
            <a:avLst/>
          </a:prstGeom>
          <a:ln w="53975"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68" name="组合 67"/>
          <p:cNvGrpSpPr/>
          <p:nvPr/>
        </p:nvGrpSpPr>
        <p:grpSpPr>
          <a:xfrm>
            <a:off x="7286644" y="428604"/>
            <a:ext cx="1500198" cy="1857388"/>
            <a:chOff x="500034" y="571480"/>
            <a:chExt cx="1500198" cy="1857388"/>
          </a:xfrm>
        </p:grpSpPr>
        <p:sp>
          <p:nvSpPr>
            <p:cNvPr id="69" name="矩形 68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0" name="矩形 69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About Us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1" name="矩形 70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72" name="矩形 71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3" name="TextBox 72"/>
          <p:cNvSpPr txBox="1"/>
          <p:nvPr/>
        </p:nvSpPr>
        <p:spPr>
          <a:xfrm>
            <a:off x="7358082" y="785794"/>
            <a:ext cx="128588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dirty="0" smtClean="0"/>
              <a:t>公司介绍及联系方式和网站</a:t>
            </a:r>
            <a:endParaRPr lang="zh-CN" altLang="en-US" dirty="0"/>
          </a:p>
        </p:txBody>
      </p:sp>
      <p:grpSp>
        <p:nvGrpSpPr>
          <p:cNvPr id="65" name="组合 64"/>
          <p:cNvGrpSpPr/>
          <p:nvPr/>
        </p:nvGrpSpPr>
        <p:grpSpPr>
          <a:xfrm>
            <a:off x="642910" y="2428868"/>
            <a:ext cx="1500198" cy="1857388"/>
            <a:chOff x="500034" y="571480"/>
            <a:chExt cx="1500198" cy="1857388"/>
          </a:xfrm>
        </p:grpSpPr>
        <p:sp>
          <p:nvSpPr>
            <p:cNvPr id="66" name="矩形 65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74" name="矩形 73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Sharing History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75" name="矩形 74"/>
            <p:cNvSpPr/>
            <p:nvPr/>
          </p:nvSpPr>
          <p:spPr>
            <a:xfrm>
              <a:off x="500034" y="1928802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OK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78" name="矩形 77"/>
          <p:cNvSpPr/>
          <p:nvPr/>
        </p:nvSpPr>
        <p:spPr>
          <a:xfrm>
            <a:off x="5643570" y="1428736"/>
            <a:ext cx="1071570" cy="285752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79" name="TextBox 78"/>
          <p:cNvSpPr txBox="1"/>
          <p:nvPr/>
        </p:nvSpPr>
        <p:spPr>
          <a:xfrm>
            <a:off x="642910" y="2714620"/>
            <a:ext cx="1500198" cy="93871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/>
              <a:t>显示成功拼车历史，格式为：</a:t>
            </a:r>
            <a:endParaRPr lang="en-US" altLang="zh-CN" sz="1100" dirty="0" smtClean="0"/>
          </a:p>
          <a:p>
            <a:r>
              <a:rPr lang="zh-CN" altLang="en-US" sz="1100" dirty="0" smtClean="0"/>
              <a:t>时间，起始目的地，大约节省</a:t>
            </a:r>
            <a:r>
              <a:rPr lang="zh-CN" altLang="en-US" sz="1100" dirty="0" smtClean="0"/>
              <a:t>费用</a:t>
            </a:r>
            <a:r>
              <a:rPr lang="zh-CN" altLang="en-US" sz="1100" dirty="0" smtClean="0"/>
              <a:t>及总计，</a:t>
            </a:r>
            <a:r>
              <a:rPr lang="zh-CN" altLang="en-US" sz="1100" dirty="0" smtClean="0"/>
              <a:t>按</a:t>
            </a:r>
            <a:r>
              <a:rPr lang="zh-CN" altLang="en-US" sz="1100" dirty="0" smtClean="0"/>
              <a:t>最近的开始排序</a:t>
            </a:r>
            <a:endParaRPr lang="zh-CN" altLang="en-US" sz="1100" dirty="0"/>
          </a:p>
        </p:txBody>
      </p:sp>
      <p:sp>
        <p:nvSpPr>
          <p:cNvPr id="85" name="下箭头 84"/>
          <p:cNvSpPr/>
          <p:nvPr/>
        </p:nvSpPr>
        <p:spPr>
          <a:xfrm>
            <a:off x="6715140" y="1928802"/>
            <a:ext cx="214314" cy="857256"/>
          </a:xfrm>
          <a:prstGeom prst="down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grpSp>
        <p:nvGrpSpPr>
          <p:cNvPr id="86" name="组合 85"/>
          <p:cNvGrpSpPr/>
          <p:nvPr/>
        </p:nvGrpSpPr>
        <p:grpSpPr>
          <a:xfrm>
            <a:off x="7072330" y="2857496"/>
            <a:ext cx="1500198" cy="1857388"/>
            <a:chOff x="500034" y="571480"/>
            <a:chExt cx="1500198" cy="1857388"/>
          </a:xfrm>
        </p:grpSpPr>
        <p:sp>
          <p:nvSpPr>
            <p:cNvPr id="87" name="矩形 86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88" name="矩形 87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Low Credit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89" name="矩形 88"/>
            <p:cNvSpPr/>
            <p:nvPr/>
          </p:nvSpPr>
          <p:spPr>
            <a:xfrm>
              <a:off x="500034" y="1928802"/>
              <a:ext cx="1000132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YES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  <p:sp>
          <p:nvSpPr>
            <p:cNvPr id="90" name="矩形 89"/>
            <p:cNvSpPr/>
            <p:nvPr/>
          </p:nvSpPr>
          <p:spPr>
            <a:xfrm>
              <a:off x="500034" y="2214554"/>
              <a:ext cx="1500198" cy="214314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200" dirty="0" smtClean="0">
                  <a:solidFill>
                    <a:schemeClr val="tx1"/>
                  </a:solidFill>
                </a:rPr>
                <a:t>Total Saving </a:t>
              </a:r>
              <a:r>
                <a:rPr lang="en-US" altLang="zh-CN" sz="1200" dirty="0" err="1" smtClean="0">
                  <a:solidFill>
                    <a:schemeClr val="tx1"/>
                  </a:solidFill>
                </a:rPr>
                <a:t>S$xxx</a:t>
              </a:r>
              <a:endParaRPr lang="zh-CN" altLang="en-US" sz="1200" dirty="0">
                <a:solidFill>
                  <a:schemeClr val="tx1"/>
                </a:solidFill>
              </a:endParaRPr>
            </a:p>
          </p:txBody>
        </p:sp>
      </p:grpSp>
      <p:sp>
        <p:nvSpPr>
          <p:cNvPr id="91" name="TextBox 90"/>
          <p:cNvSpPr txBox="1"/>
          <p:nvPr/>
        </p:nvSpPr>
        <p:spPr>
          <a:xfrm>
            <a:off x="6929454" y="2428868"/>
            <a:ext cx="18573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如果用户余额等于低于</a:t>
            </a:r>
            <a:r>
              <a:rPr lang="en-US" altLang="zh-CN" sz="1200" dirty="0" smtClean="0"/>
              <a:t>2</a:t>
            </a:r>
            <a:r>
              <a:rPr lang="zh-CN" altLang="en-US" sz="1200" dirty="0" smtClean="0"/>
              <a:t>，选择</a:t>
            </a:r>
            <a:r>
              <a:rPr lang="en-US" altLang="zh-CN" sz="1200" dirty="0" smtClean="0"/>
              <a:t>OK</a:t>
            </a:r>
          </a:p>
        </p:txBody>
      </p:sp>
      <p:sp>
        <p:nvSpPr>
          <p:cNvPr id="92" name="TextBox 91"/>
          <p:cNvSpPr txBox="1"/>
          <p:nvPr/>
        </p:nvSpPr>
        <p:spPr>
          <a:xfrm>
            <a:off x="7072330" y="3143248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altLang="zh-CN" sz="1200" dirty="0" smtClean="0"/>
              <a:t>Your credit balance is below 3. Would you like to purchase more credits and enjoy more saving?</a:t>
            </a:r>
            <a:endParaRPr lang="zh-CN" altLang="en-US" sz="1200" dirty="0"/>
          </a:p>
        </p:txBody>
      </p:sp>
      <p:sp>
        <p:nvSpPr>
          <p:cNvPr id="93" name="矩形 92"/>
          <p:cNvSpPr/>
          <p:nvPr/>
        </p:nvSpPr>
        <p:spPr>
          <a:xfrm>
            <a:off x="8072462" y="4214818"/>
            <a:ext cx="500066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800" dirty="0" smtClean="0">
                <a:solidFill>
                  <a:schemeClr val="tx1"/>
                </a:solidFill>
              </a:rPr>
              <a:t>Not Now</a:t>
            </a:r>
            <a:endParaRPr lang="zh-CN" altLang="en-US" sz="800" dirty="0">
              <a:solidFill>
                <a:schemeClr val="tx1"/>
              </a:solidFill>
            </a:endParaRPr>
          </a:p>
        </p:txBody>
      </p:sp>
      <p:cxnSp>
        <p:nvCxnSpPr>
          <p:cNvPr id="94" name="直接箭头连接符 93"/>
          <p:cNvCxnSpPr/>
          <p:nvPr/>
        </p:nvCxnSpPr>
        <p:spPr>
          <a:xfrm rot="10800000" flipV="1">
            <a:off x="1928794" y="4357694"/>
            <a:ext cx="5286414" cy="357190"/>
          </a:xfrm>
          <a:prstGeom prst="straightConnector1">
            <a:avLst/>
          </a:prstGeom>
          <a:ln w="53975">
            <a:solidFill>
              <a:srgbClr val="FF0000"/>
            </a:solidFill>
            <a:headEnd type="none"/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97" name="右弧形箭头 96"/>
          <p:cNvSpPr/>
          <p:nvPr/>
        </p:nvSpPr>
        <p:spPr>
          <a:xfrm>
            <a:off x="8501090" y="4357694"/>
            <a:ext cx="357190" cy="642942"/>
          </a:xfrm>
          <a:prstGeom prst="curvedLef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>
              <a:solidFill>
                <a:schemeClr val="tx1"/>
              </a:solidFill>
            </a:endParaRPr>
          </a:p>
        </p:txBody>
      </p:sp>
      <p:sp>
        <p:nvSpPr>
          <p:cNvPr id="98" name="TextBox 97"/>
          <p:cNvSpPr txBox="1"/>
          <p:nvPr/>
        </p:nvSpPr>
        <p:spPr>
          <a:xfrm>
            <a:off x="8143900" y="5000636"/>
            <a:ext cx="10001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>
                <a:solidFill>
                  <a:srgbClr val="FF0000"/>
                </a:solidFill>
              </a:rPr>
              <a:t>回到</a:t>
            </a:r>
            <a:r>
              <a:rPr lang="en-US" altLang="zh-CN" sz="1200" dirty="0" smtClean="0">
                <a:solidFill>
                  <a:srgbClr val="FF0000"/>
                </a:solidFill>
              </a:rPr>
              <a:t>more</a:t>
            </a:r>
            <a:r>
              <a:rPr lang="zh-CN" altLang="en-US" sz="1200" dirty="0" smtClean="0">
                <a:solidFill>
                  <a:srgbClr val="FF0000"/>
                </a:solidFill>
              </a:rPr>
              <a:t>页面</a:t>
            </a:r>
            <a:endParaRPr lang="zh-CN" altLang="en-US" sz="1200" dirty="0">
              <a:solidFill>
                <a:srgbClr val="FF0000"/>
              </a:solidFill>
            </a:endParaRPr>
          </a:p>
        </p:txBody>
      </p:sp>
      <p:cxnSp>
        <p:nvCxnSpPr>
          <p:cNvPr id="101" name="直接连接符 100"/>
          <p:cNvCxnSpPr>
            <a:endCxn id="72" idx="1"/>
          </p:cNvCxnSpPr>
          <p:nvPr/>
        </p:nvCxnSpPr>
        <p:spPr>
          <a:xfrm rot="5400000">
            <a:off x="7125909" y="517901"/>
            <a:ext cx="1821669" cy="1500198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03" name="直接连接符 102"/>
          <p:cNvCxnSpPr/>
          <p:nvPr/>
        </p:nvCxnSpPr>
        <p:spPr>
          <a:xfrm rot="16200000" flipH="1">
            <a:off x="7036611" y="535761"/>
            <a:ext cx="2071702" cy="1571636"/>
          </a:xfrm>
          <a:prstGeom prst="line">
            <a:avLst/>
          </a:prstGeom>
          <a:ln w="31750">
            <a:solidFill>
              <a:srgbClr val="FF0000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104" name="组合 103"/>
          <p:cNvGrpSpPr/>
          <p:nvPr/>
        </p:nvGrpSpPr>
        <p:grpSpPr>
          <a:xfrm>
            <a:off x="2357422" y="2428868"/>
            <a:ext cx="1500198" cy="1857388"/>
            <a:chOff x="500034" y="571480"/>
            <a:chExt cx="1500198" cy="1857388"/>
          </a:xfrm>
        </p:grpSpPr>
        <p:sp>
          <p:nvSpPr>
            <p:cNvPr id="105" name="矩形 104"/>
            <p:cNvSpPr/>
            <p:nvPr/>
          </p:nvSpPr>
          <p:spPr>
            <a:xfrm>
              <a:off x="500034" y="571480"/>
              <a:ext cx="1500198" cy="1857388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6" name="矩形 105"/>
            <p:cNvSpPr/>
            <p:nvPr/>
          </p:nvSpPr>
          <p:spPr>
            <a:xfrm>
              <a:off x="500034" y="571480"/>
              <a:ext cx="1500198" cy="285752"/>
            </a:xfrm>
            <a:prstGeom prst="rect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Tell a Friend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</p:grpSp>
      <p:sp>
        <p:nvSpPr>
          <p:cNvPr id="109" name="TextBox 108"/>
          <p:cNvSpPr txBox="1"/>
          <p:nvPr/>
        </p:nvSpPr>
        <p:spPr>
          <a:xfrm>
            <a:off x="2357422" y="2714620"/>
            <a:ext cx="1500198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200" dirty="0" smtClean="0"/>
              <a:t>用户从手机通信录中查找号码，然后已平台短信形式发送给对方，具体短信内容后期提供</a:t>
            </a:r>
            <a:endParaRPr lang="zh-CN" altLang="en-US" sz="1200" dirty="0"/>
          </a:p>
        </p:txBody>
      </p:sp>
      <p:sp>
        <p:nvSpPr>
          <p:cNvPr id="110" name="矩形 109"/>
          <p:cNvSpPr/>
          <p:nvPr/>
        </p:nvSpPr>
        <p:spPr>
          <a:xfrm>
            <a:off x="2357422" y="3786190"/>
            <a:ext cx="1500198" cy="285752"/>
          </a:xfrm>
          <a:prstGeom prst="rect">
            <a:avLst/>
          </a:prstGeom>
          <a:noFill/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Send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  <p:sp>
        <p:nvSpPr>
          <p:cNvPr id="111" name="右箭头 110"/>
          <p:cNvSpPr/>
          <p:nvPr/>
        </p:nvSpPr>
        <p:spPr>
          <a:xfrm>
            <a:off x="3714744" y="3857628"/>
            <a:ext cx="428628" cy="71438"/>
          </a:xfrm>
          <a:prstGeom prst="rightArrow">
            <a:avLst/>
          </a:prstGeom>
          <a:ln>
            <a:solidFill>
              <a:srgbClr val="FF0000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12" name="TextBox 111"/>
          <p:cNvSpPr txBox="1"/>
          <p:nvPr/>
        </p:nvSpPr>
        <p:spPr>
          <a:xfrm>
            <a:off x="4143372" y="3714752"/>
            <a:ext cx="114300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1100" dirty="0" smtClean="0">
                <a:solidFill>
                  <a:srgbClr val="FF0000"/>
                </a:solidFill>
              </a:rPr>
              <a:t>告知发送成功，自动淡化回到</a:t>
            </a:r>
            <a:r>
              <a:rPr lang="en-US" altLang="zh-CN" sz="1100" dirty="0" smtClean="0">
                <a:solidFill>
                  <a:srgbClr val="FF0000"/>
                </a:solidFill>
              </a:rPr>
              <a:t>more </a:t>
            </a:r>
            <a:r>
              <a:rPr lang="zh-CN" altLang="en-US" sz="1100" dirty="0" smtClean="0">
                <a:solidFill>
                  <a:srgbClr val="FF0000"/>
                </a:solidFill>
              </a:rPr>
              <a:t>页面</a:t>
            </a:r>
            <a:endParaRPr lang="zh-CN" altLang="en-US" sz="1100" dirty="0">
              <a:solidFill>
                <a:srgbClr val="FF0000"/>
              </a:solidFill>
            </a:endParaRPr>
          </a:p>
        </p:txBody>
      </p:sp>
      <p:sp>
        <p:nvSpPr>
          <p:cNvPr id="95" name="TextBox 94"/>
          <p:cNvSpPr txBox="1"/>
          <p:nvPr/>
        </p:nvSpPr>
        <p:spPr>
          <a:xfrm>
            <a:off x="1142976" y="5355567"/>
            <a:ext cx="1357322" cy="430887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txBody>
          <a:bodyPr wrap="square" rtlCol="0">
            <a:spAutoFit/>
          </a:bodyPr>
          <a:lstStyle/>
          <a:p>
            <a:r>
              <a:rPr lang="en-US" altLang="zh-CN" sz="1050" dirty="0" smtClean="0">
                <a:solidFill>
                  <a:srgbClr val="FF0000"/>
                </a:solidFill>
              </a:rPr>
              <a:t>Invite a friend to join (</a:t>
            </a:r>
            <a:r>
              <a:rPr lang="en-US" altLang="zh-CN" sz="1050" dirty="0" err="1" smtClean="0">
                <a:solidFill>
                  <a:srgbClr val="FF0000"/>
                </a:solidFill>
              </a:rPr>
              <a:t>facebook</a:t>
            </a:r>
            <a:r>
              <a:rPr lang="en-US" altLang="zh-CN" sz="1050" dirty="0" smtClean="0">
                <a:solidFill>
                  <a:srgbClr val="FF0000"/>
                </a:solidFill>
              </a:rPr>
              <a:t>) + 2 credits</a:t>
            </a:r>
            <a:endParaRPr lang="zh-CN" altLang="en-US" sz="1050" dirty="0">
              <a:solidFill>
                <a:srgbClr val="FF0000"/>
              </a:solidFill>
            </a:endParaRPr>
          </a:p>
        </p:txBody>
      </p:sp>
      <p:grpSp>
        <p:nvGrpSpPr>
          <p:cNvPr id="96" name="组合 95"/>
          <p:cNvGrpSpPr/>
          <p:nvPr/>
        </p:nvGrpSpPr>
        <p:grpSpPr>
          <a:xfrm>
            <a:off x="3857620" y="428604"/>
            <a:ext cx="1500198" cy="1857388"/>
            <a:chOff x="571472" y="2643182"/>
            <a:chExt cx="1500198" cy="1857388"/>
          </a:xfrm>
        </p:grpSpPr>
        <p:sp>
          <p:nvSpPr>
            <p:cNvPr id="99" name="矩形 98"/>
            <p:cNvSpPr/>
            <p:nvPr/>
          </p:nvSpPr>
          <p:spPr>
            <a:xfrm>
              <a:off x="571472" y="2643182"/>
              <a:ext cx="1500198" cy="1857388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zh-CN" altLang="en-US"/>
            </a:p>
          </p:txBody>
        </p:sp>
        <p:sp>
          <p:nvSpPr>
            <p:cNvPr id="100" name="矩形 99"/>
            <p:cNvSpPr/>
            <p:nvPr/>
          </p:nvSpPr>
          <p:spPr>
            <a:xfrm>
              <a:off x="571472" y="2643182"/>
              <a:ext cx="1500198" cy="285752"/>
            </a:xfrm>
            <a:prstGeom prst="rect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r>
                <a:rPr lang="en-US" altLang="zh-CN" sz="1000" dirty="0" smtClean="0">
                  <a:solidFill>
                    <a:schemeClr val="tx1"/>
                  </a:solidFill>
                </a:rPr>
                <a:t>Sharing Criteria</a:t>
              </a:r>
              <a:endParaRPr lang="zh-CN" altLang="en-US" sz="1000" dirty="0">
                <a:solidFill>
                  <a:schemeClr val="tx1"/>
                </a:solidFill>
              </a:endParaRPr>
            </a:p>
          </p:txBody>
        </p:sp>
        <p:sp>
          <p:nvSpPr>
            <p:cNvPr id="102" name="TextBox 101"/>
            <p:cNvSpPr txBox="1"/>
            <p:nvPr/>
          </p:nvSpPr>
          <p:spPr>
            <a:xfrm>
              <a:off x="571472" y="2928934"/>
              <a:ext cx="1500198" cy="1077218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US" altLang="zh-CN" sz="800" b="1" dirty="0" smtClean="0"/>
                <a:t>Share with</a:t>
              </a:r>
            </a:p>
            <a:p>
              <a:r>
                <a:rPr lang="en-US" altLang="zh-CN" sz="700" dirty="0" smtClean="0"/>
                <a:t>Individual</a:t>
              </a:r>
            </a:p>
            <a:p>
              <a:r>
                <a:rPr lang="en-US" altLang="zh-CN" sz="700" dirty="0" smtClean="0"/>
                <a:t>Same gender            Both</a:t>
              </a:r>
            </a:p>
            <a:p>
              <a:endParaRPr lang="en-US" altLang="zh-CN" sz="700" dirty="0" smtClean="0"/>
            </a:p>
            <a:p>
              <a:r>
                <a:rPr lang="en-US" altLang="zh-CN" sz="700" dirty="0" smtClean="0"/>
                <a:t>Group of people      Yes/No</a:t>
              </a:r>
            </a:p>
            <a:p>
              <a:r>
                <a:rPr lang="en-US" altLang="zh-CN" sz="700" dirty="0" smtClean="0"/>
                <a:t>Same gender           Mixed</a:t>
              </a:r>
            </a:p>
            <a:p>
              <a:r>
                <a:rPr lang="en-US" altLang="zh-CN" sz="700" dirty="0" smtClean="0"/>
                <a:t>Does not matter </a:t>
              </a:r>
            </a:p>
            <a:p>
              <a:endParaRPr lang="en-US" altLang="zh-CN" sz="700" dirty="0" smtClean="0"/>
            </a:p>
            <a:p>
              <a:r>
                <a:rPr lang="en-US" altLang="zh-CN" sz="700" dirty="0" smtClean="0"/>
                <a:t>Delay less than           </a:t>
              </a:r>
              <a:r>
                <a:rPr lang="en-US" altLang="zh-CN" sz="700" dirty="0" err="1" smtClean="0"/>
                <a:t>mins</a:t>
              </a:r>
              <a:r>
                <a:rPr lang="en-US" altLang="zh-CN" sz="700" dirty="0" smtClean="0"/>
                <a:t> </a:t>
              </a:r>
              <a:endParaRPr lang="zh-CN" altLang="en-US" sz="700" dirty="0"/>
            </a:p>
          </p:txBody>
        </p:sp>
      </p:grpSp>
      <p:sp>
        <p:nvSpPr>
          <p:cNvPr id="114" name="矩形 113"/>
          <p:cNvSpPr/>
          <p:nvPr/>
        </p:nvSpPr>
        <p:spPr>
          <a:xfrm>
            <a:off x="3857620" y="1785926"/>
            <a:ext cx="1500198" cy="285752"/>
          </a:xfrm>
          <a:prstGeom prst="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zh-CN" sz="1200" dirty="0" smtClean="0">
                <a:solidFill>
                  <a:schemeClr val="tx1"/>
                </a:solidFill>
              </a:rPr>
              <a:t>Save</a:t>
            </a:r>
            <a:endParaRPr lang="zh-CN" altLang="en-US" sz="1200" dirty="0">
              <a:solidFill>
                <a:schemeClr val="tx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769</TotalTime>
  <Words>1235</Words>
  <PresentationFormat>全屏显示(4:3)</PresentationFormat>
  <Paragraphs>222</Paragraphs>
  <Slides>5</Slides>
  <Notes>0</Notes>
  <HiddenSlides>0</HiddenSlides>
  <MMClips>0</MMClips>
  <ScaleCrop>false</ScaleCrop>
  <HeadingPairs>
    <vt:vector size="4" baseType="variant">
      <vt:variant>
        <vt:lpstr>主题</vt:lpstr>
      </vt:variant>
      <vt:variant>
        <vt:i4>1</vt:i4>
      </vt:variant>
      <vt:variant>
        <vt:lpstr>幻灯片标题</vt:lpstr>
      </vt:variant>
      <vt:variant>
        <vt:i4>5</vt:i4>
      </vt:variant>
    </vt:vector>
  </HeadingPairs>
  <TitlesOfParts>
    <vt:vector size="6" baseType="lpstr">
      <vt:lpstr>Office 主题</vt:lpstr>
      <vt:lpstr>幻灯片 1</vt:lpstr>
      <vt:lpstr>幻灯片 2</vt:lpstr>
      <vt:lpstr>幻灯片 3</vt:lpstr>
      <vt:lpstr>幻灯片 4</vt:lpstr>
      <vt:lpstr>幻灯片 5</vt:lpstr>
    </vt:vector>
  </TitlesOfParts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幻灯片 1</dc:title>
  <cp:lastModifiedBy>LC</cp:lastModifiedBy>
  <cp:revision>109</cp:revision>
  <dcterms:modified xsi:type="dcterms:W3CDTF">2013-08-09T06:36:37Z</dcterms:modified>
</cp:coreProperties>
</file>